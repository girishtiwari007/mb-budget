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947" autoAdjust="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41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20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2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24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3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35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3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71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88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4124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46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8026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152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69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00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Times New Roman"/>
              </a:rPr>
              <a:t>NORTHERN RAILWAY - MORADABAD DIVISION</a:t>
            </a:r>
          </a:p>
        </p:txBody>
      </p:sp>
      <p:sp>
        <p:nvSpPr>
          <p:cNvPr id="3" name="Text 3"/>
          <p:cNvSpPr/>
          <p:nvPr/>
        </p:nvSpPr>
        <p:spPr>
          <a:xfrm>
            <a:off x="420000" y="1180000"/>
            <a:ext cx="11352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2400" b="1">
                <a:solidFill>
                  <a:srgbClr val="22A7D8"/>
                </a:solidFill>
                <a:latin typeface="Times New Roman"/>
              </a:rPr>
              <a:t>Moradabad Division Budget &amp; FR Analysis</a:t>
            </a:r>
          </a:p>
        </p:txBody>
      </p:sp>
      <p:sp>
        <p:nvSpPr>
          <p:cNvPr id="4" name="Text 4"/>
          <p:cNvSpPr/>
          <p:nvPr/>
        </p:nvSpPr>
        <p:spPr>
          <a:xfrm>
            <a:off x="860000" y="2040000"/>
            <a:ext cx="10472000" cy="430000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80">
                <a:solidFill>
                  <a:srgbClr val="000000"/>
                </a:solidFill>
                <a:latin typeface="Times New Roman"/>
              </a:rPr>
              <a:t>Accounts Dept | FY 2026-2027 | Current / Previous Year Budget Analysis | Completed AUG 2026</a:t>
            </a:r>
          </a:p>
        </p:txBody>
      </p:sp>
      <p:sp>
        <p:nvSpPr>
          <p:cNvPr id="5" name="Text 5"/>
          <p:cNvSpPr/>
          <p:nvPr/>
        </p:nvSpPr>
        <p:spPr>
          <a:xfrm>
            <a:off x="1350000" y="3120000"/>
            <a:ext cx="2400000" cy="720000"/>
          </a:xfrm>
          <a:prstGeom prst="rect">
            <a:avLst/>
          </a:prstGeom>
          <a:solidFill>
            <a:srgbClr val="DFF3E7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Green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Within control</a:t>
            </a:r>
          </a:p>
        </p:txBody>
      </p:sp>
      <p:sp>
        <p:nvSpPr>
          <p:cNvPr id="6" name="Text 6"/>
          <p:cNvSpPr/>
          <p:nvPr/>
        </p:nvSpPr>
        <p:spPr>
          <a:xfrm>
            <a:off x="4860000" y="3120000"/>
            <a:ext cx="2400000" cy="72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Amber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Watch range</a:t>
            </a:r>
          </a:p>
        </p:txBody>
      </p:sp>
      <p:sp>
        <p:nvSpPr>
          <p:cNvPr id="7" name="Text 7"/>
          <p:cNvSpPr/>
          <p:nvPr/>
        </p:nvSpPr>
        <p:spPr>
          <a:xfrm>
            <a:off x="8370000" y="3120000"/>
            <a:ext cx="2400000" cy="72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Red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Immediate review</a:t>
            </a:r>
          </a:p>
        </p:txBody>
      </p:sp>
      <p:sp>
        <p:nvSpPr>
          <p:cNvPr id="8" name="Text 8"/>
          <p:cNvSpPr/>
          <p:nvPr/>
        </p:nvSpPr>
        <p:spPr>
          <a:xfrm>
            <a:off x="0" y="6438000"/>
            <a:ext cx="12192000" cy="4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00">
                <a:solidFill>
                  <a:srgbClr val="FFFFFF"/>
                </a:solidFill>
                <a:latin typeface="Times New Roman"/>
              </a:rPr>
              <a:t>Figures in thousands with Crore equivalent shown inside table cells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Demand SMH Wise - AUG 2026 | uploaded 2026-09-15T16:03:44+05:30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2931"/>
                <a:gridCol w="2342969"/>
                <a:gridCol w="1234344"/>
                <a:gridCol w="1234344"/>
                <a:gridCol w="1234344"/>
                <a:gridCol w="1348636"/>
                <a:gridCol w="822896"/>
                <a:gridCol w="1348636"/>
                <a:gridCol w="822900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Demand No. / SMH-Grant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03 / 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PERSONNEL / STORE And Office Staff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641,522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64.15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267,301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26.73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294,135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29.41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26,834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2.68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347,387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34.74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04 / 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ENGINEERING / PWAY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3,608,902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360.89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1,503,709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150.37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1,781,320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178.13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277,611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27.76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1,827,582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182.76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05 / 03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LOCO Shed Roza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1,864,843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186.48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777,018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77.70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782,032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78.20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5,014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0.50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101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1,082,811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108.28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06 / 04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Electrical General / Mech C&amp;W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1,353,581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135.36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563,992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56.40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911,131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91.11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347,139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34.71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162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442,450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44.24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67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07 / 05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 / TRD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2,059,950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206.00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858,312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85.83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995,022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99.50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136,710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13.67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1,064,928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106.49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08 / 06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/ Running Staff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3,352,566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335.26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1,396,902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139.69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1,978,638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197.86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581,736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58.17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142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1,373,928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137.39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09 / 07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/ Commercial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4,428,766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442.88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1,845,319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184.53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2,192,865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219.29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347,546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34.75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2,235,901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223.59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10 / 08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Expenses - Fuel / Traction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11,607,206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1160.72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4,836,336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483.63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5,702,475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570.25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866,139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86.61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5,904,731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590.47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11 / 09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MEDICAL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1,392,832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139.28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580,347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58.03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916,954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91.70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336,607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33.66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475,878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47.59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 / 10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SECURITY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994,638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99.46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414,432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41.44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441,761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44.18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27,328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2.73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107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552,877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55.29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13 / 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Pension and Retirement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1,291,067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129.11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537,945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53.79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532,662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53.27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-5,283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-0.53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758,405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75.84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32,595,873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3259.59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13,581,614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1358.16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16,528,995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1652.90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2,947,381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294.74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122</a:t>
                      </a:r>
                    </a:p>
                  </a:txBody>
                  <a:tcPr marL="12000" marR="12000" marT="8000" marB="8000">
                    <a:solidFill>
                      <a:srgbClr val="D92323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16,066,878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1606.69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51</a:t>
                      </a:r>
                    </a:p>
                  </a:txBody>
                  <a:tcPr marL="12000" marR="12000" marT="8000" marB="8000">
                    <a:solidFill>
                      <a:srgbClr val="25A55B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12N / 10N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Suspense Heads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-13,045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-1.30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-5,435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-0.54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1,578,052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157.81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1,583,487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158.35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-29033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-1,591,097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-159.11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-12097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Staff Current Year - AUG 2026 | uploaded 2026-09-15T16:03:44+05:30 (Rows 1-13)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5569"/>
                <a:gridCol w="1482918"/>
                <a:gridCol w="1482918"/>
                <a:gridCol w="1482918"/>
                <a:gridCol w="1620225"/>
                <a:gridCol w="988612"/>
                <a:gridCol w="1620225"/>
                <a:gridCol w="988615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- 01 - Sal/Wag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6,706,409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670.64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2,794,337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279.43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3,071,823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307.18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277,486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27.75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3,634,586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363.46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- 02 - DA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4,100,453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410.05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1,708,522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170.85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1,966,618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196.66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258,096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25.81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2,133,835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213.38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- 03 - PLB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285,089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28.51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118,787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11.88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-118,715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-11.87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285,017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28.50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- 04 - HRA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776,198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77.62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323,416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32.34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337,362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33.74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13,946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1.39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438,836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43.88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43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- 07 - TPA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496,609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49.66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206,920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20.69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216,397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21.64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9,477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0.95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280,212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28.02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- 08 - NPS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1,285,187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128.52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535,495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53.55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532,040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53.20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-3,455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-0.35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753,147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75.31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- 10 - KMA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680,197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68.02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283,415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28.34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364,653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36.47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81,238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8.12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315,544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31.55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- 11 - OT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77,300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7.73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32,208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3.22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59,582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5.96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27,374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2.74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17,718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1.77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77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- 12 - NDA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209,913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20.99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87,464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8.75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122,492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12.25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35,028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3.50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87,421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8.74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- 13 - OA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527,832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52.78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219,930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21.99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278,899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27.89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58,969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5.90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127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248,933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24.89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- 14 - FEES &amp; HON.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3,566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0.36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1,486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0.15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-1,058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3,138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0.31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- 15 - TA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16,048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1.60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6,687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11,132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1.11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4,916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- 16 - TE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308,081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30.81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128,367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12.84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217,100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21.71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88,733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8.87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90,981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9.10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Staff Current Year - AUG 2026 | uploaded 2026-09-15T16:03:44+05:30 (Rows 14-24)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5569"/>
                <a:gridCol w="1482918"/>
                <a:gridCol w="1482918"/>
                <a:gridCol w="1482918"/>
                <a:gridCol w="1620225"/>
                <a:gridCol w="988612"/>
                <a:gridCol w="1620225"/>
                <a:gridCol w="988615"/>
              </a:tblGrid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- 17 - ATPP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0.21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879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-879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0.21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- 20 - Leave Salary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18,623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1.86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7,760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0.78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12,259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1.23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4,499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6,364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- 25 - Children Edu. Allow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379,418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37.94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158,091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15.81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375,011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37.50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216,920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21.69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237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4,407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- 26 - Medical Expenses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384,392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38.44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160,163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16.02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154,029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15.40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-6,134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-0.61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96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230,363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23.04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- 29 - Remu. Re-engaged Staff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-476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- 39 - ATD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1104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- 42 - ARR SALARY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25,882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2.59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10,784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1.08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5,394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0.54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-5,390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-0.54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20,488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2.05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- 43 - ARR DA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12,005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1.20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5,002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0.50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2,574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0.26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-2,428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-0.24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9,431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0.94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- 44 - ARR OTH ALW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11,589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1.16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4,829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224,748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22.47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219,919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21.99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4654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-213,159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-21.32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1939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- 53 - All India LTC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614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1,705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0.17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1,449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0.14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666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-1,091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-0.11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278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16,307,520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1630.75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6,794,800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679.48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7,954,817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795.48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1,160,017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116.00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117</a:t>
                      </a:r>
                    </a:p>
                  </a:txBody>
                  <a:tcPr marL="12000" marR="12000" marT="8000" marB="8000">
                    <a:solidFill>
                      <a:srgbClr val="D92323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8,352,703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835.27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49</a:t>
                      </a:r>
                    </a:p>
                  </a:txBody>
                  <a:tcPr marL="12000" marR="12000" marT="8000" marB="8000">
                    <a:solidFill>
                      <a:srgbClr val="25A55B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Non Staff Current Year - AUG 2026 | uploaded 2026-09-15T16:03:44+05:30 (Rows 1-13)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5569"/>
                <a:gridCol w="1482918"/>
                <a:gridCol w="1482918"/>
                <a:gridCol w="1482918"/>
                <a:gridCol w="1620225"/>
                <a:gridCol w="988612"/>
                <a:gridCol w="1620225"/>
                <a:gridCol w="988615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- 18 - OE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8,252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0.83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3,438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0.34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-3,438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-0.34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8,252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0.83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- 19 - Phone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-273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- 21 - Adv Expenses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0.33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0.14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-1,375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-0.14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0.33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- 22 - Util(excl. elec.)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- 23 - Rental Office Equip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- 24 - Printing and Stnry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-90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- 27 - Materials from stock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1,068,752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106.88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445,313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44.53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860,139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86.01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414,826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41.48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193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208,613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20.86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80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- 28 - Materials-Dir. purchase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149,947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14.99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62,478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6.25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70,608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7.06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8,130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0.81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113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79,339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7.93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47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- 30 - Cost Of Elec. Energy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3,878,724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387.87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1,616,135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161.61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1,916,509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191.65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300,374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30.04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1,962,215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196.22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- 31 - OF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95,273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9.53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39,697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3.97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81,636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8.16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41,939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4.19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206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13,637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1.36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86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- 32 - CP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3,254,310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325.43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1,355,962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135.60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1,824,117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182.41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468,154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46.82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1,430,193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143.02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- 33 - TRDC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2,625,440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262.54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1,093,933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109.39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834,970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83.50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-258,963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-25.90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76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1,790,470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179.05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- 36 - Excise Duty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155,548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15.55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64,812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6.48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23,732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2.37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-41,080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-4.11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131,816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13.18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Non Staff Current Year - AUG 2026 | uploaded 2026-09-15T16:03:44+05:30 (Rows 14-24)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5569"/>
                <a:gridCol w="1482918"/>
                <a:gridCol w="1482918"/>
                <a:gridCol w="1482918"/>
                <a:gridCol w="1620225"/>
                <a:gridCol w="988612"/>
                <a:gridCol w="1620225"/>
                <a:gridCol w="988615"/>
              </a:tblGrid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- 38 - Sales Tax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95,829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9.58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39,929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3.99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56,334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5.63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16,405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1.64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141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39,495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3.95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- 49 - O/S M/P TRACK AND SIGNAL MNT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544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6,382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6,155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2816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-5,838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-0.58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1173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- 52 - Laptop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- 60 - Fuel from Stock-Home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4,703,356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470.34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1,959,732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195.97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2,715,415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271.54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755,683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75.57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1,987,941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198.79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- 72 - Central GST (CGST)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32,329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3.23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13,470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1.35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37,406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3.74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23,936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2.39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278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-5,077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-0.51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- 73 - State GST (SGST)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31,932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3.19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13,305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1.33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37,406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3.74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24,101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2.41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281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-5,474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-0.55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117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- 74 - Union Territory GST (UTGST)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- 75 - Integrated GST (IGST)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26,098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2.61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10,874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1.09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41,893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4.19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31,019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3.10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-15,795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-1.58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161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- 98 - Credit or Recoveries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-1,652,821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-165.28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-688,675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-68.87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-592,130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-59.21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96,545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9.65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86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-1,060,691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-106.07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- 99 - OE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1,797,579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179.76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748,991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74.90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2,237,813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223.78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1,488,822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148.88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-440,234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-44.02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124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16,275,308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1627.53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6,781,378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678.14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10,152,230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1015.22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3,370,852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337.09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150</a:t>
                      </a:r>
                    </a:p>
                  </a:txBody>
                  <a:tcPr marL="12000" marR="12000" marT="8000" marB="8000">
                    <a:solidFill>
                      <a:srgbClr val="D92323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6,123,078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612.31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62</a:t>
                      </a:r>
                    </a:p>
                  </a:txBody>
                  <a:tcPr marL="12000" marR="12000" marT="8000" marB="8000">
                    <a:solidFill>
                      <a:srgbClr val="25A55B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Previous Year Comparison - AUG 2026 | uploaded 2026-09-15T16:03:44+05:30 (Rows 1-10)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8618"/>
                <a:gridCol w="1085641"/>
                <a:gridCol w="1055484"/>
                <a:gridCol w="1085641"/>
                <a:gridCol w="1085641"/>
                <a:gridCol w="1055484"/>
                <a:gridCol w="1085641"/>
                <a:gridCol w="1186163"/>
                <a:gridCol w="723760"/>
                <a:gridCol w="1186163"/>
                <a:gridCol w="723764"/>
              </a:tblGrid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- 01 - Sal/Wag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7,074,279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707.43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2,947,616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294.76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3,038,266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303.83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6,706,409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670.64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2,794,337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279.43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3,071,823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307.18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277,486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27.75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33,557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3.36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- 02 - DA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4,420,234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442.02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1,841,764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184.18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1,789,595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178.96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4,100,453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410.05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1,708,522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170.85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1,966,618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196.66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258,096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25.81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177,023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17.70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- 03 - PLB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289,831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28.98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120,763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12.08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285,089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28.51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118,787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11.88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-118,715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-11.87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-154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- 04 - HRA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824,912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82.49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343,713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34.37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332,414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33.24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776,198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77.62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323,416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32.34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337,362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33.74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13,946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1.39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4,948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43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- 07 - TPA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506,019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50.60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210,841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21.08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209,713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20.97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496,609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49.66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206,920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20.69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216,397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21.64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9,477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0.95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6,684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- 08 - NPS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1,100,183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110.02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458,410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45.84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500,022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1,285,187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128.52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535,495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53.55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532,040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53.20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-3,455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-0.35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32,018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3.20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- 10 - KMA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765,522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76.55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318,968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31.90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328,323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32.83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680,197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68.02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283,415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28.34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364,653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36.47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81,238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8.12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36,330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3.63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- 11 - OT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96,309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9.63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40,129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4.01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67,517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6.75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77,300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7.73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32,208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3.22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59,582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5.96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27,374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2.74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-7,935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-0.79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77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- 12 - NDA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280,806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28.08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117,002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11.70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117,681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11.77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209,913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20.99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87,464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8.75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122,492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12.25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35,028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3.50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4,811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- 13 - OA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551,574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55.16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229,822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22.98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282,709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28.27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527,832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52.78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219,930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21.99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278,899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27.89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58,969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5.90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127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-3,810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-0.38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Previous Year Comparison - AUG 2026 | uploaded 2026-09-15T16:03:44+05:30 (Rows 11-20)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8618"/>
                <a:gridCol w="1085641"/>
                <a:gridCol w="1055484"/>
                <a:gridCol w="1085641"/>
                <a:gridCol w="1085641"/>
                <a:gridCol w="1055484"/>
                <a:gridCol w="1085641"/>
                <a:gridCol w="1186163"/>
                <a:gridCol w="723760"/>
                <a:gridCol w="1186163"/>
                <a:gridCol w="723764"/>
              </a:tblGrid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- 14 - FEES &amp; HON.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4,686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1,952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0.20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3,566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0.36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1,486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0.15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-1,058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- 15 - TA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19,866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1.99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8,278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0.83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12,161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1.22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16,048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1.60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6,687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11,132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1.11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-1,029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-0.10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- 16 - TE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523,466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52.35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218,111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21.81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209,161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20.92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308,081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30.81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128,367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12.84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217,100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21.71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88,733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8.87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7,939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0.79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- 17 - ATPP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2,260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0.23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942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0.21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879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-879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- 18 - OE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8,037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0.80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3,349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0.33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8,252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0.83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3,438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0.34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-3,438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-0.34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- 19 - Phone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-273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- 20 - Leave Salary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14,388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1.44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5,995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7,125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0.71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18,623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1.86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7,760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0.78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12,259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1.23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4,499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5,134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0.51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- 21 - Adv Expenses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2,848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0.28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0.12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0.33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0.14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-1,375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-0.14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- 22 - Util(excl. elec.)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- 23 - Rental Office Equip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Previous Year Comparison - AUG 2026 | uploaded 2026-09-15T16:03:44+05:30 (Rows 21-30)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8618"/>
                <a:gridCol w="1085641"/>
                <a:gridCol w="1055484"/>
                <a:gridCol w="1085641"/>
                <a:gridCol w="1085641"/>
                <a:gridCol w="1055484"/>
                <a:gridCol w="1085641"/>
                <a:gridCol w="1186163"/>
                <a:gridCol w="723760"/>
                <a:gridCol w="1186163"/>
                <a:gridCol w="723764"/>
              </a:tblGrid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- 24 - Printing and Stnry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-90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- 25 - Children Edu. Allow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364,718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36.47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151,966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15.20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363,237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36.32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379,418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37.94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158,091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15.81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375,011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37.50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216,920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21.69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237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11,774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1.18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- 26 - Medical Expenses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321,438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32.14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133,932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13.39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160,765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16.08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384,392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38.44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160,163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16.02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154,029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15.40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-6,134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-0.61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96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-6,736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-0.67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- 27 - Materials from stock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1,445,603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144.56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602,335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60.23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516,298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51.63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1,068,752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106.88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445,313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44.53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860,139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86.01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414,826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41.48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193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343,841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34.38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80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- 28 - Materials-Dir. purchase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223,635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22.36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93,181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9.32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105,637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10.56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149,947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14.99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62,478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6.25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70,608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7.06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8,130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0.81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113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-35,029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-3.50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47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- 29 - Remu. Re-engaged Staff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- 30 - Cost Of Elec. Energy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3,659,596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365.96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1,524,832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152.48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1,673,871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167.39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3,878,724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387.87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1,616,135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161.61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1,916,509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191.65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300,374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30.04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242,638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24.26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- 31 - OF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154,625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15.46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64,427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6.44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30,020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95,273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9.53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39,697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3.97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81,636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8.16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41,939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4.19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206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51,616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5.16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86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- 32 - CP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3,775,796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377.58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1,573,248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157.32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1,712,812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171.28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3,254,310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325.43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1,355,962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135.60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1,824,117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182.41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468,154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46.82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111,305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11.13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- 33 - TRDC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3,391,480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339.15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1,413,117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141.31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1,232,129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123.21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2,625,440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262.54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1,093,933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109.39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834,970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83.50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-258,963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-25.90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76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-397,159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-39.72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Previous Year Comparison - AUG 2026 | uploaded 2026-09-15T16:03:44+05:30 (Rows 31-40)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8618"/>
                <a:gridCol w="1085641"/>
                <a:gridCol w="1055484"/>
                <a:gridCol w="1085641"/>
                <a:gridCol w="1085641"/>
                <a:gridCol w="1055484"/>
                <a:gridCol w="1085641"/>
                <a:gridCol w="1186163"/>
                <a:gridCol w="723760"/>
                <a:gridCol w="1186163"/>
                <a:gridCol w="723764"/>
              </a:tblGrid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- 36 - Excise Duty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203,822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20.38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84,926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8.49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66,517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6.65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155,548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15.55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64,812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6.48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23,732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2.37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-41,080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-4.11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-42,785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-4.28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- 38 - Sales Tax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161,025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16.10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67,094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6.71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48,808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4.88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95,829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9.58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39,929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3.99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56,334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5.63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16,405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1.64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141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7,526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0.75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- 39 - ATD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1104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- 42 - ARR SALARY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12,543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1.25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5,226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0.52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9,795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0.98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25,882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2.59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10,784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1.08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5,394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0.54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-5,390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-0.54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-4,401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-0.44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- 43 - ARR DA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8,631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0.86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3,596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0.36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3,954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12,005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1.20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5,002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0.50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2,574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0.26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-2,428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-0.24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-1,380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-0.14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- 44 - ARR OTH ALW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22,378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2.24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9,324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0.93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11,300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1.13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11,589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1.16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4,829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224,748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22.47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219,919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21.99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4654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213,448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21.34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1939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- 49 - O/S M/P TRACK AND SIGNAL MNT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789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544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6,382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6,155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2816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6,382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1173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- 52 - Laptop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- 53 - All India LTC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614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1,705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0.17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1,449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0.14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666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979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0.10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278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- 60 - Fuel from Stock-Home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4,909,641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490.96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2,045,684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204.57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2,223,473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222.35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4,703,356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470.34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1,959,732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195.97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2,715,415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271.54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755,683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75.57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491,942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49.19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Previous Year Comparison - AUG 2026 | uploaded 2026-09-15T16:03:44+05:30 (Rows 41-47)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8618"/>
                <a:gridCol w="1085641"/>
                <a:gridCol w="1055484"/>
                <a:gridCol w="1085641"/>
                <a:gridCol w="1085641"/>
                <a:gridCol w="1055484"/>
                <a:gridCol w="1085641"/>
                <a:gridCol w="1186163"/>
                <a:gridCol w="723760"/>
                <a:gridCol w="1186163"/>
                <a:gridCol w="723764"/>
              </a:tblGrid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- 72 - Central GST (CGST)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15,454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1.55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6,439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6,397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32,329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3.23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13,470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1.35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37,406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3.74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23,936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2.39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278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31,009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3.10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- 73 - State GST (SGST)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15,459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1.55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6,441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6,396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31,932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3.19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13,305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1.33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37,406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3.74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24,101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2.41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281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31,010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3.10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117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- 74 - Union Territory GST (UTGST)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- 75 - Integrated GST (IGST)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15,534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1.55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6,472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8,428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0.84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26,098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2.61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10,874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1.09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41,893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4.19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31,019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3.10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33,465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3.35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161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- 98 - Credit or Recoveries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-1,194,360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-119.44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-497,650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-49.77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-533,141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-53.31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-1,652,821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-165.28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-688,675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-68.87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-592,130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-59.21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96,545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9.65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86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-58,989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-5.90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- 99 - OE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1,157,401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115.74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482,250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48.23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2,253,377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225.34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1,797,579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179.76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748,991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74.90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2,237,813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223.78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1,488,822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148.88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-15,564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-1.56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124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35,151,374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3515.14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14,646,406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1464.64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16,796,125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1679.61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32,582,828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3258.28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13,576,178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1357.62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18,107,047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1810.70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4,530,869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453.09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133</a:t>
                      </a:r>
                    </a:p>
                  </a:txBody>
                  <a:tcPr marL="12000" marR="12000" marT="8000" marB="8000">
                    <a:solidFill>
                      <a:srgbClr val="D92323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1,310,922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131.09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56</a:t>
                      </a:r>
                    </a:p>
                  </a:txBody>
                  <a:tcPr marL="12000" marR="12000" marT="8000" marB="8000">
                    <a:solidFill>
                      <a:srgbClr val="25A55B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Demand Previous Year Comparison - AUG 2026 | uploaded 2026-09-15T16:03:44+05:30 (Rows 1-10)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2687"/>
                <a:gridCol w="1795932"/>
                <a:gridCol w="946149"/>
                <a:gridCol w="919867"/>
                <a:gridCol w="946149"/>
                <a:gridCol w="946149"/>
                <a:gridCol w="919867"/>
                <a:gridCol w="946149"/>
                <a:gridCol w="1033756"/>
                <a:gridCol w="630766"/>
                <a:gridCol w="1033756"/>
                <a:gridCol w="630773"/>
              </a:tblGrid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Demand No. / SMH-Grant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03 / 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PERSONNEL / STORE And Office Staff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665,629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66.56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277,345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27.73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267,838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26.78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641,522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64.15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267,301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26.73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294,135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29.41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26,834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2.68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26,297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2.63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04 / 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ENGINEERING / PWAY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3,847,643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384.76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1,603,185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160.32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1,635,185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163.52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3,608,902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360.89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1,503,709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150.37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1,781,320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178.13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277,611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27.76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146,135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14.61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05 / 03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LOCO Shed Roza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2,090,612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209.06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871,088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87.11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995,067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99.51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1,864,843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186.48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777,018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77.70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782,032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78.20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5,014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0.50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101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-213,035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-21.30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06 / 04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Electrical General / Mech C&amp;W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1,494,173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149.42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622,572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62.26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644,948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64.49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1,353,581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135.36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563,992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56.40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911,131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91.11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347,139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34.71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162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266,183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26.62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67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07 / 05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 / TRD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2,214,697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221.47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922,790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92.28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875,942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87.59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2,059,950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206.00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858,312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85.83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995,022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99.50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136,710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13.67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119,080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11.91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08 / 06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/ Running Staff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3,934,040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393.40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1,639,183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163.92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1,564,866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156.49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3,352,566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335.26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1,396,902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139.69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1,978,638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197.86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581,736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58.17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142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413,772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41.38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09 / 07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/ Commercial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4,981,857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498.19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2,075,774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207.58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2,029,601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202.96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4,428,766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442.88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1,845,319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184.53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2,192,865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219.29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347,546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34.75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163,264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16.33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10 / 08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Expenses - Fuel / Traction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12,766,553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1276.66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5,319,397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531.94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5,379,265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537.93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11,607,206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1160.72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4,836,336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483.63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5,702,475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570.25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866,139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86.61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323,210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32.32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11 / 09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MEDICAL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1,251,847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125.18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521,603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52.16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836,072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83.61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1,392,832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139.28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580,347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58.03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916,954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91.70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336,607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33.66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80,882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8.09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 / 10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SECURITY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991,836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99.18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413,265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41.33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411,167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41.12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994,638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99.46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414,432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41.44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441,761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44.18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27,328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2.73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107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30,594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3.06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Demand Previous Year Comparison - AUG 2026 | uploaded 2026-09-15T16:03:44+05:30 (Rows 11-13)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2687"/>
                <a:gridCol w="1795932"/>
                <a:gridCol w="946149"/>
                <a:gridCol w="919867"/>
                <a:gridCol w="946149"/>
                <a:gridCol w="946149"/>
                <a:gridCol w="919867"/>
                <a:gridCol w="946149"/>
                <a:gridCol w="1033756"/>
                <a:gridCol w="630766"/>
                <a:gridCol w="1033756"/>
                <a:gridCol w="630773"/>
              </a:tblGrid>
              <a:tr h="151450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Demand No. / SMH-Grant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51450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13 / 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Pension and Retirement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1,103,187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110.32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459,661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45.97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501,081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50.11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1,291,067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129.11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537,945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53.79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532,662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53.27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-5,283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-0.53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31,581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3.16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51450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35,342,074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3534.21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14,725,864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1472.59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15,141,032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1514.10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32,595,873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3259.59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13,581,614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1358.16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16,528,995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1652.90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2,947,381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294.74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122</a:t>
                      </a:r>
                    </a:p>
                  </a:txBody>
                  <a:tcPr marL="12000" marR="12000" marT="8000" marB="8000">
                    <a:solidFill>
                      <a:srgbClr val="D92323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1,387,963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138.80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51</a:t>
                      </a:r>
                    </a:p>
                  </a:txBody>
                  <a:tcPr marL="12000" marR="12000" marT="8000" marB="8000">
                    <a:solidFill>
                      <a:srgbClr val="25A55B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51450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12N / 10N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Suspense Heads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-190,700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-19.07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-79,458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-7.95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1,655,141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165.51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-13,045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-1.30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-5,435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-0.54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1,578,052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157.81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1,583,487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158.35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-29033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-77,089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-7.71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-12097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208</TotalTime>
  <Words>1901</Words>
  <Application>Microsoft Office PowerPoint</Application>
  <PresentationFormat>Widescreen</PresentationFormat>
  <Paragraphs>476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Moradabad Division Accounts Dept FY – 2026-2027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Moradabad Division FY – 2026-2027</dc:title>
  <dc:creator>girish</dc:creator>
  <cp:lastModifiedBy>it centre mb</cp:lastModifiedBy>
  <cp:revision>29</cp:revision>
  <dcterms:created xsi:type="dcterms:W3CDTF">2026-07-10T14:38:31Z</dcterms:created>
  <dcterms:modified xsi:type="dcterms:W3CDTF">2026-08-10T08:17:23Z</dcterms:modified>
</cp:coreProperties>
</file>