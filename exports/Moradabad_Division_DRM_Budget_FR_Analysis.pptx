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3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84" autoAdjust="0"/>
    <p:restoredTop sz="94947" autoAdjust="0"/>
  </p:normalViewPr>
  <p:slideViewPr>
    <p:cSldViewPr snapToGrid="0">
      <p:cViewPr varScale="1">
        <p:scale>
          <a:sx n="85" d="100"/>
          <a:sy n="85" d="100"/>
        </p:scale>
        <p:origin x="774" y="8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11" Type="http://schemas.openxmlformats.org/officeDocument/2006/relationships/theme" Target="theme/theme1.xml"/><Relationship Id="rId10" Type="http://schemas.openxmlformats.org/officeDocument/2006/relationships/viewProps" Target="viewProps.xml"/><Relationship Id="rId9" Type="http://schemas.openxmlformats.org/officeDocument/2006/relationships/presProps" Target="presProps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15-07-2026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214152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15-07-2026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202010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15-07-2026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481203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15-07-2026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032410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15-07-2026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321318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15-07-2026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41223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15-07-2026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923577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15-07-2026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442385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15-07-2026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127173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15-07-2026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548803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15-07-2026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3412489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15-07-2026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9484645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15-07-2026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0080266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15-07-2026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3815263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15-07-2026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1666916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15-07-2026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76810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A35F6B-60EE-4E23-AF30-AF29AAFFCFD7}" type="datetimeFigureOut">
              <a:rPr lang="en-IN" smtClean="0"/>
              <a:t>15-07-2026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680076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4" r:id="rId1"/>
    <p:sldLayoutId id="2147483745" r:id="rId2"/>
    <p:sldLayoutId id="2147483746" r:id="rId3"/>
    <p:sldLayoutId id="2147483747" r:id="rId4"/>
    <p:sldLayoutId id="2147483748" r:id="rId5"/>
    <p:sldLayoutId id="2147483749" r:id="rId6"/>
    <p:sldLayoutId id="2147483750" r:id="rId7"/>
    <p:sldLayoutId id="2147483751" r:id="rId8"/>
    <p:sldLayoutId id="2147483752" r:id="rId9"/>
    <p:sldLayoutId id="2147483753" r:id="rId10"/>
    <p:sldLayoutId id="2147483754" r:id="rId11"/>
    <p:sldLayoutId id="2147483755" r:id="rId12"/>
    <p:sldLayoutId id="2147483756" r:id="rId13"/>
    <p:sldLayoutId id="2147483757" r:id="rId14"/>
    <p:sldLayoutId id="2147483758" r:id="rId15"/>
    <p:sldLayoutId id="21474837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220000" y="70000"/>
            <a:ext cx="11752000" cy="36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760" b="1">
                <a:solidFill>
                  <a:srgbClr val="22A7D8"/>
                </a:solidFill>
                <a:latin typeface="Times New Roman"/>
              </a:rPr>
              <a:t>Moradabad Division</a:t>
            </a:r>
          </a:p>
        </p:txBody>
      </p:sp>
      <p:sp>
        <p:nvSpPr>
          <p:cNvPr id="3" name="Text 3"/>
          <p:cNvSpPr/>
          <p:nvPr/>
        </p:nvSpPr>
        <p:spPr>
          <a:xfrm>
            <a:off x="220000" y="450000"/>
            <a:ext cx="11752000" cy="23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860">
                <a:solidFill>
                  <a:srgbClr val="000000"/>
                </a:solidFill>
                <a:latin typeface="Times New Roman"/>
              </a:rPr>
              <a:t>Accounts Dept | FY 2026-2027 | DRM Budget &amp; FR Analysis | Completed JUL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220000" y="70000"/>
            <a:ext cx="11752000" cy="36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760" b="1">
                <a:solidFill>
                  <a:srgbClr val="22A7D8"/>
                </a:solidFill>
                <a:latin typeface="Times New Roman"/>
              </a:rPr>
              <a:t>Demand SMH Wise</a:t>
            </a:r>
          </a:p>
        </p:txBody>
      </p:sp>
      <p:sp>
        <p:nvSpPr>
          <p:cNvPr id="3" name="Text 3"/>
          <p:cNvSpPr/>
          <p:nvPr/>
        </p:nvSpPr>
        <p:spPr>
          <a:xfrm>
            <a:off x="220000" y="450000"/>
            <a:ext cx="11752000" cy="23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86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220000" y="720000"/>
          <a:ext cx="11752000" cy="589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19655"/>
                <a:gridCol w="2307624"/>
                <a:gridCol w="1215724"/>
                <a:gridCol w="1215724"/>
                <a:gridCol w="1215724"/>
                <a:gridCol w="1328291"/>
                <a:gridCol w="810482"/>
                <a:gridCol w="1328291"/>
                <a:gridCol w="810485"/>
              </a:tblGrid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60" b="1">
                          <a:solidFill>
                            <a:srgbClr val="FFFFFF"/>
                          </a:solidFill>
                          <a:latin typeface="Times New Roman"/>
                        </a:rPr>
                        <a:t>Demand No. / SMH-Grant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60" b="1">
                          <a:solidFill>
                            <a:srgbClr val="FFFFFF"/>
                          </a:solidFill>
                          <a:latin typeface="Times New Roman"/>
                        </a:rPr>
                        <a:t>Department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6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76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  <a:br/>
                      <a:r>
                        <a:rPr lang="en-US" sz="76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6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76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760" b="1">
                          <a:solidFill>
                            <a:srgbClr val="FFFFFF"/>
                          </a:solidFill>
                          <a:latin typeface="Times New Roman"/>
                        </a:rPr>
                        <a:t>BP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6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76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76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6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76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76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6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76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76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6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76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76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6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76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76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Demand 03 / 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PERSONNEL / STORE And Office Staff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641,522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64.15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213,841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21.38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232,594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23.26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18,753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109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408,928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40.89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36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Demand 04 / 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ENGINEERING / PWAY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3,608,902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360.89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1,202,967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120.30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1,467,818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146.78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264,851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26.49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122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2,141,084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214.11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41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Demand 05 / 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Mechanical LOCO Shed Roza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1,864,843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186.48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621,614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62.16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782,032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78.20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160,418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16.04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126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1,082,811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108.28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42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Demand 06 / 04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Electrical General / Mech C&amp;W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1,353,581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135.36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451,194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45.12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722,606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72.26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271,412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27.14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160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630,975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63.10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53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Demand 07 / 05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S&amp;T / TRD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2,059,950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206.00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686,650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68.67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800,112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80.01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113,462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11.35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117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1,259,838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125.98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39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Demand 08 / 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MECHANICAL / Running Staff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3,352,566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335.26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1,117,522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111.75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1,562,963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156.30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445,441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44.54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140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1,789,603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178.96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47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Demand 09 / 07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OPERATING / Commercial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4,428,766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442.88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1,476,255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147.63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1,777,301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177.73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301,046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30.10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120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2,651,465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265.15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40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Demand 10 / 08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Operating Expenses - Fuel / Traction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11,607,206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1160.72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3,869,069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386.91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3,545,214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354.52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-323,855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-32.39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92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8,061,992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806.20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31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Demand 11 / 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MEDICAL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1,392,832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139.28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464,277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46.43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807,750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80.78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343,473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34.35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174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585,082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58.51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58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 / 10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SECURITY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994,638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99.46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331,546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33.15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355,866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35.59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24,320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2.43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107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638,772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63.88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36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Demand 13 / 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Pension and Retirement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1,291,067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129.11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430,356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43.04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425,678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42.57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-4,678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-0.47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99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865,389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86.54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33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32,595,873</a:t>
                      </a:r>
                      <a:br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Cr. 3259.59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10,865,291</a:t>
                      </a:r>
                      <a:br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Cr. 1086.53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12,479,934</a:t>
                      </a:r>
                      <a:br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Cr. 1247.99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1,614,643</a:t>
                      </a:r>
                      <a:br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Cr. 161.46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115  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20,115,939</a:t>
                      </a:r>
                      <a:br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Cr. 2011.59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38  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12N / 10N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Suspense Heads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-13,045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-1.30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-4,348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-0.43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1,569,032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156.90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1,573,380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157.34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-36084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-1,582,077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-158.21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-12028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220000" y="70000"/>
            <a:ext cx="11752000" cy="36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760" b="1">
                <a:solidFill>
                  <a:srgbClr val="22A7D8"/>
                </a:solidFill>
                <a:latin typeface="Times New Roman"/>
              </a:rPr>
              <a:t>PU Wise - Staff</a:t>
            </a:r>
          </a:p>
        </p:txBody>
      </p:sp>
      <p:sp>
        <p:nvSpPr>
          <p:cNvPr id="3" name="Text 3"/>
          <p:cNvSpPr/>
          <p:nvPr/>
        </p:nvSpPr>
        <p:spPr>
          <a:xfrm>
            <a:off x="220000" y="450000"/>
            <a:ext cx="11752000" cy="23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86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220000" y="720000"/>
          <a:ext cx="11752000" cy="589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31392"/>
                <a:gridCol w="1460547"/>
                <a:gridCol w="1460547"/>
                <a:gridCol w="1460547"/>
                <a:gridCol w="1595783"/>
                <a:gridCol w="973698"/>
                <a:gridCol w="1595783"/>
                <a:gridCol w="973703"/>
              </a:tblGrid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BP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PU - 01 - Sal/Wag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6,706,409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670.64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2,235,470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223.55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2,454,892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245.49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219,422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21.94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110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4,251,517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425.15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37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PU - 02 - DA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4,100,453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410.05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1,366,818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136.68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1,579,845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157.98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213,027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21.30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116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2,520,608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252.06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39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PU - 03 - PLB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285,089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28.51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95,030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9.50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81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-94,949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-9.49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0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285,008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28.50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0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PU - 04 - HRA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776,198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77.62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258,733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25.87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269,991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27.00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11,258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1.13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104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506,207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50.62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35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PU - 07 - TPA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496,609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49.66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165,536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16.55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173,507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17.35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7,971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0.80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105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323,102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32.31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35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PU - 10 - KMA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680,197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68.02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226,732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22.67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290,482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29.05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63,750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6.37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128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389,715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38.97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43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PU - 11 - OT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77,300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7.73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25,767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2.58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54,545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5.45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28,778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212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22,755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71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PU - 12 - NDA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209,913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20.99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69,971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7.00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98,022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9.80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28,051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2.81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140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111,891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11.19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47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PU - 13 - OA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527,832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52.78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175,944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17.59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250,793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25.08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74,849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7.48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143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277,039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27.70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48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PU - 15 - TA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16,048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1.60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5,349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0.53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9,177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0.92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3,828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0.38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172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6,871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0.69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57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PU - 16 - TE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308,081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30.81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102,694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10.27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176,120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17.61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73,426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7.34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172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131,961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13.20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57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PU - 25 - Children Edu. Allow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379,418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37.94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126,473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12.65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358,455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35.85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231,982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23.20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283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20,963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2.10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94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14,563,547</a:t>
                      </a:r>
                      <a:br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Cr. 1456.35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4,854,516</a:t>
                      </a:r>
                      <a:br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Cr. 485.45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5,715,910</a:t>
                      </a:r>
                      <a:br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Cr. 571.59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861,394</a:t>
                      </a:r>
                      <a:br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Cr. 86.14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118  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8,847,637</a:t>
                      </a:r>
                      <a:br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Cr. 884.76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39  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220000" y="70000"/>
            <a:ext cx="11752000" cy="36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760" b="1">
                <a:solidFill>
                  <a:srgbClr val="22A7D8"/>
                </a:solidFill>
                <a:latin typeface="Times New Roman"/>
              </a:rPr>
              <a:t>PU Wise - Non-Staff Part 1</a:t>
            </a:r>
          </a:p>
        </p:txBody>
      </p:sp>
      <p:sp>
        <p:nvSpPr>
          <p:cNvPr id="3" name="Text 3"/>
          <p:cNvSpPr/>
          <p:nvPr/>
        </p:nvSpPr>
        <p:spPr>
          <a:xfrm>
            <a:off x="220000" y="450000"/>
            <a:ext cx="11752000" cy="23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86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220000" y="720000"/>
          <a:ext cx="11752000" cy="589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31392"/>
                <a:gridCol w="1460547"/>
                <a:gridCol w="1460547"/>
                <a:gridCol w="1460547"/>
                <a:gridCol w="1595783"/>
                <a:gridCol w="973698"/>
                <a:gridCol w="1595783"/>
                <a:gridCol w="973703"/>
              </a:tblGrid>
              <a:tr h="84257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BP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4257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 b="1">
                          <a:solidFill>
                            <a:srgbClr val="000000"/>
                          </a:solidFill>
                          <a:latin typeface="Times New Roman"/>
                        </a:rPr>
                        <a:t>PU - 27 - Materials from stock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1,068,752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106.88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356,251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35.63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588,317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58.83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232,066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23.21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165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480,435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48.04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 b="1">
                          <a:solidFill>
                            <a:srgbClr val="000000"/>
                          </a:solidFill>
                          <a:latin typeface="Times New Roman"/>
                        </a:rPr>
                        <a:t>55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4257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 b="1">
                          <a:solidFill>
                            <a:srgbClr val="000000"/>
                          </a:solidFill>
                          <a:latin typeface="Times New Roman"/>
                        </a:rPr>
                        <a:t>PU - 28 - Materials-Dir. purchase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149,947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14.99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49,982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5.00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63,019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6.30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13,037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1.30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126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86,928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8.69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 b="1">
                          <a:solidFill>
                            <a:srgbClr val="000000"/>
                          </a:solidFill>
                          <a:latin typeface="Times New Roman"/>
                        </a:rPr>
                        <a:t>42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4257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 b="1">
                          <a:solidFill>
                            <a:srgbClr val="000000"/>
                          </a:solidFill>
                          <a:latin typeface="Times New Roman"/>
                        </a:rPr>
                        <a:t>PU - 30 - Cost Of Elec. Energy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3,878,724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387.87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1,292,908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129.29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1,100,220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110.02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-192,688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-19.27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85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2,778,504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277.85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 b="1">
                          <a:solidFill>
                            <a:srgbClr val="000000"/>
                          </a:solidFill>
                          <a:latin typeface="Times New Roman"/>
                        </a:rPr>
                        <a:t>28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4257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 b="1">
                          <a:solidFill>
                            <a:srgbClr val="000000"/>
                          </a:solidFill>
                          <a:latin typeface="Times New Roman"/>
                        </a:rPr>
                        <a:t>PU - 32 - CP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3,254,310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325.43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1,084,770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108.48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1,658,467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165.85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573,697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57.37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153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1,595,843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159.58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 b="1">
                          <a:solidFill>
                            <a:srgbClr val="000000"/>
                          </a:solidFill>
                          <a:latin typeface="Times New Roman"/>
                        </a:rPr>
                        <a:t>51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4257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 b="1">
                          <a:solidFill>
                            <a:srgbClr val="000000"/>
                          </a:solidFill>
                          <a:latin typeface="Times New Roman"/>
                        </a:rPr>
                        <a:t>PU - 60 - Fuel from Stock-Home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4,703,356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470.34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1,567,785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156.78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1,807,074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180.71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239,289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23.93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115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2,896,282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289.63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 b="1">
                          <a:solidFill>
                            <a:srgbClr val="000000"/>
                          </a:solidFill>
                          <a:latin typeface="Times New Roman"/>
                        </a:rPr>
                        <a:t>38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4257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90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900" b="1">
                          <a:solidFill>
                            <a:srgbClr val="000000"/>
                          </a:solidFill>
                          <a:latin typeface="Times New Roman"/>
                        </a:rPr>
                        <a:t>13,055,089</a:t>
                      </a:r>
                      <a:br/>
                      <a:r>
                        <a:rPr lang="en-US" sz="900" b="1">
                          <a:solidFill>
                            <a:srgbClr val="000000"/>
                          </a:solidFill>
                          <a:latin typeface="Times New Roman"/>
                        </a:rPr>
                        <a:t>Cr. 1305.51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900" b="1">
                          <a:solidFill>
                            <a:srgbClr val="000000"/>
                          </a:solidFill>
                          <a:latin typeface="Times New Roman"/>
                        </a:rPr>
                        <a:t>4,351,696</a:t>
                      </a:r>
                      <a:br/>
                      <a:r>
                        <a:rPr lang="en-US" sz="900" b="1">
                          <a:solidFill>
                            <a:srgbClr val="000000"/>
                          </a:solidFill>
                          <a:latin typeface="Times New Roman"/>
                        </a:rPr>
                        <a:t>Cr. 435.17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900" b="1">
                          <a:solidFill>
                            <a:srgbClr val="000000"/>
                          </a:solidFill>
                          <a:latin typeface="Times New Roman"/>
                        </a:rPr>
                        <a:t>5,217,097</a:t>
                      </a:r>
                      <a:br/>
                      <a:r>
                        <a:rPr lang="en-US" sz="900" b="1">
                          <a:solidFill>
                            <a:srgbClr val="000000"/>
                          </a:solidFill>
                          <a:latin typeface="Times New Roman"/>
                        </a:rPr>
                        <a:t>Cr. 521.71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900" b="1">
                          <a:solidFill>
                            <a:srgbClr val="000000"/>
                          </a:solidFill>
                          <a:latin typeface="Times New Roman"/>
                        </a:rPr>
                        <a:t>865,401</a:t>
                      </a:r>
                      <a:br/>
                      <a:r>
                        <a:rPr lang="en-US" sz="900" b="1">
                          <a:solidFill>
                            <a:srgbClr val="000000"/>
                          </a:solidFill>
                          <a:latin typeface="Times New Roman"/>
                        </a:rPr>
                        <a:t>Cr. 86.54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900" b="1">
                          <a:solidFill>
                            <a:srgbClr val="000000"/>
                          </a:solidFill>
                          <a:latin typeface="Times New Roman"/>
                        </a:rPr>
                        <a:t>120  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900" b="1">
                          <a:solidFill>
                            <a:srgbClr val="000000"/>
                          </a:solidFill>
                          <a:latin typeface="Times New Roman"/>
                        </a:rPr>
                        <a:t>7,837,992</a:t>
                      </a:r>
                      <a:br/>
                      <a:r>
                        <a:rPr lang="en-US" sz="900" b="1">
                          <a:solidFill>
                            <a:srgbClr val="000000"/>
                          </a:solidFill>
                          <a:latin typeface="Times New Roman"/>
                        </a:rPr>
                        <a:t>Cr. 783.80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900" b="1">
                          <a:solidFill>
                            <a:srgbClr val="000000"/>
                          </a:solidFill>
                          <a:latin typeface="Times New Roman"/>
                        </a:rPr>
                        <a:t>40  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220000" y="70000"/>
            <a:ext cx="11752000" cy="36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760" b="1">
                <a:solidFill>
                  <a:srgbClr val="22A7D8"/>
                </a:solidFill>
                <a:latin typeface="Times New Roman"/>
              </a:rPr>
              <a:t>Open Line FR Report (Rows 1-16)</a:t>
            </a:r>
          </a:p>
        </p:txBody>
      </p:sp>
      <p:sp>
        <p:nvSpPr>
          <p:cNvPr id="3" name="Text 3"/>
          <p:cNvSpPr/>
          <p:nvPr/>
        </p:nvSpPr>
        <p:spPr>
          <a:xfrm>
            <a:off x="220000" y="450000"/>
            <a:ext cx="11752000" cy="23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86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220000" y="720000"/>
          <a:ext cx="11752000" cy="589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498814"/>
                <a:gridCol w="3104587"/>
                <a:gridCol w="1635587"/>
                <a:gridCol w="1635587"/>
                <a:gridCol w="1787030"/>
                <a:gridCol w="1090395"/>
              </a:tblGrid>
              <a:tr h="34694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 Name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SBA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 (AE - SBA)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% SBA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34694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1600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Traffic facility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160,903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16.09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49,143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4.91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-111,760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-11.18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30.54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34694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1700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Computerization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32,227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3.22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3,682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0.37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-28,545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-2.85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11.43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34694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2900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Level crossing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120,318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12.03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49,669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4.97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-70,649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-7.06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41.28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34694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3000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Road over/under Bridge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507,420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50.74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314,675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31.47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-192,745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-19.27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62.01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34694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3100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Track renewal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2,962,795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296.28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2,356,170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235.62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-606,625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-60.66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79.53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34694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3200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Bridge work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132,267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13.23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135,953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13.60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3,686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0.37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102.79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34694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3300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S&amp;T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522,843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52.28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117,673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11.77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-405,170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-40.52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22.51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34694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3600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Other electric works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307,843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30.78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82,362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8.24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-225,481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-22.55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26.75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34694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3700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Traction Dist. works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34694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4100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Machine and plants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13,194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1.32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3,629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0.36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-9,565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-0.96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27.50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34694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4200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Workshop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53,702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5.37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2,427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0.24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-51,275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-5.13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4.52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34694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5100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Staff Welfare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97,500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9.75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35,140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3.51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-62,360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-6.24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36.04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34694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5300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Customer(Passenger) amenities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310,912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31.09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115,054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11.51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-195,858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-19.59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37.01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34694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6200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Inv. In Govt. comm Public Un.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34694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6400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Other specified works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315,733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31.57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74,839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7.48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-240,894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-24.09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23.70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34694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OSW (CAPIN)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64,034</a:t>
                      </a:r>
                      <a:br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Cr. 6.40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-64,034</a:t>
                      </a:r>
                      <a:br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Cr. -6.40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220000" y="70000"/>
            <a:ext cx="11752000" cy="36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760" b="1">
                <a:solidFill>
                  <a:srgbClr val="22A7D8"/>
                </a:solidFill>
                <a:latin typeface="Times New Roman"/>
              </a:rPr>
              <a:t>Open Line FR Report (Rows 17-20)</a:t>
            </a:r>
          </a:p>
        </p:txBody>
      </p:sp>
      <p:sp>
        <p:nvSpPr>
          <p:cNvPr id="3" name="Text 3"/>
          <p:cNvSpPr/>
          <p:nvPr/>
        </p:nvSpPr>
        <p:spPr>
          <a:xfrm>
            <a:off x="220000" y="450000"/>
            <a:ext cx="11752000" cy="23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86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220000" y="720000"/>
          <a:ext cx="11752000" cy="589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498814"/>
                <a:gridCol w="3104587"/>
                <a:gridCol w="1635587"/>
                <a:gridCol w="1635587"/>
                <a:gridCol w="1787030"/>
                <a:gridCol w="1090395"/>
              </a:tblGrid>
              <a:tr h="1179600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 Name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SBA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 (AE - SBA)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% SBA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179600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 b="1">
                          <a:solidFill>
                            <a:srgbClr val="000000"/>
                          </a:solidFill>
                          <a:latin typeface="Times New Roman"/>
                        </a:rPr>
                        <a:t>6500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Training/HRD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6,010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0.60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-6,010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-0.60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179600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90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900" b="1">
                          <a:solidFill>
                            <a:srgbClr val="000000"/>
                          </a:solidFill>
                          <a:latin typeface="Times New Roman"/>
                        </a:rPr>
                        <a:t>1. Sr. DEN (C )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9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900" b="1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9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900" b="1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9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900" b="1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9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179600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90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900" b="1">
                          <a:solidFill>
                            <a:srgbClr val="000000"/>
                          </a:solidFill>
                          <a:latin typeface="Times New Roman"/>
                        </a:rPr>
                        <a:t>2. Sr. DEE (G &amp; TRD)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9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900" b="1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9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900" b="1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9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900" b="1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9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179600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90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90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900" b="1">
                          <a:solidFill>
                            <a:srgbClr val="000000"/>
                          </a:solidFill>
                          <a:latin typeface="Times New Roman"/>
                        </a:rPr>
                        <a:t>5,607,701</a:t>
                      </a:r>
                      <a:br/>
                      <a:r>
                        <a:rPr lang="en-US" sz="900" b="1">
                          <a:solidFill>
                            <a:srgbClr val="000000"/>
                          </a:solidFill>
                          <a:latin typeface="Times New Roman"/>
                        </a:rPr>
                        <a:t>Cr. 560.77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900" b="1">
                          <a:solidFill>
                            <a:srgbClr val="000000"/>
                          </a:solidFill>
                          <a:latin typeface="Times New Roman"/>
                        </a:rPr>
                        <a:t>3,340,416</a:t>
                      </a:r>
                      <a:br/>
                      <a:r>
                        <a:rPr lang="en-US" sz="900" b="1">
                          <a:solidFill>
                            <a:srgbClr val="000000"/>
                          </a:solidFill>
                          <a:latin typeface="Times New Roman"/>
                        </a:rPr>
                        <a:t>Cr. 334.04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900" b="1">
                          <a:solidFill>
                            <a:srgbClr val="000000"/>
                          </a:solidFill>
                          <a:latin typeface="Times New Roman"/>
                        </a:rPr>
                        <a:t>-2,267,285</a:t>
                      </a:r>
                      <a:br/>
                      <a:r>
                        <a:rPr lang="en-US" sz="900" b="1">
                          <a:solidFill>
                            <a:srgbClr val="000000"/>
                          </a:solidFill>
                          <a:latin typeface="Times New Roman"/>
                        </a:rPr>
                        <a:t>Cr. -226.73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900" b="1">
                          <a:solidFill>
                            <a:srgbClr val="000000"/>
                          </a:solidFill>
                          <a:latin typeface="Times New Roman"/>
                        </a:rPr>
                        <a:t>59.57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220000" y="70000"/>
            <a:ext cx="11752000" cy="36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760" b="1">
                <a:solidFill>
                  <a:srgbClr val="22A7D8"/>
                </a:solidFill>
                <a:latin typeface="Times New Roman"/>
              </a:rPr>
              <a:t>Open Line FR Fund Wise</a:t>
            </a:r>
          </a:p>
        </p:txBody>
      </p:sp>
      <p:sp>
        <p:nvSpPr>
          <p:cNvPr id="3" name="Text 3"/>
          <p:cNvSpPr/>
          <p:nvPr/>
        </p:nvSpPr>
        <p:spPr>
          <a:xfrm>
            <a:off x="220000" y="450000"/>
            <a:ext cx="11752000" cy="23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86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220000" y="720000"/>
          <a:ext cx="11752000" cy="589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077904"/>
                <a:gridCol w="2014628"/>
                <a:gridCol w="2014628"/>
                <a:gridCol w="1958666"/>
                <a:gridCol w="1343085"/>
                <a:gridCol w="1343089"/>
              </a:tblGrid>
              <a:tr h="737250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Fund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SBA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Available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Expensed %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Remaining %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37250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 b="1">
                          <a:solidFill>
                            <a:srgbClr val="000000"/>
                          </a:solidFill>
                          <a:latin typeface="Times New Roman"/>
                        </a:rPr>
                        <a:t>CAP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1,018,353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101.84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296,990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29.70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721,363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72.14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29.16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 b="1">
                          <a:solidFill>
                            <a:srgbClr val="000000"/>
                          </a:solidFill>
                          <a:latin typeface="Times New Roman"/>
                        </a:rPr>
                        <a:t>70.84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37250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 b="1">
                          <a:solidFill>
                            <a:srgbClr val="000000"/>
                          </a:solidFill>
                          <a:latin typeface="Times New Roman"/>
                        </a:rPr>
                        <a:t>DRF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40,232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4.02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12,646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1.26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27,586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2.76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31.43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 b="1">
                          <a:solidFill>
                            <a:srgbClr val="000000"/>
                          </a:solidFill>
                          <a:latin typeface="Times New Roman"/>
                        </a:rPr>
                        <a:t>68.57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37250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 b="1">
                          <a:solidFill>
                            <a:srgbClr val="000000"/>
                          </a:solidFill>
                          <a:latin typeface="Times New Roman"/>
                        </a:rPr>
                        <a:t>DF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130,592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13.06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8,703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0.87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121,889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12.19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6.66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 b="1">
                          <a:solidFill>
                            <a:srgbClr val="000000"/>
                          </a:solidFill>
                          <a:latin typeface="Times New Roman"/>
                        </a:rPr>
                        <a:t>93.34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37250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 b="1">
                          <a:solidFill>
                            <a:srgbClr val="000000"/>
                          </a:solidFill>
                          <a:latin typeface="Times New Roman"/>
                        </a:rPr>
                        <a:t>CAPITAL FUND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37250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 b="1">
                          <a:solidFill>
                            <a:srgbClr val="000000"/>
                          </a:solidFill>
                          <a:latin typeface="Times New Roman"/>
                        </a:rPr>
                        <a:t>S FUND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3,117,515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311.75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2,463,326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246.33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654,189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65.42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79.02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 b="1">
                          <a:solidFill>
                            <a:srgbClr val="000000"/>
                          </a:solidFill>
                          <a:latin typeface="Times New Roman"/>
                        </a:rPr>
                        <a:t>20.98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37250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 b="1">
                          <a:solidFill>
                            <a:srgbClr val="000000"/>
                          </a:solidFill>
                          <a:latin typeface="Times New Roman"/>
                        </a:rPr>
                        <a:t>EBR-(S)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37250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 b="1">
                          <a:solidFill>
                            <a:srgbClr val="000000"/>
                          </a:solidFill>
                          <a:latin typeface="Times New Roman"/>
                        </a:rPr>
                        <a:t>RRSK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1,301,009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130.10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558,751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55.88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742,258</a:t>
                      </a:r>
                      <a:br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Cr. 74.23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>
                          <a:solidFill>
                            <a:srgbClr val="000000"/>
                          </a:solidFill>
                          <a:latin typeface="Times New Roman"/>
                        </a:rPr>
                        <a:t>42.95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80" b="1">
                          <a:solidFill>
                            <a:srgbClr val="000000"/>
                          </a:solidFill>
                          <a:latin typeface="Times New Roman"/>
                        </a:rPr>
                        <a:t>57.05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198</TotalTime>
  <Words>1463</Words>
  <Application>Microsoft Office PowerPoint</Application>
  <PresentationFormat>Widescreen</PresentationFormat>
  <Paragraphs>677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Times New Roman</vt:lpstr>
      <vt:lpstr>Trebuchet MS</vt:lpstr>
      <vt:lpstr>Wingdings 3</vt:lpstr>
      <vt:lpstr>Facet</vt:lpstr>
      <vt:lpstr>Moradabad Division Accounts Dept FY – 2026-2027</vt:lpstr>
      <vt:lpstr>Demand / SMH Wise</vt:lpstr>
      <vt:lpstr>PU Wise – Staff (Part 1)</vt:lpstr>
      <vt:lpstr>PU Wise ( Staff) Part 2</vt:lpstr>
      <vt:lpstr>PU Wise - NON-STAFF Part 1</vt:lpstr>
      <vt:lpstr>OPEN LINE FR Report </vt:lpstr>
      <vt:lpstr>OPEN LINE FR – Fund Wise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Moradabad Division FY – 2026-2027</dc:title>
  <dc:creator>girish</dc:creator>
  <cp:lastModifiedBy>it centre mb</cp:lastModifiedBy>
  <cp:revision>27</cp:revision>
  <dcterms:created xsi:type="dcterms:W3CDTF">2026-07-10T14:38:31Z</dcterms:created>
  <dcterms:modified xsi:type="dcterms:W3CDTF">2026-07-15T06:07:39Z</dcterms:modified>
</cp:coreProperties>
</file>