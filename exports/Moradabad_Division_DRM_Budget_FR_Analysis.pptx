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84" autoAdjust="0"/>
    <p:restoredTop sz="94947" autoAdjust="0"/>
  </p:normalViewPr>
  <p:slideViewPr>
    <p:cSldViewPr snapToGrid="0">
      <p:cViewPr varScale="1">
        <p:scale>
          <a:sx n="85" d="100"/>
          <a:sy n="85" d="100"/>
        </p:scale>
        <p:origin x="774" y="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Accounts Dept | FY 2026-2027 | DRM Budget &amp; FR Analysis | Completed JUL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Demand SMH Wise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220000" y="720000"/>
          <a:ext cx="11752000" cy="589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19655"/>
                <a:gridCol w="2307624"/>
                <a:gridCol w="1215724"/>
                <a:gridCol w="1215724"/>
                <a:gridCol w="1215724"/>
                <a:gridCol w="1328291"/>
                <a:gridCol w="810482"/>
                <a:gridCol w="1328291"/>
                <a:gridCol w="810485"/>
              </a:tblGrid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213,841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21.38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232,594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23.26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18,753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109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408,928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40.89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36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1,202,967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120.30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1,467,818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146.78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264,851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26.49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122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2,141,084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214.11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41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621,614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62.16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160,418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16.04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126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42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451,194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45.12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722,606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72.26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271,412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27.14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160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630,975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63.10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53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686,650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68.67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800,112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80.01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113,462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11.35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117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1,259,838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125.98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39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1,117,522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111.75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1,562,963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156.30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445,441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44.54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140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1,789,603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178.96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47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1,476,255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147.63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1,777,301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177.73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301,046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120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2,651,465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265.15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40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3,869,069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386.91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3,545,214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354.52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-323,855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-32.39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92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8,061,992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806.20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31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464,277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46.43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807,750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80.78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343,473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34.35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174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585,082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58.51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58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331,546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33.15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355,866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35.59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24,320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107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638,772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63.88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36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430,356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43.04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425,678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42.57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-4,678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99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865,389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86.54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33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10,865,291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1086.53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12,479,934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1247.99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1,614,643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161.46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115  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20,115,939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2011.59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38  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-4,348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1,569,032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156.90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1,573,380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157.34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-36084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-1,582,077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-158.21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-12028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PU Wise - Staff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220000" y="720000"/>
          <a:ext cx="11752000" cy="589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31392"/>
                <a:gridCol w="1460547"/>
                <a:gridCol w="1460547"/>
                <a:gridCol w="1460547"/>
                <a:gridCol w="1595783"/>
                <a:gridCol w="973698"/>
                <a:gridCol w="1595783"/>
                <a:gridCol w="973703"/>
              </a:tblGrid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2,235,470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223.55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2,454,892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245.49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219,422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21.94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110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4,251,517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425.15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37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1,366,818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136.68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1,579,845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157.98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213,027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21.30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116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2,520,608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252.06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39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95,030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9.50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-94,949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-9.49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285,008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258,733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25.87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269,991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27.00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11,258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104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506,207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50.62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35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165,536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16.55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173,507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17.35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7,971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105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323,102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32.31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226,732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22.67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290,482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29.05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63,750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6.37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128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389,715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38.97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43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25,767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54,545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5.45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28,778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212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22,755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71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69,971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7.00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98,022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9.80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28,051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140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111,891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11.19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47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175,944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17.59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250,793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25.08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74,849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7.48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143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277,039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27.70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48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5,349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9,177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3,828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172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6,871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57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102,694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10.27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176,120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17.61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73,426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7.34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172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131,961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13.20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57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126,473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12.65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358,455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35.85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231,982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23.20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283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20,963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94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1456.35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4,854,516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485.45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5,715,910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571.59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861,394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86.14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118  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8,847,637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884.76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39  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PU Wise - Non-Staff Part 1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220000" y="720000"/>
          <a:ext cx="11752000" cy="589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31392"/>
                <a:gridCol w="1460547"/>
                <a:gridCol w="1460547"/>
                <a:gridCol w="1460547"/>
                <a:gridCol w="1595783"/>
                <a:gridCol w="973698"/>
                <a:gridCol w="1595783"/>
                <a:gridCol w="973703"/>
              </a:tblGrid>
              <a:tr h="84257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4257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356,251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35.63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588,317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58.83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232,066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23.21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165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480,435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48.04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55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4257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49,982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5.00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63,019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6.30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13,037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1.30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126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86,928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8.69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42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4257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1,292,908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129.29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1,100,220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110.02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-192,688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-19.27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85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2,778,504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277.85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28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4257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1,084,770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108.48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1,658,467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165.85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573,697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57.37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153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1,595,843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159.58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51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4257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1,567,785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156.78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1,807,074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180.71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239,289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23.93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115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2,896,282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289.63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38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4257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Cr. 1305.51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4,351,696</a:t>
                      </a:r>
                      <a:br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Cr. 435.17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5,217,097</a:t>
                      </a:r>
                      <a:br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Cr. 521.71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865,401</a:t>
                      </a:r>
                      <a:br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Cr. 86.54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120  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7,837,992</a:t>
                      </a:r>
                      <a:br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Cr. 783.80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40  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Open Line FR Report (Rows 1-16)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220000" y="720000"/>
          <a:ext cx="11752000" cy="589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98814"/>
                <a:gridCol w="3104587"/>
                <a:gridCol w="1635587"/>
                <a:gridCol w="1635587"/>
                <a:gridCol w="1787030"/>
                <a:gridCol w="1090395"/>
              </a:tblGrid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16.09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49,143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4.91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-111,760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-11.18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30.54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5,289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-26,938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-2.69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16.41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12.03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49,669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-70,649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-7.06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41.28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50.74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320,276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32.03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-187,144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-18.71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63.12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296.28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3,020,618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302.06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57,823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5.78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101.95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13.23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135,953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13.60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3,686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102.79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52.28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117,717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11.77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-405,126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-40.51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22.51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30.78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84,759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8.48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-223,084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-22.31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27.53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13,194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3,629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-9,565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27.50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5.37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4,327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-49,375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-4.94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8.06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9.75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35,140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3.51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-62,360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-6.24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36.04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31.09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116,587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11.66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-194,325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-19.43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37.50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31.57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80,509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8.05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-235,224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-23.52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25.50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6.40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-6.40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Open Line FR Report (Rows 17-18)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220000" y="720000"/>
          <a:ext cx="11752000" cy="589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98814"/>
                <a:gridCol w="3104587"/>
                <a:gridCol w="1635587"/>
                <a:gridCol w="1635587"/>
                <a:gridCol w="1787030"/>
                <a:gridCol w="1090395"/>
              </a:tblGrid>
              <a:tr h="19660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9660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-0.60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9660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5,607,701</a:t>
                      </a:r>
                      <a:br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Cr. 560.77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4,023,616</a:t>
                      </a:r>
                      <a:br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Cr. 402.36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-1,584,085</a:t>
                      </a:r>
                      <a:br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Cr. -158.41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71.75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Open Line FR Fund Wise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220000" y="720000"/>
          <a:ext cx="11752000" cy="589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77904"/>
                <a:gridCol w="2014628"/>
                <a:gridCol w="2014628"/>
                <a:gridCol w="1958666"/>
                <a:gridCol w="1343085"/>
                <a:gridCol w="1343089"/>
              </a:tblGrid>
              <a:tr h="73725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3725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1,018,353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101.84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301,883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30.19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716,470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71.65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29.64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70.36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3725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4.02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14,031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1.40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26,201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2.62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34.88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65.12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3725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13.06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10,251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1.03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120,341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12.03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7.85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92.15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3725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3725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311.75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3,103,250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310.32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14,265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1.43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99.54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0.46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3725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3725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130.10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594,201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59.42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706,808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70.68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45.67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54.33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198</TotalTime>
  <Words>1463</Words>
  <Application>Microsoft Office PowerPoint</Application>
  <PresentationFormat>Widescreen</PresentationFormat>
  <Paragraphs>677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Demand / SMH Wise</vt:lpstr>
      <vt:lpstr>PU Wise – Staff (Part 1)</vt:lpstr>
      <vt:lpstr>PU Wise ( Staff) Part 2</vt:lpstr>
      <vt:lpstr>PU Wise - NON-STAFF Part 1</vt:lpstr>
      <vt:lpstr>OPEN LINE FR Report </vt:lpstr>
      <vt:lpstr>OPEN LINE FR – Fund Wise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27</cp:revision>
  <dcterms:created xsi:type="dcterms:W3CDTF">2026-07-10T14:38:31Z</dcterms:created>
  <dcterms:modified xsi:type="dcterms:W3CDTF">2026-07-15T06:07:39Z</dcterms:modified>
</cp:coreProperties>
</file>