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43" r:id="rId1"/>
  </p:sldMasterIdLst>
  <p:sldIdLst>
    <p:sldId id="256" r:id="rIdSlide1"/>
    <p:sldId id="257" r:id="rIdSlide2"/>
    <p:sldId id="258" r:id="rIdSlide3"/>
    <p:sldId id="259" r:id="rIdSlide4"/>
    <p:sldId id="260" r:id="rIdSlide5"/>
    <p:sldId id="261" r:id="rIdSlide6"/>
    <p:sldId id="262" r:id="rIdSlide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84" autoAdjust="0"/>
    <p:restoredTop sz="94947" autoAdjust="0"/>
  </p:normalViewPr>
  <p:slideViewPr>
    <p:cSldViewPr snapToGrid="0">
      <p:cViewPr varScale="1">
        <p:scale>
          <a:sx n="108" d="100"/>
          <a:sy n="108" d="100"/>
        </p:scale>
        <p:origin x="714" y="96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2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11" Type="http://schemas.openxmlformats.org/officeDocument/2006/relationships/theme" Target="theme/theme1.xml"/><Relationship Id="rId10" Type="http://schemas.openxmlformats.org/officeDocument/2006/relationships/viewProps" Target="viewProps.xml"/><Relationship Id="rId9" Type="http://schemas.openxmlformats.org/officeDocument/2006/relationships/presProps" Target="presProps.xml"/><Relationship Id="rIdSlide1" Type="http://schemas.openxmlformats.org/officeDocument/2006/relationships/slide" Target="slides/slide1.xml"/><Relationship Id="rIdSlide2" Type="http://schemas.openxmlformats.org/officeDocument/2006/relationships/slide" Target="slides/slide2.xml"/><Relationship Id="rIdSlide3" Type="http://schemas.openxmlformats.org/officeDocument/2006/relationships/slide" Target="slides/slide3.xml"/><Relationship Id="rIdSlide4" Type="http://schemas.openxmlformats.org/officeDocument/2006/relationships/slide" Target="slides/slide4.xml"/><Relationship Id="rIdSlide5" Type="http://schemas.openxmlformats.org/officeDocument/2006/relationships/slide" Target="slides/slide5.xml"/><Relationship Id="rIdSlide6" Type="http://schemas.openxmlformats.org/officeDocument/2006/relationships/slide" Target="slides/slide6.xml"/><Relationship Id="rIdSlide7" Type="http://schemas.openxmlformats.org/officeDocument/2006/relationships/slide" Target="slides/slide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2141528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202010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4812038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0324102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3213182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41223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923577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442385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1271731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5488039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  <p:sp>
        <p:nvSpPr>
          <p:cNvPr id="20" name="TextBox 19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73412489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9484645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00802663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3815263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1666916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768102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680076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4" r:id="rId1"/>
    <p:sldLayoutId id="2147483745" r:id="rId2"/>
    <p:sldLayoutId id="2147483746" r:id="rId3"/>
    <p:sldLayoutId id="2147483747" r:id="rId4"/>
    <p:sldLayoutId id="2147483748" r:id="rId5"/>
    <p:sldLayoutId id="2147483749" r:id="rId6"/>
    <p:sldLayoutId id="2147483750" r:id="rId7"/>
    <p:sldLayoutId id="2147483751" r:id="rId8"/>
    <p:sldLayoutId id="2147483752" r:id="rId9"/>
    <p:sldLayoutId id="2147483753" r:id="rId10"/>
    <p:sldLayoutId id="2147483754" r:id="rId11"/>
    <p:sldLayoutId id="2147483755" r:id="rId12"/>
    <p:sldLayoutId id="2147483756" r:id="rId13"/>
    <p:sldLayoutId id="2147483757" r:id="rId14"/>
    <p:sldLayoutId id="2147483758" r:id="rId15"/>
    <p:sldLayoutId id="2147483759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0" y="0"/>
            <a:ext cx="12192000" cy="5400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350" b="1">
                <a:solidFill>
                  <a:srgbClr val="FFFFFF"/>
                </a:solidFill>
                <a:latin typeface="Times New Roman"/>
              </a:rPr>
              <a:t>NORTHERN RAILWAY - MORADABAD DIVISION</a:t>
            </a:r>
          </a:p>
        </p:txBody>
      </p:sp>
      <p:sp>
        <p:nvSpPr>
          <p:cNvPr id="3" name="Text 3"/>
          <p:cNvSpPr/>
          <p:nvPr/>
        </p:nvSpPr>
        <p:spPr>
          <a:xfrm>
            <a:off x="420000" y="1180000"/>
            <a:ext cx="11352000" cy="760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2400" b="1">
                <a:solidFill>
                  <a:srgbClr val="22A7D8"/>
                </a:solidFill>
                <a:latin typeface="Times New Roman"/>
              </a:rPr>
              <a:t>Moradabad Division Budget &amp; FR Analysis</a:t>
            </a:r>
          </a:p>
        </p:txBody>
      </p:sp>
      <p:sp>
        <p:nvSpPr>
          <p:cNvPr id="4" name="Text 4"/>
          <p:cNvSpPr/>
          <p:nvPr/>
        </p:nvSpPr>
        <p:spPr>
          <a:xfrm>
            <a:off x="860000" y="2040000"/>
            <a:ext cx="10472000" cy="430000"/>
          </a:xfrm>
          <a:prstGeom prst="rect">
            <a:avLst/>
          </a:prstGeom>
          <a:solidFill>
            <a:srgbClr val="E8F2F8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980">
                <a:solidFill>
                  <a:srgbClr val="000000"/>
                </a:solidFill>
                <a:latin typeface="Times New Roman"/>
              </a:rPr>
              <a:t>Accounts Dept | FY 2026-2027 | DRM Budget &amp; FR Analysis | Completed AUG 2026 | H column: actual expenditure up to AUG 2025</a:t>
            </a:r>
          </a:p>
        </p:txBody>
      </p:sp>
      <p:sp>
        <p:nvSpPr>
          <p:cNvPr id="5" name="Text 5"/>
          <p:cNvSpPr/>
          <p:nvPr/>
        </p:nvSpPr>
        <p:spPr>
          <a:xfrm>
            <a:off x="1350000" y="3120000"/>
            <a:ext cx="2400000" cy="720000"/>
          </a:xfrm>
          <a:prstGeom prst="rect">
            <a:avLst/>
          </a:prstGeom>
          <a:solidFill>
            <a:srgbClr val="DFF3E7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920" b="1">
                <a:solidFill>
                  <a:srgbClr val="000000"/>
                </a:solidFill>
                <a:latin typeface="Times New Roman"/>
              </a:rPr>
              <a:t>Green</a:t>
            </a:r>
            <a:br/>
            <a:r>
              <a:rPr lang="en-US" sz="920" b="1">
                <a:solidFill>
                  <a:srgbClr val="000000"/>
                </a:solidFill>
                <a:latin typeface="Times New Roman"/>
              </a:rPr>
              <a:t>Within control</a:t>
            </a:r>
          </a:p>
        </p:txBody>
      </p:sp>
      <p:sp>
        <p:nvSpPr>
          <p:cNvPr id="6" name="Text 6"/>
          <p:cNvSpPr/>
          <p:nvPr/>
        </p:nvSpPr>
        <p:spPr>
          <a:xfrm>
            <a:off x="4860000" y="3120000"/>
            <a:ext cx="2400000" cy="720000"/>
          </a:xfrm>
          <a:prstGeom prst="rect">
            <a:avLst/>
          </a:prstGeom>
          <a:solidFill>
            <a:srgbClr val="FFF2CC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920" b="1">
                <a:solidFill>
                  <a:srgbClr val="000000"/>
                </a:solidFill>
                <a:latin typeface="Times New Roman"/>
              </a:rPr>
              <a:t>Amber</a:t>
            </a:r>
            <a:br/>
            <a:r>
              <a:rPr lang="en-US" sz="920" b="1">
                <a:solidFill>
                  <a:srgbClr val="000000"/>
                </a:solidFill>
                <a:latin typeface="Times New Roman"/>
              </a:rPr>
              <a:t>Watch range</a:t>
            </a:r>
          </a:p>
        </p:txBody>
      </p:sp>
      <p:sp>
        <p:nvSpPr>
          <p:cNvPr id="7" name="Text 7"/>
          <p:cNvSpPr/>
          <p:nvPr/>
        </p:nvSpPr>
        <p:spPr>
          <a:xfrm>
            <a:off x="8370000" y="3120000"/>
            <a:ext cx="2400000" cy="720000"/>
          </a:xfrm>
          <a:prstGeom prst="rect">
            <a:avLst/>
          </a:prstGeom>
          <a:solidFill>
            <a:srgbClr val="FCE4E4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920" b="1">
                <a:solidFill>
                  <a:srgbClr val="000000"/>
                </a:solidFill>
                <a:latin typeface="Times New Roman"/>
              </a:rPr>
              <a:t>Red</a:t>
            </a:r>
            <a:br/>
            <a:r>
              <a:rPr lang="en-US" sz="920" b="1">
                <a:solidFill>
                  <a:srgbClr val="000000"/>
                </a:solidFill>
                <a:latin typeface="Times New Roman"/>
              </a:rPr>
              <a:t>Immediate review</a:t>
            </a:r>
          </a:p>
        </p:txBody>
      </p:sp>
      <p:sp>
        <p:nvSpPr>
          <p:cNvPr id="8" name="Text 8"/>
          <p:cNvSpPr/>
          <p:nvPr/>
        </p:nvSpPr>
        <p:spPr>
          <a:xfrm>
            <a:off x="0" y="6438000"/>
            <a:ext cx="12192000" cy="4200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900">
                <a:solidFill>
                  <a:srgbClr val="FFFFFF"/>
                </a:solidFill>
                <a:latin typeface="Times New Roman"/>
              </a:rPr>
              <a:t>Figures in thousands with Crore equivalent shown inside table cells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Demand SMH Wise - AUG 2026 | uploaded 2026-09-29T13:48:08+05:30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398281"/>
                <a:gridCol w="2123315"/>
                <a:gridCol w="1118625"/>
                <a:gridCol w="1118625"/>
                <a:gridCol w="1118625"/>
                <a:gridCol w="1222201"/>
                <a:gridCol w="745749"/>
                <a:gridCol w="1222201"/>
                <a:gridCol w="745749"/>
                <a:gridCol w="1118629"/>
              </a:tblGrid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Demand No. / SMH-Grant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Department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A\nOBA/RG\nRG if available, else BG_ISL 2026-27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BP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/ 12 * 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Actuals up to AUG 2026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- B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% BP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/ B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Budget Remaining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- C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% OBA Utilized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/ 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up to AUG 2025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03 / 01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PERSONNEL / STORE And Office Staff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641,522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64.15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267,301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26.73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294,135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29.41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26,834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2.68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347,387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34.74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267,838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26.78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04 / 02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ENGINEERING / PWAY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3,608,902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360.89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1,503,709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150.37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1,781,320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178.13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277,611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27.76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1,827,582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182.76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1,635,185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163.52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05 / 03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Mechanical LOCO Shed Roza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1,864,843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186.48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777,018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77.70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782,032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78.20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5,014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0.50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1,082,811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108.28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995,067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99.51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06 / 04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Electrical General / Mech C&amp;W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1,353,581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135.36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563,992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56.40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911,131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91.11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347,139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34.71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442,450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44.24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644,948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64.49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07 / 05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S&amp;T / TRD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2,059,950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206.00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858,312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85.83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995,022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99.50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136,710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13.67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1,064,928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106.49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875,942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87.59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08 / 06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MECHANICAL / Running Staff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3,352,566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335.26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1,396,902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139.69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1,978,638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197.86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581,736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58.17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142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1,373,928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137.39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1,564,866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156.49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09 / 07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OPERATING / Commercial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4,428,766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442.88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1,845,319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184.53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2,192,865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219.29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347,546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34.75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2,235,901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223.59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2,029,601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202.96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10 / 08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Operating Expenses - Fuel / Traction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11,607,206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1160.72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4,836,336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483.63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5,702,475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570.25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866,139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86.61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5,904,731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590.47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5,379,265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537.93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11 / 09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MEDICAL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1,392,832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139.28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580,347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58.03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916,954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91.70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336,607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33.66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158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475,878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47.59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836,072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83.61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12 / 10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SECURITY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994,638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99.46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414,432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41.44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441,761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44.18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27,328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2.73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552,877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55.29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411,167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41.12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13 / 11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Pension and Retirement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1,291,067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129.11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537,945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53.79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532,662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53.27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-5,283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-0.53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758,405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75.84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501,081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50.11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Total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/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32,595,873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3259.59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13,581,614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1358.16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16,528,995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1652.90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2,947,381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294.74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122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2323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16,066,878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1606.69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51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25A55B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15,141,032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1514.10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12N / 10N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Suspense Heads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-13,045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-1.30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-5,435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-0.54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1,578,052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157.81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1,583,487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158.35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-29033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-1,591,097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-159.11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-12097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1,655,141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165.51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PU Wise - Staff - AUG 2026 | uploaded 2026-09-29T13:48:08+05:30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15127"/>
                <a:gridCol w="1318992"/>
                <a:gridCol w="1318992"/>
                <a:gridCol w="1318992"/>
                <a:gridCol w="1441121"/>
                <a:gridCol w="879328"/>
                <a:gridCol w="1441121"/>
                <a:gridCol w="879328"/>
                <a:gridCol w="1318999"/>
              </a:tblGrid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PU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A\nOBA/RG\nRG if available, else BG_ISL 2026-27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BP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/ 12 * 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Actuals up to AUG 2026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- B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% BP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/ B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Budget Remaining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- C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% OBA Utilized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/ 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up to AUG 2025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- 01 - Sal/Wag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6,706,409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670.64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2,794,337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279.43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3,071,823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307.18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277,486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27.75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3,634,586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363.46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3,038,266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303.83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- 02 - DA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4,100,453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410.05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1,708,522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170.85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1,966,618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196.66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258,096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25.81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2,133,835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213.38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1,789,595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178.96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- 03 - PLB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285,089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28.51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118,787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11.88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-118,715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-11.87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285,017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28.50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226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0.02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- 04 - HRA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776,198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77.62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323,416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32.34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337,362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33.74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13,946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1.39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438,836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43.88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332,414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33.24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- 07 - TPA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496,609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49.66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206,920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20.69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216,397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21.64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9,477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0.95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280,212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28.02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209,713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20.97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- 10 - KMA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680,197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68.02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283,415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28.34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364,653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36.47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81,238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8.12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315,544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31.55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328,323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32.83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- 11 - OT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77,300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7.73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32,208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3.22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59,582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5.96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27,374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2.74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185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17,718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1.77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67,517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6.75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- 12 - NDA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209,913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20.99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87,464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8.75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122,492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12.25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35,028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3.50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140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87,421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8.74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117,681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11.77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- 13 - OA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527,832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52.78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219,930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21.99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278,899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27.89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58,969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5.90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248,933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24.89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282,709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28.27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- 15 - TA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16,048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1.60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6,687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0.67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11,132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1.11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4,445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0.44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4,916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0.49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12,161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1.22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- 16 - TE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308,081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30.81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128,367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12.84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217,100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21.71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88,733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8.87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90,981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9.10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209,161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20.92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- 25 - Children Edu. Allow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379,418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37.94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158,091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15.81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375,011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37.50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216,920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21.69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237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4,407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0.44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363,237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36.32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Total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14,563,547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1456.35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6,068,145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606.81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7,021,141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702.11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952,996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95.30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FFFFFF"/>
                          </a:solidFill>
                          <a:latin typeface="Times New Roman"/>
                        </a:rPr>
                        <a:t>116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2323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7,542,406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754.24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FFFFFF"/>
                          </a:solidFill>
                          <a:latin typeface="Times New Roman"/>
                        </a:rPr>
                        <a:t>48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25A55B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6,751,003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675.10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PU Wise - Non-Staff Part 1 - AUG 2026 | uploaded 2026-09-29T13:48:08+05:30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15127"/>
                <a:gridCol w="1318992"/>
                <a:gridCol w="1318992"/>
                <a:gridCol w="1318992"/>
                <a:gridCol w="1441121"/>
                <a:gridCol w="879328"/>
                <a:gridCol w="1441121"/>
                <a:gridCol w="879328"/>
                <a:gridCol w="1318999"/>
              </a:tblGrid>
              <a:tr h="865428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PU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A\nOBA/RG\nRG if available, else BG_ISL 2026-27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BP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/ 12 * 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Actuals up to AUG 2026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- B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% BP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/ B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Budget Remaining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- C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% OBA Utilized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/ 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up to AUG 2025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</a:tr>
              <a:tr h="865428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- 27 - Materials from stock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1,068,752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106.88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445,313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44.53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860,139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86.01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414,826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41.48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193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208,613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20.86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80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516,298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51.63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65428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- 28 - Materials-Dir. purchase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149,947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14.99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62,478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6.25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70,608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7.06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8,130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0.81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79,339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7.93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105,637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10.56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865428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- 30 - Cost Of Elec. Energy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3,878,724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387.87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1,616,135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161.61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1,916,509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191.65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300,374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30.04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1,962,215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196.22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1,673,871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167.39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65428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- 32 - CP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3,254,310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325.43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1,355,962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135.60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1,824,117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182.41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468,154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46.82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135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1,430,193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143.02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1,712,812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171.28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865428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- 60 - Fuel from Stock-Home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4,703,356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470.34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1,959,732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195.97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2,715,415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271.54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755,683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75.57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139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1,987,941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198.79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2,223,473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222.35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65428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Total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13,055,089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1305.51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5,439,620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543.96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7,386,788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738.68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1,947,168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194.72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FFFFFF"/>
                          </a:solidFill>
                          <a:latin typeface="Times New Roman"/>
                        </a:rPr>
                        <a:t>136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2323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5,668,301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566.83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FFFFFF"/>
                          </a:solidFill>
                          <a:latin typeface="Times New Roman"/>
                        </a:rPr>
                        <a:t>57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25A55B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6,232,091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623.21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Open Line FR Report - As On 25.09.2026 (Rows 1-13)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227126"/>
                <a:gridCol w="2767036"/>
                <a:gridCol w="1457755"/>
                <a:gridCol w="1457755"/>
                <a:gridCol w="1592733"/>
                <a:gridCol w="971837"/>
                <a:gridCol w="1457758"/>
              </a:tblGrid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Plan Head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Plan Head Name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SBA 2026-27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Variation (AE - SBA)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% SBA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Actual Final Expense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FY 2025-26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Traffic facility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160,903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16.09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81,555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8.16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-79,348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-7.93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50.69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4.27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1700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Computerization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32,227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3.22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12,767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1.28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-19,460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-1.95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39.62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3.08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2900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Level crossing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120,318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12.03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64,676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6.47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-55,642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-5.56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53.75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13.77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3000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Road over/under Bridge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507,420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50.74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379,202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37.92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-128,218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-12.82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74.73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38.44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3100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Track renewal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2,962,795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296.28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3,805,865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380.59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843,070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84.31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128.46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613.14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3200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Bridge work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132,267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13.23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183,938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18.39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51,671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5.17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139.07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13.45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3300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S&amp;T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522,843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52.28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140,407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14.04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-382,436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-38.24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26.85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28.50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3600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Other electric works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307,843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30.78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105,095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10.51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-202,748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-20.27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34.14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12.47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3700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Traction Dist. works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4100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Machine and plants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40,372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4.04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25,991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2.60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-14,381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-1.44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64.38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2.37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4200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Workshop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53,702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5.37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5,681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0.57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-48,021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-4.80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10.58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2.74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5100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Staff Welfare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97,500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9.75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71,111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7.11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-26,389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-2.64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72.93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6.85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5300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Customer(Passenger) amenities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310,912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31.09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147,126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14.71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-163,786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-16.38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47.32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18.48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Open Line FR Report - As On 25.09.2026 (Rows 14-18)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227126"/>
                <a:gridCol w="2767036"/>
                <a:gridCol w="1457755"/>
                <a:gridCol w="1457755"/>
                <a:gridCol w="1592733"/>
                <a:gridCol w="971837"/>
                <a:gridCol w="1457758"/>
              </a:tblGrid>
              <a:tr h="1009666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Plan Head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Plan Head Name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SBA 2026-27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Variation (AE - SBA)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% SBA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Actual Final Expense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FY 2025-26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</a:tr>
              <a:tr h="1009666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6200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Inv. In Govt. comm Public Un.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009666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6400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Other specified works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315,733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31.57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112,585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11.26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-203,148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-20.31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35.66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14.30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1009666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/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OSW (CAPIN)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64,034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6.40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-64,034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-6.40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009666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6500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Training/HRD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6,010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0.60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-6,010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-0.60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0.11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1009666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Total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/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5,634,879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563.49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5,135,999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513.60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-498,880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-49.89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91.15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2C230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771.97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Open Line FR Fund Wise - As On 25.09.2026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667723"/>
                <a:gridCol w="1746146"/>
                <a:gridCol w="1746146"/>
                <a:gridCol w="1697642"/>
                <a:gridCol w="1164097"/>
                <a:gridCol w="1164097"/>
                <a:gridCol w="1746149"/>
              </a:tblGrid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Fund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SBA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Available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Expensed %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Remaining %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Actual Final Expense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FY 2025-26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CAP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1,045,531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104.55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457,028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45.70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588,503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58.85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43.71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56.29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46.39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DRF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40,232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4.02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21,238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2.12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18,994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1.90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52.79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47.21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5.12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DF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130,592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13.06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18,459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1.85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112,133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11.21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14.13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85.87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4.52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CAPITAL FUND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S FUND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3,117,515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311.75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3,844,908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384.49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-727,393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-72.74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123.33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-23.33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617.23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EBR-(S)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RRSK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1,301,009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130.10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794,366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79.44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506,643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50.66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61.06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38.94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98.70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Facet">
  <a:themeElements>
    <a:clrScheme name="Blue II">
      <a:dk1>
        <a:sysClr val="windowText" lastClr="000000"/>
      </a:dk1>
      <a:lt1>
        <a:sysClr val="window" lastClr="FFFFFF"/>
      </a:lt1>
      <a:dk2>
        <a:srgbClr val="335B74"/>
      </a:dk2>
      <a:lt2>
        <a:srgbClr val="DFE3E5"/>
      </a:lt2>
      <a:accent1>
        <a:srgbClr val="1CADE4"/>
      </a:accent1>
      <a:accent2>
        <a:srgbClr val="2683C6"/>
      </a:accent2>
      <a:accent3>
        <a:srgbClr val="27CED7"/>
      </a:accent3>
      <a:accent4>
        <a:srgbClr val="42BA97"/>
      </a:accent4>
      <a:accent5>
        <a:srgbClr val="3E8853"/>
      </a:accent5>
      <a:accent6>
        <a:srgbClr val="62A39F"/>
      </a:accent6>
      <a:hlink>
        <a:srgbClr val="6EAC1C"/>
      </a:hlink>
      <a:folHlink>
        <a:srgbClr val="B26B02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208</TotalTime>
  <Words>1901</Words>
  <Application>Microsoft Office PowerPoint</Application>
  <PresentationFormat>Widescreen</PresentationFormat>
  <Paragraphs>476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2" baseType="lpstr">
      <vt:lpstr>Arial</vt:lpstr>
      <vt:lpstr>Times New Roman</vt:lpstr>
      <vt:lpstr>Trebuchet MS</vt:lpstr>
      <vt:lpstr>Wingdings 3</vt:lpstr>
      <vt:lpstr>Facet</vt:lpstr>
      <vt:lpstr>Moradabad Division Accounts Dept FY – 2026-2027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Moradabad Division FY – 2026-2027</dc:title>
  <dc:creator>girish</dc:creator>
  <cp:lastModifiedBy>it centre mb</cp:lastModifiedBy>
  <cp:revision>29</cp:revision>
  <dcterms:created xsi:type="dcterms:W3CDTF">2026-07-10T14:38:31Z</dcterms:created>
  <dcterms:modified xsi:type="dcterms:W3CDTF">2026-08-10T08:17:23Z</dcterms:modified>
</cp:coreProperties>
</file>