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43" r:id="rId1"/>
  </p:sldMasterIdLst>
  <p:sldIdLst>
    <p:sldId id="256" r:id="rIdSlide1"/>
    <p:sldId id="257" r:id="rIdSlide2"/>
    <p:sldId id="258" r:id="rIdSlide3"/>
    <p:sldId id="259" r:id="rIdSlide4"/>
    <p:sldId id="260" r:id="rIdSlide5"/>
    <p:sldId id="261" r:id="rIdSlide6"/>
    <p:sldId id="262" r:id="rIdSlide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84" autoAdjust="0"/>
    <p:restoredTop sz="94947" autoAdjust="0"/>
  </p:normalViewPr>
  <p:slideViewPr>
    <p:cSldViewPr snapToGrid="0">
      <p:cViewPr varScale="1">
        <p:scale>
          <a:sx n="108" d="100"/>
          <a:sy n="108" d="100"/>
        </p:scale>
        <p:origin x="714" y="9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2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11" Type="http://schemas.openxmlformats.org/officeDocument/2006/relationships/theme" Target="theme/theme1.xml"/><Relationship Id="rId10" Type="http://schemas.openxmlformats.org/officeDocument/2006/relationships/viewProps" Target="viewProps.xml"/><Relationship Id="rId9" Type="http://schemas.openxmlformats.org/officeDocument/2006/relationships/presProps" Target="presProps.xml"/><Relationship Id="rIdSlide1" Type="http://schemas.openxmlformats.org/officeDocument/2006/relationships/slide" Target="slides/slide1.xml"/><Relationship Id="rIdSlide2" Type="http://schemas.openxmlformats.org/officeDocument/2006/relationships/slide" Target="slides/slide2.xml"/><Relationship Id="rIdSlide3" Type="http://schemas.openxmlformats.org/officeDocument/2006/relationships/slide" Target="slides/slide3.xml"/><Relationship Id="rIdSlide4" Type="http://schemas.openxmlformats.org/officeDocument/2006/relationships/slide" Target="slides/slide4.xml"/><Relationship Id="rIdSlide5" Type="http://schemas.openxmlformats.org/officeDocument/2006/relationships/slide" Target="slides/slide5.xml"/><Relationship Id="rIdSlide6" Type="http://schemas.openxmlformats.org/officeDocument/2006/relationships/slide" Target="slides/slide6.xml"/><Relationship Id="rIdSlide7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214152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202010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481203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032410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321318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41223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923577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442385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127173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548803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73412489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9484645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0080266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3815263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1666916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76810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680076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4" r:id="rId1"/>
    <p:sldLayoutId id="2147483745" r:id="rId2"/>
    <p:sldLayoutId id="2147483746" r:id="rId3"/>
    <p:sldLayoutId id="2147483747" r:id="rId4"/>
    <p:sldLayoutId id="2147483748" r:id="rId5"/>
    <p:sldLayoutId id="2147483749" r:id="rId6"/>
    <p:sldLayoutId id="2147483750" r:id="rId7"/>
    <p:sldLayoutId id="2147483751" r:id="rId8"/>
    <p:sldLayoutId id="2147483752" r:id="rId9"/>
    <p:sldLayoutId id="2147483753" r:id="rId10"/>
    <p:sldLayoutId id="2147483754" r:id="rId11"/>
    <p:sldLayoutId id="2147483755" r:id="rId12"/>
    <p:sldLayoutId id="2147483756" r:id="rId13"/>
    <p:sldLayoutId id="2147483757" r:id="rId14"/>
    <p:sldLayoutId id="2147483758" r:id="rId15"/>
    <p:sldLayoutId id="2147483759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0" y="0"/>
            <a:ext cx="12192000" cy="540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350" b="1">
                <a:solidFill>
                  <a:srgbClr val="FFFFFF"/>
                </a:solidFill>
                <a:latin typeface="Times New Roman"/>
              </a:rPr>
              <a:t>NORTHERN RAILWAY - MORADABAD DIVISION</a:t>
            </a:r>
          </a:p>
        </p:txBody>
      </p:sp>
      <p:sp>
        <p:nvSpPr>
          <p:cNvPr id="3" name="Text 3"/>
          <p:cNvSpPr/>
          <p:nvPr/>
        </p:nvSpPr>
        <p:spPr>
          <a:xfrm>
            <a:off x="420000" y="1180000"/>
            <a:ext cx="11352000" cy="76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2400" b="1">
                <a:solidFill>
                  <a:srgbClr val="22A7D8"/>
                </a:solidFill>
                <a:latin typeface="Times New Roman"/>
              </a:rPr>
              <a:t>Moradabad Division Budget &amp; FR Analysis</a:t>
            </a:r>
          </a:p>
        </p:txBody>
      </p:sp>
      <p:sp>
        <p:nvSpPr>
          <p:cNvPr id="4" name="Text 4"/>
          <p:cNvSpPr/>
          <p:nvPr/>
        </p:nvSpPr>
        <p:spPr>
          <a:xfrm>
            <a:off x="860000" y="2040000"/>
            <a:ext cx="10472000" cy="430000"/>
          </a:xfrm>
          <a:prstGeom prst="rect">
            <a:avLst/>
          </a:prstGeom>
          <a:solidFill>
            <a:srgbClr val="E8F2F8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80">
                <a:solidFill>
                  <a:srgbClr val="000000"/>
                </a:solidFill>
                <a:latin typeface="Times New Roman"/>
              </a:rPr>
              <a:t>Accounts Dept | FY 2026-2027 | DRM Budget &amp; FR Analysis | Completed AUG 2026 | H column: actual final expenditure FY 2025-26</a:t>
            </a:r>
          </a:p>
        </p:txBody>
      </p:sp>
      <p:sp>
        <p:nvSpPr>
          <p:cNvPr id="5" name="Text 5"/>
          <p:cNvSpPr/>
          <p:nvPr/>
        </p:nvSpPr>
        <p:spPr>
          <a:xfrm>
            <a:off x="1350000" y="3120000"/>
            <a:ext cx="2400000" cy="720000"/>
          </a:xfrm>
          <a:prstGeom prst="rect">
            <a:avLst/>
          </a:prstGeom>
          <a:solidFill>
            <a:srgbClr val="DFF3E7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Green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Within control</a:t>
            </a:r>
          </a:p>
        </p:txBody>
      </p:sp>
      <p:sp>
        <p:nvSpPr>
          <p:cNvPr id="6" name="Text 6"/>
          <p:cNvSpPr/>
          <p:nvPr/>
        </p:nvSpPr>
        <p:spPr>
          <a:xfrm>
            <a:off x="4860000" y="3120000"/>
            <a:ext cx="2400000" cy="7200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Amber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Watch range</a:t>
            </a:r>
          </a:p>
        </p:txBody>
      </p:sp>
      <p:sp>
        <p:nvSpPr>
          <p:cNvPr id="7" name="Text 7"/>
          <p:cNvSpPr/>
          <p:nvPr/>
        </p:nvSpPr>
        <p:spPr>
          <a:xfrm>
            <a:off x="8370000" y="3120000"/>
            <a:ext cx="2400000" cy="720000"/>
          </a:xfrm>
          <a:prstGeom prst="rect">
            <a:avLst/>
          </a:prstGeom>
          <a:solidFill>
            <a:srgbClr val="FCE4E4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Red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Immediate review</a:t>
            </a:r>
          </a:p>
        </p:txBody>
      </p:sp>
      <p:sp>
        <p:nvSpPr>
          <p:cNvPr id="8" name="Text 8"/>
          <p:cNvSpPr/>
          <p:nvPr/>
        </p:nvSpPr>
        <p:spPr>
          <a:xfrm>
            <a:off x="0" y="6438000"/>
            <a:ext cx="12192000" cy="420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00">
                <a:solidFill>
                  <a:srgbClr val="FFFFFF"/>
                </a:solidFill>
                <a:latin typeface="Times New Roman"/>
              </a:rPr>
              <a:t>Figures in thousands with Crore equivalent shown inside table cells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Demand SMH Wise - AUG 2026 | uploaded 2026-09-22T17:27:48+05:30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98281"/>
                <a:gridCol w="2123315"/>
                <a:gridCol w="1118625"/>
                <a:gridCol w="1118625"/>
                <a:gridCol w="1118625"/>
                <a:gridCol w="1222201"/>
                <a:gridCol w="745749"/>
                <a:gridCol w="1222201"/>
                <a:gridCol w="745749"/>
                <a:gridCol w="1118629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Demand No. / SMH-Grant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Department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A\nOBA/RG\nRG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AUG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03 / 01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PERSONNEL / STORE And Office Staff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641,522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64.15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267,301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26.73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294,135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29.41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26,834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2.68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347,387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34.74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693,876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69.39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04 / 02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ENGINEERING / PWAY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3,608,902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360.89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1,503,709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150.37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1,781,320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178.13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277,611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27.76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1,827,582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182.76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3,996,057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399.61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05 / 03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Mechanical LOCO Shed Roza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1,864,843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186.48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777,018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77.70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782,032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78.20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5,014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1,082,811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108.28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2,000,064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200.01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06 / 04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Electrical General / Mech C&amp;W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1,353,581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135.36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563,992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56.40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911,131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91.11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347,139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34.71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442,450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44.24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1,511,638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151.16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07 / 05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S&amp;T / TRD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2,059,950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206.00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858,312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85.83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995,022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99.50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136,710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13.67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1,064,928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106.49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2,171,600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217.16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08 / 06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MECHANICAL / Running Staff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3,352,566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335.26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1,396,902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139.69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1,978,638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197.86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581,736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58.17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1,373,928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137.39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3,801,767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380.18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09 / 07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OPERATING / Commercial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4,428,766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442.88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1,845,319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184.53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2,192,865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219.29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347,546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34.75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2,235,901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223.59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4,947,572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494.76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10 / 08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Operating Expenses - Fuel / Traction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11,607,206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1160.72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4,836,336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483.63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5,702,475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570.25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866,139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86.61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5,904,731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590.47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12,690,658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1269.07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11 / 09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MEDICAL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1,392,832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139.28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580,347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58.03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916,954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91.70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336,607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33.66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475,878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47.59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1,451,556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145.16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 / 10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SECURITY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994,638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99.46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414,432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41.44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441,761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44.18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27,328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2.73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552,877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55.29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1,025,571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102.56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13 / 11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Pension and Retirement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1,291,067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129.11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537,945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53.79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532,662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53.27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-5,283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-0.53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758,405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75.84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1,226,809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122.68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32,595,873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3259.59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13,581,614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1358.16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16,528,995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1652.90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2,947,381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294.74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122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2323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16,066,878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1606.69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51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25A55B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35,517,168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3551.72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12N / 10N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Suspense Heads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-13,045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-1.30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-5,435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-0.54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1,578,052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157.81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1,583,487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158.35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-29033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-1,591,097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-159.11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-12097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-2,031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-0.20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Wise - Staff - AUG 2026 | uploaded 2026-09-22T17:27:48+05:30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15127"/>
                <a:gridCol w="1318992"/>
                <a:gridCol w="1318992"/>
                <a:gridCol w="1318992"/>
                <a:gridCol w="1441121"/>
                <a:gridCol w="879328"/>
                <a:gridCol w="1441121"/>
                <a:gridCol w="879328"/>
                <a:gridCol w="1318999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A\nOBA/RG\nRG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AUG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- 01 - Sal/Wag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671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3,071,823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307.18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3,071,543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307.15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1098715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-3,071,152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-307.12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457798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7,351,228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735.12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- 02 - DA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171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1,966,618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196.66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1,966,447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196.64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1151191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-1,966,208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-196.62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479663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4,447,868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444.79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- 03 - PLB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596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248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302,570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30.26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- 04 - HRA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337,362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33.74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337,330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33.73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1038037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-337,284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-33.73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432515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802,369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80.24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- 07 - TPA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216,397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21.64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216,376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21.64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1038706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-216,347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-21.63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432794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509,846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50.98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- 10 - KMA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364,653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36.47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364,625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36.46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1287011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-364,585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-36.46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536254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764,171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76.42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- 11 - OT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59,582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5.96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59,579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5.96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1787460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-59,574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-5.96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744775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106,223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10.62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- 12 - NDA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122,492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12.25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122,483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12.25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1399909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-122,471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-12.25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583295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294,342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29.43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- 13 - OA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278,899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27.89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278,877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27.89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1262939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-278,846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-27.88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526225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519,754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51.98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- 15 - TA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11,132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11,131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1335840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-11,130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556600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20,171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2.02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- 16 - TE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217,100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21.71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217,087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21.71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1680774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-217,069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-21.71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700323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523,752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52.38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- 25 - Children Edu. Allow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375,011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37.50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374,995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37.50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2368491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-374,973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-37.50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986871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374,596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37.46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1,459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0.15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608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0.06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7,021,141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702.11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7,020,533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702.05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1154951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2323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-7,019,682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-701.97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481230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2323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16,016,890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1601.69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Wise - Non-Staff Part 1 - AUG 2026 | uploaded 2026-09-22T17:27:48+05:30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15127"/>
                <a:gridCol w="1318992"/>
                <a:gridCol w="1318992"/>
                <a:gridCol w="1318992"/>
                <a:gridCol w="1441121"/>
                <a:gridCol w="879328"/>
                <a:gridCol w="1441121"/>
                <a:gridCol w="879328"/>
                <a:gridCol w="1318999"/>
              </a:tblGrid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A\nOBA/RG\nRG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AUG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- 27 - Materials from stock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860,139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86.01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860,094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86.01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1929284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-860,032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-86.00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803868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1,291,487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129.15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- 28 - Materials-Dir. purchase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70,608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7.06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70,602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7.06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1129728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-70,593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-7.06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470720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164,506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16.45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- 30 - Cost Of Elec. Energy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1,916,509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191.65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1,916,347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191.63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1185469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-1,916,121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-191.61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493946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4,115,874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411.59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- 32 - CP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1,824,117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182.41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1,823,982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182.40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1347040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-1,823,792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-182.38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561267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3,623,756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362.38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- 60 - Fuel from Stock-Home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470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196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2,715,415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271.54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2,715,219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271.52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1386595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-2,714,945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-271.49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577748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5,106,358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510.64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1,305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0.13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544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0.05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7,386,788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738.68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7,386,244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738.62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1358490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2323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-7,385,483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-738.55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566037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2323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14,301,981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1430.20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Open Line FR Report - As On 05.09.2026 (Rows 1-13)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27126"/>
                <a:gridCol w="2767036"/>
                <a:gridCol w="1457755"/>
                <a:gridCol w="1457755"/>
                <a:gridCol w="1592733"/>
                <a:gridCol w="971837"/>
                <a:gridCol w="1457758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 Name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SBA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 (AE - SBA)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SBA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Expense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Traffic facility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160,903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16.09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77,992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7.80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-82,911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-8.29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48.47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4.27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1700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Computerization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32,227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3.22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11,801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1.18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-20,426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-2.04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36.62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3.08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2900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Level crossing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120,318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12.03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57,289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5.73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-63,029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-6.30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47.61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13.77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3000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Road over/under Bridge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507,420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50.74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363,937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36.39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-143,483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-14.35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71.72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38.44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3100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Track renewal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2,962,795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296.28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3,692,699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369.27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729,904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72.99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124.64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613.14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Bridge work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132,267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13.23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151,197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15.12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18,930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1.89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114.31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13.45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3300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S&amp;T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522,843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52.28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123,038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12.30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-399,805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-39.98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23.53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28.50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3600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Other electric works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307,843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30.78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94,924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9.49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-212,919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-21.29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30.84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12.47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3700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Traction Dist. works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4100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Machine and plants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13,194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1.32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24,273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2.43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11,079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183.97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2.37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4200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Workshop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53,702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5.37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5,129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0.51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-48,573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-4.86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9.55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2.74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5100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Staff Welfare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97,500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9.75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59,852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5.99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-37,648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-3.76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61.39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6.85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5300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Customer(Passenger) amenities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310,912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31.09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131,048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13.10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-179,864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-17.99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42.15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18.48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Open Line FR Report - As On 05.09.2026 (Rows 14-18)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27126"/>
                <a:gridCol w="2767036"/>
                <a:gridCol w="1457755"/>
                <a:gridCol w="1457755"/>
                <a:gridCol w="1592733"/>
                <a:gridCol w="971837"/>
                <a:gridCol w="1457758"/>
              </a:tblGrid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 Name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SBA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 (AE - SBA)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SBA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Expense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6200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Inv. In Govt. comm Public Un.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6400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Other specified works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315,733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31.57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103,375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10.34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-212,358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-21.24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32.74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14.30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OSW (CAPIN)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64,034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6.40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-64,034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-6.40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6500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Training/HRD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6,010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0.60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-6,010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-0.60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5,607,701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560.77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4,896,554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489.66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-711,147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-71.11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87.32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2C230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771.97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Open Line FR Fund Wise - As On 05.09.2026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667723"/>
                <a:gridCol w="1746146"/>
                <a:gridCol w="1746146"/>
                <a:gridCol w="1697642"/>
                <a:gridCol w="1164097"/>
                <a:gridCol w="1164097"/>
                <a:gridCol w="1746149"/>
              </a:tblGrid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Fund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SBA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Available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Expensed %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Remaining %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Expense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CAP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1,018,353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101.84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408,842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40.88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609,511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60.95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40.15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59.85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46.39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DRF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40,232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15,491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1.55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24,741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2.47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38.50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61.50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5.12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DF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130,592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13.06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18,459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1.85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112,133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11.21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14.13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85.87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4.52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CAPITAL FUND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S FUND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3,117,515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311.75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3,746,106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374.61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-628,591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-62.86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120.16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-20.16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617.23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EBR-(S)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RRSK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1,301,009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130.10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707,656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70.77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593,353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59.34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54.39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45.61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98.70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Blue II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208</TotalTime>
  <Words>1901</Words>
  <Application>Microsoft Office PowerPoint</Application>
  <PresentationFormat>Widescreen</PresentationFormat>
  <Paragraphs>476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Times New Roman</vt:lpstr>
      <vt:lpstr>Trebuchet MS</vt:lpstr>
      <vt:lpstr>Wingdings 3</vt:lpstr>
      <vt:lpstr>Facet</vt:lpstr>
      <vt:lpstr>Moradabad Division Accounts Dept FY – 2026-2027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Moradabad Division FY – 2026-2027</dc:title>
  <dc:creator>girish</dc:creator>
  <cp:lastModifiedBy>it centre mb</cp:lastModifiedBy>
  <cp:revision>29</cp:revision>
  <dcterms:created xsi:type="dcterms:W3CDTF">2026-07-10T14:38:31Z</dcterms:created>
  <dcterms:modified xsi:type="dcterms:W3CDTF">2026-08-10T08:17:23Z</dcterms:modified>
</cp:coreProperties>
</file>