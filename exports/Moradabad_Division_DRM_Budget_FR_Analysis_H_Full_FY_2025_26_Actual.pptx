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AUG 2026 | H column: actual final expenditure FY 2025-26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50"/>
                <a:gridCol w="1222201"/>
                <a:gridCol w="745750"/>
                <a:gridCol w="1118627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64.15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267,301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26.73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294,135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26,834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347,387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693,876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69.39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360.89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1,503,709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150.37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1,781,320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178.13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277,611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1,827,582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3,996,057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399.61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186.48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777,018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78.20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5,014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108.28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2,000,064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200.01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135.36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563,992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911,131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442,450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1,511,638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151.16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206.00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858,312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85.83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995,022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136,710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1,064,928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2,171,600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217.16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335.26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1,396,902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1,978,638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197.86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581,736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1,373,928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137.39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3,801,767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380.18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442.88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1,845,319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2,192,865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219.29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347,546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34.75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2,235,901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223.59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4,947,572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494.76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1160.72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4,836,336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483.63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5,702,475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570.25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866,139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5,904,731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590.47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12,690,658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1269.07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139.28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580,347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916,954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91.70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336,607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475,878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1,451,556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145.16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99.46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414,432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441,761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552,877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55.29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1,025,571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102.56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537,945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532,662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53.27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-5,283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758,405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1,226,809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122.68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3259.59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13,581,614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1358.16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16,528,995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1652.90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2,947,381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294.74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16,066,878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1606.69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51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35,517,168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3551.72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-5,435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1,578,052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157.81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1,583,487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158.35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-29033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-1,591,097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-159.11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-12097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-2,031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-0.20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670.64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2,794,337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3,071,823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307.18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277,486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3,634,586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363.46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7,351,228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735.12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410.05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1,708,522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170.85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1,966,618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258,096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2,133,835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213.38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4,447,868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444.79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118,787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-118,715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-11.87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302,570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30.26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77.62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323,416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337,362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33.74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13,946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438,836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43.88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802,369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80.24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49.66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216,397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9,477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280,212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509,846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50.98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68.02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283,415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28.34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364,653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315,544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764,171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76.42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7.73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59,582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17,718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106,223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10.62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87,464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122,492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87,421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294,342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29.43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219,930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278,899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58,969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248,933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24.89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519,754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51.98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6,687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11,132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4,445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4,916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20,171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2.02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128,367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12.84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217,100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88,733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90,981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523,752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158,091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15.81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375,011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216,920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374,596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37.46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1456.35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6,068,145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606.81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7,021,141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702.11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952,996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95.30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7,542,406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754.24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16,016,890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1601.69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AUG 2026 | uploaded 2026-09-25T10:56:20+05:30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A\nOBA/RG\nRG if available, else BG_ISL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/ 12 * 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 to AUG 2026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106.88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445,313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44.53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860,139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86.01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414,826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41.48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208,613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20.86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1,291,487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129.15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14.99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62,478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6.25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70,608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8,130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0.81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79,339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164,506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16.45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387.87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1,616,135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161.61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1,916,509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191.65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300,374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1,962,215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196.22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4,115,874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411.59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325.43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1,355,962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135.60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1,824,117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182.41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468,154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46.82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1,430,193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143.02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3,623,756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362.38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470.34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1,959,732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195.97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2,715,415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271.54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755,683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75.57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1,987,941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198.79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5,106,358</a:t>
                      </a:r>
                      <a:br/>
                      <a:r>
                        <a:rPr lang="en-US" sz="820" b="1">
                          <a:solidFill>
                            <a:srgbClr val="006F78"/>
                          </a:solidFill>
                          <a:latin typeface="Times New Roman"/>
                        </a:rPr>
                        <a:t>510.64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1305.51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5,439,620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543.96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7,386,788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738.68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1,947,168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194.72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2323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5,668,301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566.83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25A55B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14,301,981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1430.20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16.09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81,555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8.16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-79,348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-7.93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50.69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3.22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12,767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-19,460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-1.95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39.62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12.03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64,676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-55,642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-5.56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53.75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379,202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37.92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-128,218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-12.82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74.73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296.28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3,805,865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380.59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843,070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84.31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128.46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183,938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18.39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51,671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5.17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139.07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52.28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140,407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-382,436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-38.24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26.85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30.78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105,095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10.51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-202,748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-20.27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34.14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40,372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25,991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-14,381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64.38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5.37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5,681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-48,021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-4.80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10.58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9.75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71,111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-26,389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-2.64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72.93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31.09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147,126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14.71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-163,786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-16.38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47.32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25.09.2026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31.57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112,585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-203,148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-20.31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35.66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-6.40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-0.60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5,634,879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563.49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5,135,999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513.60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-498,880</a:t>
                      </a:r>
                      <a:br/>
                      <a:r>
                        <a:rPr lang="en-US" sz="950" b="1">
                          <a:solidFill>
                            <a:srgbClr val="006F78"/>
                          </a:solidFill>
                          <a:latin typeface="Times New Roman"/>
                        </a:rPr>
                        <a:t>-49.89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91.15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2C230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8D6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25.09.2026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F4E79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1,045,531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104.55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457,028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45.70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588,503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58.85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43.71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56.29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4.02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21,238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2.12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18,994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1.90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52.79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47.21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13.06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18,459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1.85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112,133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11.21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14.13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85.87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311.75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3,844,908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384.49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-727,393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-72.74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-23.33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CE4E4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9EAF7"/>
                    </a:solidFill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130.10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794,366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79.44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506,643</a:t>
                      </a:r>
                      <a:br/>
                      <a:r>
                        <a:rPr lang="en-US" sz="820">
                          <a:solidFill>
                            <a:srgbClr val="006F78"/>
                          </a:solidFill>
                          <a:latin typeface="Times New Roman"/>
                        </a:rPr>
                        <a:t>50.66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61.06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38.94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DFF3E7"/>
                    </a:solidFill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