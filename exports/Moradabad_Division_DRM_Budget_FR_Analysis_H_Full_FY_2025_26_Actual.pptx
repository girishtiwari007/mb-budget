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947" autoAdjust="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41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0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2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24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3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35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3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1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8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124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46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026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52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69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0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5159-584C-4350-86DF-1495789B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3265" y="1163758"/>
            <a:ext cx="8574622" cy="2616199"/>
          </a:xfrm>
        </p:spPr>
        <p:txBody>
          <a:bodyPr>
            <a:normAutofit fontScale="90000"/>
          </a:bodyPr>
          <a:lstStyle/>
          <a:p>
            <a:pPr algn="ctr">
              <a:buNone/>
            </a:pPr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Moradabad Division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Accounts Dept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FY – 2026-2027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B258E-CB94-4952-9FB8-D735A3626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9970" y="3779957"/>
            <a:ext cx="6987645" cy="1388534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sz="2400" b="1" dirty="0">
                <a:solidFill>
                  <a:schemeClr val="accent2">
                    <a:lumMod val="50000"/>
                  </a:schemeClr>
                </a:solidFill>
              </a:rPr>
              <a:t>Budget &amp; FR Analysis (2026‑27)</a:t>
            </a:r>
            <a:r>
              <a:rPr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algn="ctr">
              <a:buNone/>
            </a:pPr>
            <a:r>
              <a:rPr sz="2400" i="1" dirty="0">
                <a:solidFill>
                  <a:schemeClr val="accent2">
                    <a:lumMod val="50000"/>
                  </a:schemeClr>
                </a:solidFill>
              </a:rPr>
              <a:t>Current Year &amp; Fund Review</a:t>
            </a:r>
          </a:p>
          <a:p>
            <a:pPr algn="ctr">
              <a:buNone/>
            </a:pPr>
            <a:r>
              <a:rPr sz="3200" b="1" dirty="0">
                <a:solidFill>
                  <a:schemeClr val="accent2">
                    <a:lumMod val="50000"/>
                  </a:schemeClr>
                </a:solidFill>
              </a:rPr>
              <a:t>As on 19.10.2026</a:t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endParaRPr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8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Times New Roman"/>
              </a:rPr>
              <a:t>NORTHERN RAILWAY - MORADABAD DIVISION</a:t>
            </a:r>
          </a:p>
        </p:txBody>
      </p:sp>
      <p:sp>
        <p:nvSpPr>
          <p:cNvPr id="3" name="Text 3"/>
          <p:cNvSpPr/>
          <p:nvPr/>
        </p:nvSpPr>
        <p:spPr>
          <a:xfrm>
            <a:off x="420000" y="1180000"/>
            <a:ext cx="11352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2400" b="1">
                <a:solidFill>
                  <a:srgbClr val="22A7D8"/>
                </a:solidFill>
                <a:latin typeface="Times New Roman"/>
              </a:rPr>
              <a:t>Moradabad Division Budget &amp; FR Analysis</a:t>
            </a:r>
          </a:p>
        </p:txBody>
      </p:sp>
      <p:sp>
        <p:nvSpPr>
          <p:cNvPr id="4" name="Text 4"/>
          <p:cNvSpPr/>
          <p:nvPr/>
        </p:nvSpPr>
        <p:spPr>
          <a:xfrm>
            <a:off x="860000" y="2040000"/>
            <a:ext cx="10472000" cy="43000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80">
                <a:solidFill>
                  <a:srgbClr val="000000"/>
                </a:solidFill>
                <a:latin typeface="Times New Roman"/>
              </a:rPr>
              <a:t>Accounts Dept | FY 2026-2027 | DRM Budget &amp; FR Analysis | Completed SEP 2026 | H column: actual final expenditure FY 2025-26</a:t>
            </a:r>
          </a:p>
        </p:txBody>
      </p:sp>
      <p:sp>
        <p:nvSpPr>
          <p:cNvPr id="5" name="Text 5"/>
          <p:cNvSpPr/>
          <p:nvPr/>
        </p:nvSpPr>
        <p:spPr>
          <a:xfrm>
            <a:off x="1350000" y="3120000"/>
            <a:ext cx="2400000" cy="720000"/>
          </a:xfrm>
          <a:prstGeom prst="rect">
            <a:avLst/>
          </a:prstGeom>
          <a:solidFill>
            <a:srgbClr val="DFF3E7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Green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Within control</a:t>
            </a:r>
          </a:p>
        </p:txBody>
      </p:sp>
      <p:sp>
        <p:nvSpPr>
          <p:cNvPr id="6" name="Text 6"/>
          <p:cNvSpPr/>
          <p:nvPr/>
        </p:nvSpPr>
        <p:spPr>
          <a:xfrm>
            <a:off x="4860000" y="3120000"/>
            <a:ext cx="2400000" cy="72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Amber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Watch range</a:t>
            </a:r>
          </a:p>
        </p:txBody>
      </p:sp>
      <p:sp>
        <p:nvSpPr>
          <p:cNvPr id="7" name="Text 7"/>
          <p:cNvSpPr/>
          <p:nvPr/>
        </p:nvSpPr>
        <p:spPr>
          <a:xfrm>
            <a:off x="8370000" y="3120000"/>
            <a:ext cx="2400000" cy="72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Red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Immediate review</a:t>
            </a:r>
          </a:p>
        </p:txBody>
      </p:sp>
      <p:sp>
        <p:nvSpPr>
          <p:cNvPr id="8" name="Text 8"/>
          <p:cNvSpPr/>
          <p:nvPr/>
        </p:nvSpPr>
        <p:spPr>
          <a:xfrm>
            <a:off x="0" y="6438000"/>
            <a:ext cx="12192000" cy="4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00">
                <a:solidFill>
                  <a:srgbClr val="FFFFFF"/>
                </a:solidFill>
                <a:latin typeface="Times New Roman"/>
              </a:rPr>
              <a:t>Figures in thousands with Crore equivalent shown inside table cells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Demand SMH Wise - SEP 2026 | uploaded 2026-10-19T14:05:55+05:30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8281"/>
                <a:gridCol w="2123315"/>
                <a:gridCol w="1118625"/>
                <a:gridCol w="1118625"/>
                <a:gridCol w="1118625"/>
                <a:gridCol w="1222201"/>
                <a:gridCol w="745749"/>
                <a:gridCol w="1222201"/>
                <a:gridCol w="745749"/>
                <a:gridCol w="1118629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Demand No. / SMH-Grant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03 / 01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PERSONNEL / STORE And Office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641,522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320,761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353,512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32,751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288,010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693,876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69.39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04 / 02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ENGINEERING / PWAY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3,608,902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360.89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1,804,451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180.45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2,126,374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212.64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321,923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32.19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1,482,528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148.25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3,996,057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399.61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05 / 03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LOCO Shed Roza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1,864,843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186.48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932,422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93.24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782,032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78.20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-150,390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-15.04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1,082,811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108.28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2,000,064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200.01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06 / 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Electrical General / Mech C&amp;W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1,353,581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135.36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676,790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67.68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1,050,104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105.01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373,314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303,477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1,511,638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151.16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07 / 05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 / TRD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2,059,950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206.00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1,029,975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103.00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1,192,410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119.24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162,435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867,540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86.75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2,171,600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217.16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08 / 06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/ Running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3,352,566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335.26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1,676,283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167.63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2,344,788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234.48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668,505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66.85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1,007,778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100.78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3,801,767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380.18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09 / 07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/ Commercial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4,428,766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442.88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2,214,383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221.44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2,602,601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260.26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388,218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38.82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1,826,165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182.62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4,947,572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494.76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10 / 08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Expenses - Fuel / Traction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11,607,206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1160.72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5,803,603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580.36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7,243,570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724.36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1,439,967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144.00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4,363,636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436.36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12,690,658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1269.07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11 / 09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MEDICAL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1,392,832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139.28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696,416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69.64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1,053,707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105.37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357,291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339,125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33.91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1,451,556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145.16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 / 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994,638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99.46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497,319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529,510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52.95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32,191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465,128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46.51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1,025,571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102.56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13 / 11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Pension and Retirement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1,291,067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129.11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645,534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639,713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63.97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-5,820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-0.58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651,354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65.14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1,226,809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122.68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32,595,873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3259.59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16,297,936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1629.79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19,918,321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1991.83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3,620,384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362.04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122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12,677,552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1267.76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61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35,517,168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3551.72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12N / 10N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Suspense Heads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-13,045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-6,522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-0.65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1,591,127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159.11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1,597,650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159.76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-24394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-1,604,172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-160.42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-12197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-2,031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-0.20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Wise - Staff - SEP 2026 | uploaded 2026-10-19T14:05:55+05:30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127"/>
                <a:gridCol w="1318992"/>
                <a:gridCol w="1318992"/>
                <a:gridCol w="1318992"/>
                <a:gridCol w="1441121"/>
                <a:gridCol w="879328"/>
                <a:gridCol w="1441121"/>
                <a:gridCol w="879328"/>
                <a:gridCol w="1318999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- 01 - Sal/Wag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6,706,409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670.64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3,353,204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335.32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3,689,125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368.91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335,920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3,017,284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301.73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7,351,228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735.12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- 02 - 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4,100,453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410.05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2,050,226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205.02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2,354,304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235.43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304,078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1,746,149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174.61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4,447,868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444.79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- 03 - PLB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285,089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142,544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-142,472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-14.25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285,017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302,570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30.26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- 04 - HRA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776,198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77.62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388,099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405,373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40.54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17,274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370,825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802,369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80.24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- 07 - TPA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496,609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49.66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248,304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259,437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11,132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237,172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509,846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50.98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- 10 - KMA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680,197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68.02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340,098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34.01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437,090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43.71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96,992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9.70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243,107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24.31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764,171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76.42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- 11 - OT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77,300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59,779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21,129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17,521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106,223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10.62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- 12 - NDA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209,913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104,956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147,751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42,794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62,162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294,342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29.43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- 13 - OA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527,832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263,916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318,453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54,537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209,379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519,754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51.98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- 15 - TA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16,048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8,024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13,236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5,212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2,812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20,171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- 16 - TE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308,081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154,040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265,224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111,184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42,857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523,752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52.38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- 25 - Children Edu. Allow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379,418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189,709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384,936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195,227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-5,518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374,596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37.46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14,563,547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1456.35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7,281,774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728.18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8,334,780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833.48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1,053,006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105.30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114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6,228,767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622.88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16,016,890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1601.69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Wise - Non-Staff Part 1 - SEP 2026 | uploaded 2026-10-19T14:05:55+05:30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127"/>
                <a:gridCol w="1318992"/>
                <a:gridCol w="1318992"/>
                <a:gridCol w="1318992"/>
                <a:gridCol w="1441121"/>
                <a:gridCol w="879328"/>
                <a:gridCol w="1441121"/>
                <a:gridCol w="879328"/>
                <a:gridCol w="1318999"/>
              </a:tblGrid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- 27 - Materials from stock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1,068,752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106.88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534,376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53.44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1,005,406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100.54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471,030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47.10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63,346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1,291,487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129.15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- 28 - Materials-Dir. purchase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149,947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74,974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84,936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9,962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65,011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164,506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16.45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- 30 - Cost Of Elec. Energy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3,878,724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387.87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1,939,362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193.94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2,320,788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232.08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381,426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1,557,936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155.79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4,115,874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411.59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- 32 - CP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3,254,310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325.43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1,627,155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162.72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2,025,688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202.57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398,533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39.85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1,228,622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122.86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3,623,756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362.38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- 60 - Fuel from Stock-Home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4,703,356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470.34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2,351,678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235.17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3,395,738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339.57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1,044,060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104.41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1,307,618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130.76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5,106,358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510.64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13,055,089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1305.51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6,527,544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652.75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8,832,556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883.26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2,305,012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230.50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135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4,222,533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422.25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68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14,301,981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1430.20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Report - As On 19.10.2026 (Rows 1-13)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7126"/>
                <a:gridCol w="2767036"/>
                <a:gridCol w="1457755"/>
                <a:gridCol w="1457755"/>
                <a:gridCol w="1592733"/>
                <a:gridCol w="971837"/>
                <a:gridCol w="1457758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 Name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 (AE - SBA)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SBA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Traffic facility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160,903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16.09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99,183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9.92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-61,720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-6.17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61.64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4.27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Computerization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32,227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13,774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-18,453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42.74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Level crossing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120,318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64,681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-55,637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-5.56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53.76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13.77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3000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Road over/under Bridge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507,420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50.74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398,602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39.86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-108,818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-10.88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78.55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3100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Track renewal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2,962,795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296.28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4,376,267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437.63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1,413,472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141.35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147.71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613.14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Bridge work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132,267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13.23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187,876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55,609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142.04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3300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522,843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307,683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30.77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-215,160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-21.52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58.85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Other electric works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307,843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107,120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10.71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-200,723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-20.07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34.80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Traction Dist. works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Machine and plants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40,372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29,430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-10,942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-1.09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72.90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Workshop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53,702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8,185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-45,517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-4.55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15.24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2.74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Staff Welfare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97,500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79,886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-17,614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81.93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Customer(Passenger) amenities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310,912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31.09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209,920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-100,992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-10.10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67.52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Report - As On 19.10.2026 (Rows 14-18)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7126"/>
                <a:gridCol w="2767036"/>
                <a:gridCol w="1457755"/>
                <a:gridCol w="1457755"/>
                <a:gridCol w="1592733"/>
                <a:gridCol w="971837"/>
                <a:gridCol w="1457758"/>
              </a:tblGrid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 Name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 (AE - SBA)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SBA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Inv. In Govt. comm Public Un.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6400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Other specified works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315,733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124,015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-191,718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-19.17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39.28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OSW (CAPIN)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64,034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-64,034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-6.40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6500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Training/HRD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6,010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-6,010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5,634,879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563.49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6,006,622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600.66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371,743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37.17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106.60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771.97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Fund Wise - As On 19.10.2026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723"/>
                <a:gridCol w="1746146"/>
                <a:gridCol w="1746146"/>
                <a:gridCol w="1697642"/>
                <a:gridCol w="1164097"/>
                <a:gridCol w="1164097"/>
                <a:gridCol w="1746149"/>
              </a:tblGrid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Fund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Available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Expensed %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Remaining %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1,045,531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104.55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621,086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62.11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424,445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42.44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59.40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40.60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DRF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40,232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25,605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14,627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63.64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36.36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130,592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13.06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18,607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1.86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111,985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14.25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85.75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CAPITAL FUND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S FUND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3,117,515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311.75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4,405,363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440.54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-1,287,848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-128.78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141.31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-41.31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617.23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EBR-(S)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RRSK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1,301,009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130.10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935,961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93.60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365,048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71.94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28.06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98.70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</TotalTime>
  <Words>1901</Words>
  <Application>Microsoft Office PowerPoint</Application>
  <PresentationFormat>Widescreen</PresentationFormat>
  <Paragraphs>476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Moradabad Division Accounts Dept FY – 2026-2027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Moradabad Division FY – 2026-2027</dc:title>
  <dc:creator>girish</dc:creator>
  <cp:lastModifiedBy>it centre mb</cp:lastModifiedBy>
  <cp:revision>29</cp:revision>
  <dcterms:created xsi:type="dcterms:W3CDTF">2026-07-10T14:38:31Z</dcterms:created>
  <dcterms:modified xsi:type="dcterms:W3CDTF">2026-08-10T08:17:23Z</dcterms:modified>
</cp:coreProperties>
</file>