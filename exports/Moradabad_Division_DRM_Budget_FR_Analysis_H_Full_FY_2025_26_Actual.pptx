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B5159-584C-4350-86DF-1495789BE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3265" y="1163758"/>
            <a:ext cx="8574622" cy="2616199"/>
          </a:xfrm>
        </p:spPr>
        <p:txBody>
          <a:bodyPr>
            <a:normAutofit fontScale="90000"/>
          </a:bodyPr>
          <a:lstStyle/>
          <a:p>
            <a:pPr algn="ctr">
              <a:buNone/>
            </a:pPr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Moradabad Division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Accounts Dept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FY – 2026-2027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7B258E-CB94-4952-9FB8-D735A3626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9970" y="3779957"/>
            <a:ext cx="6987645" cy="1388534"/>
          </a:xfrm>
        </p:spPr>
        <p:txBody>
          <a:bodyPr>
            <a:normAutofit fontScale="92500" lnSpcReduction="10000"/>
          </a:bodyPr>
          <a:lstStyle/>
          <a:p>
            <a:pPr algn="ctr">
              <a:buNone/>
            </a:pPr>
            <a:r>
              <a:rPr sz="2400" b="1" dirty="0">
                <a:solidFill>
                  <a:schemeClr val="accent2">
                    <a:lumMod val="50000"/>
                  </a:schemeClr>
                </a:solidFill>
              </a:rPr>
              <a:t>Budget &amp; FR Analysis (2026‑27)</a:t>
            </a:r>
            <a:r>
              <a:rPr sz="2400" dirty="0">
                <a:solidFill>
                  <a:schemeClr val="accent2">
                    <a:lumMod val="50000"/>
                  </a:schemeClr>
                </a:solidFill>
              </a:rPr>
              <a:t> </a:t>
            </a:r>
          </a:p>
          <a:p>
            <a:pPr algn="ctr">
              <a:buNone/>
            </a:pPr>
            <a:r>
              <a:rPr sz="2400" i="1" dirty="0">
                <a:solidFill>
                  <a:schemeClr val="accent2">
                    <a:lumMod val="50000"/>
                  </a:schemeClr>
                </a:solidFill>
              </a:rPr>
              <a:t>Current Year &amp; Fund Review</a:t>
            </a:r>
          </a:p>
          <a:p>
            <a:pPr algn="ctr">
              <a:buNone/>
            </a:pPr>
            <a:r>
              <a:rPr sz="3200" b="1" dirty="0">
                <a:solidFill>
                  <a:schemeClr val="accent2">
                    <a:lumMod val="50000"/>
                  </a:schemeClr>
                </a:solidFill>
              </a:rPr>
              <a:t>As on 19.10.2026</a:t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endParaRPr sz="32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389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SEP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SEP 2026 | uploaded 2026-10-27T11:36:19+05:30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643,222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69.39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3,809,302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1,904,651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221,723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1,682,928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168.29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399.61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2,111,950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211.19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1,055,975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919,540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217.16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1,007,778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380.18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4,504,666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2,252,333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225.23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350,268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1,902,065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494.76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4,363,636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436.36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1269.07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465,128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102.56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651,354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32,925,873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3292.59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16,462,936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1646.29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3,455,384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345.54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13,007,552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1300.76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3551.72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-1,604,172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-0.20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SEP 2026 | uploaded 2026-10-27T11:36:19+05:30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3,017,284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735.12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1,746,149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444.79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370,825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50.98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243,107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76.42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17,521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209,379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-5,518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37.46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1456.35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7,281,774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728.18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8,334,780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833.48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1,053,006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105.30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6,228,767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622.88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1601.69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SEP 2026 | uploaded 2026-10-27T11:36:19+05:30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63,346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192,347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96,174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107,411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1,557,936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155.79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411.59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3,541,910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1,770,955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254,733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1,516,222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151.62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1,307,618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13,385,089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1338.51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6,692,544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669.25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8,832,556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883.26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2,140,012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214.00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4,552,533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455.25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1430.20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19.10.2026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-61,720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-55,637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-108,818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-10.88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4,376,267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1,413,472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141.35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147.71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187,876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307,683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-215,160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107,120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-200,723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40,372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29,430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-10,942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-45,517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79,886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-17,614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81.93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-100,992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67.52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19.10.2026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124,015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-191,718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5,634,879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6,006,622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600.66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371,743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37.17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106.60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19.10.2026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1,045,531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621,086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424,445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42.44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25,605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14,627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63.64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111,985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4,405,363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-1,287,848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-128.78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-41.31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935,961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365,048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