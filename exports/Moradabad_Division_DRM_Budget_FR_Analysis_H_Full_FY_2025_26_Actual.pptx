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  <p:sldId id="263" r:id="rIdSlide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Relationship Id="rIdSlide8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B5159-584C-4350-86DF-1495789BEB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43265" y="1163758"/>
            <a:ext cx="8574622" cy="2616199"/>
          </a:xfrm>
        </p:spPr>
        <p:txBody>
          <a:bodyPr>
            <a:normAutofit fontScale="90000"/>
          </a:bodyPr>
          <a:lstStyle/>
          <a:p>
            <a:pPr algn="ctr">
              <a:buNone/>
            </a:pPr>
            <a:r>
              <a:rPr sz="8000" b="1">
                <a:solidFill>
                  <a:schemeClr val="accent2">
                    <a:lumMod val="50000"/>
                  </a:schemeClr>
                </a:solidFill>
              </a:rPr>
              <a:t>Moradabad Division</a:t>
            </a:r>
            <a:br/>
            <a:r>
              <a:rPr sz="8000" b="1">
                <a:solidFill>
                  <a:schemeClr val="accent2">
                    <a:lumMod val="50000"/>
                  </a:schemeClr>
                </a:solidFill>
              </a:rPr>
              <a:t>Accounts Dept</a:t>
            </a:r>
            <a:br/>
            <a:r>
              <a:rPr sz="8000" b="1">
                <a:solidFill>
                  <a:schemeClr val="accent2">
                    <a:lumMod val="50000"/>
                  </a:schemeClr>
                </a:solidFill>
              </a:rPr>
              <a:t>FY – 2026-2027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7B258E-CB94-4952-9FB8-D735A3626A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9970" y="3779957"/>
            <a:ext cx="6987645" cy="1388534"/>
          </a:xfrm>
        </p:spPr>
        <p:txBody>
          <a:bodyPr>
            <a:normAutofit fontScale="92500" lnSpcReduction="10000"/>
          </a:bodyPr>
          <a:lstStyle/>
          <a:p>
            <a:pPr algn="ctr">
              <a:buNone/>
            </a:pPr>
            <a:r>
              <a:rPr sz="2400" b="1" dirty="0">
                <a:solidFill>
                  <a:schemeClr val="accent2">
                    <a:lumMod val="50000"/>
                  </a:schemeClr>
                </a:solidFill>
              </a:rPr>
              <a:t>Budget &amp; FR Analysis (2026‑27)</a:t>
            </a:r>
            <a:r>
              <a:rPr sz="2400" dirty="0">
                <a:solidFill>
                  <a:schemeClr val="accent2">
                    <a:lumMod val="50000"/>
                  </a:schemeClr>
                </a:solidFill>
              </a:rPr>
              <a:t> </a:t>
            </a:r>
          </a:p>
          <a:p>
            <a:pPr algn="ctr">
              <a:buNone/>
            </a:pPr>
            <a:r>
              <a:rPr sz="2400" i="1" dirty="0">
                <a:solidFill>
                  <a:schemeClr val="accent2">
                    <a:lumMod val="50000"/>
                  </a:schemeClr>
                </a:solidFill>
              </a:rPr>
              <a:t>Current Year &amp; Fund Review</a:t>
            </a:r>
          </a:p>
          <a:p>
            <a:pPr algn="ctr">
              <a:buNone/>
            </a:pPr>
            <a:r>
              <a:rPr sz="3200" b="1" dirty="0">
                <a:solidFill>
                  <a:schemeClr val="accent2">
                    <a:lumMod val="50000"/>
                  </a:schemeClr>
                </a:solidFill>
              </a:rPr>
              <a:t>As on 05.10.2026</a:t>
            </a:r>
            <a:r>
              <a:rPr sz="3200" b="1">
                <a:solidFill>
                  <a:schemeClr val="accent2">
                    <a:lumMod val="50000"/>
                  </a:schemeClr>
                </a:solidFill>
              </a:rPr>
              <a:t/>
            </a:r>
            <a:r>
              <a:rPr lang="en-US" sz="3200" b="1">
                <a:solidFill>
                  <a:schemeClr val="accent2">
                    <a:lumMod val="50000"/>
                  </a:schemeClr>
                </a:solidFill>
              </a:rPr>
              <a:t/>
            </a:r>
            <a:r>
              <a:rPr sz="3200" b="1">
                <a:solidFill>
                  <a:schemeClr val="accent2">
                    <a:lumMod val="50000"/>
                  </a:schemeClr>
                </a:solidFill>
              </a:rPr>
              <a:t/>
            </a:r>
            <a:r>
              <a:rPr lang="en-US" sz="3200" b="1">
                <a:solidFill>
                  <a:schemeClr val="accent2">
                    <a:lumMod val="50000"/>
                  </a:schemeClr>
                </a:solidFill>
              </a:rPr>
              <a:t/>
            </a:r>
            <a:r>
              <a:rPr sz="3200" b="1">
                <a:solidFill>
                  <a:schemeClr val="accent2">
                    <a:lumMod val="50000"/>
                  </a:schemeClr>
                </a:solidFill>
              </a:rPr>
              <a:t/>
            </a:r>
            <a:endParaRPr sz="3200" b="1" dirty="0">
              <a:solidFill>
                <a:schemeClr val="accent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63894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DRM Budget &amp; FR Analysis | Completed SEP 2026 | H column: actual final expenditure FY 2025-26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SEP 2026 | uploaded 2026-10-06T10:20:58+05:30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8281"/>
                <a:gridCol w="2123315"/>
                <a:gridCol w="1118625"/>
                <a:gridCol w="1118625"/>
                <a:gridCol w="1118625"/>
                <a:gridCol w="1222201"/>
                <a:gridCol w="745749"/>
                <a:gridCol w="1222201"/>
                <a:gridCol w="745749"/>
                <a:gridCol w="111862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320,761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353,512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32,751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288,010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693,876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69.39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360.89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1,804,451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180.45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2,126,374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212.64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321,923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1,482,528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148.25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3,996,057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399.61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186.48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932,422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93.24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78.20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-150,390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-15.04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108.28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2,000,064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200.01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135.36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676,790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1,050,104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105.01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373,314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303,477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1,511,638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151.16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206.00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1,029,975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103.00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1,192,410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119.24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162,435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867,540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86.75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2,171,600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217.16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1,676,283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167.63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2,344,788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234.48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668,505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66.85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1,007,778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100.78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3,801,767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380.18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442.88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2,214,383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221.44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2,602,601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260.26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388,218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1,826,165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4,947,572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494.76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1160.72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5,803,603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580.36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7,243,570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724.36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1,439,967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144.00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4,363,636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436.36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12,690,658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1269.07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696,416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69.64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1,053,707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105.37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357,291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339,125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33.91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1,451,556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145.16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497,319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529,510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32,191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465,128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46.51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1,025,571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102.56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645,534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639,713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63.97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-5,820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651,354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65.14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1,226,809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122.68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3259.59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16,297,936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1629.79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19,918,321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1991.83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3,620,384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362.04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12,677,552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1267.76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35,517,168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3551.72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1,591,127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1,597,650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159.76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-24394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-1,604,172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-160.42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-12197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-2,031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-0.20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Staff - SEP 2026 | uploaded 2026-10-06T10:20:58+05:30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3,353,204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3,689,125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368.91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335,920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3,017,284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301.73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7,351,228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735.12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2,050,226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205.02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2,354,304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235.43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304,078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1,746,149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174.61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4,447,868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444.79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142,544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-142,472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-14.25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302,570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30.26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77.62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388,099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405,373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17,274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370,825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802,369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80.24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248,304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259,437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237,172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509,846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50.98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68.02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340,098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437,090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96,992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243,107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24.31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764,171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76.42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59,779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21,129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17,521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106,223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10.62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104,956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147,751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42,794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62,162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294,342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29.43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263,916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318,453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54,537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209,379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519,754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51.98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8,024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13,236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5,212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20,171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154,040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265,224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111,184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42,857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523,752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52.38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189,709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195,227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-5,518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374,596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37.46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14,563,547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1456.35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7,281,774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728.18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8,334,780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833.48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1,053,006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105.30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6,228,767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622.88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16,016,890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1601.69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Non-Staff Part 1 - SEP 2026 | uploaded 2026-10-06T10:20:58+05:30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106.88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534,376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1,005,406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471,030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63,346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1,291,487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129.15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74,974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84,936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9,962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65,011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164,506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387.87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1,939,362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193.94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2,320,788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232.08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381,426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1,557,936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155.79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4,115,874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411.59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325.43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1,627,155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162.72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2,025,688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202.57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398,533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39.85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1,228,622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122.86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3,623,756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362.38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470.34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2,351,678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235.17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3,395,738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339.57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1,044,060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104.41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1,307,618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130.76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5,106,358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510.64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13,055,089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1305.51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6,527,544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652.75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8,832,556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883.26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2,305,012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230.50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4,222,533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422.25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68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14,301,981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1430.20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05.10.2026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80,418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-80,485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-8.05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49.98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12,890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-19,337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64,681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-55,637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53.76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50.74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379,598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-127,822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-12.78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74.81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296.28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4,286,712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428.67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1,323,917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132.39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144.68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613.14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187,787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55,520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141.98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251,247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-271,596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-27.16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48.05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105,095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-202,748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-20.27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34.14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40,372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29,430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-10,942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72.90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5,681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-48,021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-4.80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10.58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72,216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-25,284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74.07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155,585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-155,327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-15.53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50.04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05.10.2026 (Rows 14-18)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113,720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-202,013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-20.20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5,634,879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563.49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5,745,060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574.51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110,181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11.02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101.96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771.97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Fund Wise - As On 05.10.2026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7723"/>
                <a:gridCol w="1746146"/>
                <a:gridCol w="1746146"/>
                <a:gridCol w="1697642"/>
                <a:gridCol w="1164097"/>
                <a:gridCol w="1164097"/>
                <a:gridCol w="1746149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1,045,531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104.55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494,859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550,672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55.07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52.67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22,085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18,147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54.89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45.11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18,459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112,133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85.87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311.75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4,324,735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-1,207,220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-120.72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138.72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-38.72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617.23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130.10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884,922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88.49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416,087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68.02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31.98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