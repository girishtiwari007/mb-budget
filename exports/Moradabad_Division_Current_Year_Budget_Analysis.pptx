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SMH Wise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9655"/>
                <a:gridCol w="2307624"/>
                <a:gridCol w="1215724"/>
                <a:gridCol w="1215724"/>
                <a:gridCol w="1215724"/>
                <a:gridCol w="1328291"/>
                <a:gridCol w="810482"/>
                <a:gridCol w="1328291"/>
                <a:gridCol w="810485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76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160,380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176,884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16,504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902,226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90.22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1,105,970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203,744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2,502,932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466,211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273,692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-192,519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-19.25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1,591,151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159.12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338,395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597,993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259,598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755,588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75.56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514,988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51.50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601,809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60.18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86,822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1,458,141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838,142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1,217,145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379,004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2,135,421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213.54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1,107,192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110.72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1,324,129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216,938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3,104,637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310.46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2,901,802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3,481,716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579,914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57.99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8,125,490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812.55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348,208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34.82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670,965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322,757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721,867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248,660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260,994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12,334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733,644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73.36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322,767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318,731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-4,036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972,336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97.23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8,148,968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814.90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10,030,028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1003.00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1,881,060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188.11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123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22,565,845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2256.58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-3,261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1,463,486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1,466,747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146.67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-44875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-1,476,531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-147.65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-11219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1,676,602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167.66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1,830,978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154,376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4,875,431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487.54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1,025,113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1,188,851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118.89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163,738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16.37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2,911,602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291.16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71,272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-71,191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-7.12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194,050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19.40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201,303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7,254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574,895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124,152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130,168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6,016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366,441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36.64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321,297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318,410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-2,887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966,777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170,049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218,804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48,755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461,393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46.14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19,325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43,958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24,633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33,342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52,478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73,688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21,210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136,225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131,958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115,964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-15,994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411,868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3,212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4,012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10,654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77,020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130,831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53,811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177,250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4,656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8,191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3,535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176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10,432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44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94,854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318,899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31.89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224,044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60,519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96,098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102,852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6,754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281,540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6,470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3,938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-2,532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21,944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3,001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-1,146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10,150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2,897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200,440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197,543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19.75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6918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-188,851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-18.89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1730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743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186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4,076,880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407.69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4,896,224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819,344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81.93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120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11,411,296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1141.13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Non Staff Current Year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-2,063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164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-164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825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-304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2,779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267,188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588,298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321,110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480,454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37,487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42,862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5,375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107,085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969,681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96.97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1,014,183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101.42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44,502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2,864,541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286.45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23,818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22,763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72,510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7.25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813,578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81.36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966,861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96.69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153,284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2,287,449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228.74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656,360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65.64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534,261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-122,099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-12.21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2,091,179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209.12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21285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38,887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-27,151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143,812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Non Staff Current Year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1392"/>
                <a:gridCol w="1460547"/>
                <a:gridCol w="1460547"/>
                <a:gridCol w="1460547"/>
                <a:gridCol w="1595783"/>
                <a:gridCol w="973698"/>
                <a:gridCol w="1595783"/>
                <a:gridCol w="973703"/>
              </a:tblGrid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JUN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82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23,957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6,863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129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65,009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136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2,904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2,768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2135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-2,360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534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1,175,839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117.58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631,235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63.12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154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8,082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26,728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18,646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5,601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7,983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26,728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18,745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5,204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84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6,524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25,910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19,386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397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-413,205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-41.32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-268,122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-26.81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145,083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14.51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65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-1,384,699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-138.47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16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449,395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44.94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1,763,760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176.38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1,314,365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131.44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392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33,819</a:t>
                      </a:r>
                      <a:br/>
                      <a:r>
                        <a:rPr lang="en-US" sz="710">
                          <a:solidFill>
                            <a:srgbClr val="000000"/>
                          </a:solidFill>
                          <a:latin typeface="Times New Roman"/>
                        </a:rPr>
                        <a:t>Cr. 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710" b="1">
                          <a:solidFill>
                            <a:srgbClr val="000000"/>
                          </a:solidFill>
                          <a:latin typeface="Times New Roman"/>
                        </a:rPr>
                        <a:t>98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91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4,068,827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406.88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6,597,287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659.73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2,528,460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252.85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162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9,678,021</a:t>
                      </a:r>
                      <a:br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Cr. 967.80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830" b="1">
                          <a:solidFill>
                            <a:srgbClr val="000000"/>
                          </a:solidFill>
                          <a:latin typeface="Times New Roman"/>
                        </a:rPr>
                        <a:t>41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1,830,169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-405,301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-594,477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-59.45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1,188,856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118.89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-177,962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-247,023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-24.70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201,302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-57,431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-63,070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130,168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-35,368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-37,672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318,409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-109,987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-11.00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-80,997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-8.10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218,804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-7,928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-42,418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43,958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18,191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-18,417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73,688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-20,045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-2.00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115,964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-59,980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-137,713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-13.77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-836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5,565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-4,712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130,862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28,168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-34,596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8,191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1,983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3,021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318,899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192,426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19.24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-35,819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84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121,409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-6,722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-20,836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588,298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232,047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211,466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49,638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-16,404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1,064,851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-228,057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-22.81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-145,545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-14.55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23,900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-7,858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-1,317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1,037,177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-47,593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-547,541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-54.75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534,260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53.43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-340,887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-34.09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-446,180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-44.62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11,736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-40,113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-39,783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30,820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-1,123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-7,296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3,937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-4,690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-4,034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1,855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-2,147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-1,381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200,441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196,578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19.66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5189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189,626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1730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5,416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5,235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2987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5,416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996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557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186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239,289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23.93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13,639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PU Previous Year Comparison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3597"/>
                <a:gridCol w="1069263"/>
                <a:gridCol w="1039561"/>
                <a:gridCol w="1069263"/>
                <a:gridCol w="1069263"/>
                <a:gridCol w="1039561"/>
                <a:gridCol w="1069263"/>
                <a:gridCol w="1168269"/>
                <a:gridCol w="712842"/>
                <a:gridCol w="1168269"/>
                <a:gridCol w="712849"/>
              </a:tblGrid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28,580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17,804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24,835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88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28,580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17,936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24,836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90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27,880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19,181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21,535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-444,194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-44.42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106,746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0.22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27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1,950,192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195.02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1,350,999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135.10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325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-178,343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-17.83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108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3725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11,659,102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1165.91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798,159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79.82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-2,227,766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-222.78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Previous Year Comparison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4845"/>
                <a:gridCol w="1768839"/>
                <a:gridCol w="931876"/>
                <a:gridCol w="905991"/>
                <a:gridCol w="931876"/>
                <a:gridCol w="931876"/>
                <a:gridCol w="905991"/>
                <a:gridCol w="931876"/>
                <a:gridCol w="1018161"/>
                <a:gridCol w="621251"/>
                <a:gridCol w="1018161"/>
                <a:gridCol w="621257"/>
              </a:tblGrid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178,121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-35,720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-37,427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28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1,122,310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112.23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-80,657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-8.07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-191,484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273,692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27.37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-347,922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-34.79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-718,423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-71.84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600,627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149,433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133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90,272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44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614,484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61.45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-72,166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-7.22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89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-65,778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1,249,096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124.91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131,574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112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-3,884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1,340,406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134.04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-135,849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-13.58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-296,754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-29.68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3,521,026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352.10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-348,043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-34.80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-658,720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30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708,225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70.82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243,948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24.39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153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-36,086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51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36181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261,220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-70,326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-7.03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79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-62,992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26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220000" y="70000"/>
            <a:ext cx="11752000" cy="3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760" b="1">
                <a:solidFill>
                  <a:srgbClr val="22A7D8"/>
                </a:solidFill>
                <a:latin typeface="Times New Roman"/>
              </a:rPr>
              <a:t>Demand Previous Year Comparison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220000" y="450000"/>
            <a:ext cx="11752000" cy="23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86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220000" y="720000"/>
          <a:ext cx="11752000" cy="589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64845"/>
                <a:gridCol w="1768839"/>
                <a:gridCol w="931876"/>
                <a:gridCol w="905991"/>
                <a:gridCol w="931876"/>
                <a:gridCol w="931876"/>
                <a:gridCol w="905991"/>
                <a:gridCol w="931876"/>
                <a:gridCol w="1018161"/>
                <a:gridCol w="621251"/>
                <a:gridCol w="1018161"/>
                <a:gridCol w="621257"/>
              </a:tblGrid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62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318,791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31.88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-111,565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74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-81,613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-8.16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25  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1,471,104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147.11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1,475,452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147.55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-33831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-164,879</a:t>
                      </a:r>
                      <a:br/>
                      <a:r>
                        <a:rPr lang="en-US" sz="560">
                          <a:solidFill>
                            <a:srgbClr val="000000"/>
                          </a:solidFill>
                          <a:latin typeface="Times New Roman"/>
                        </a:rPr>
                        <a:t>Cr. -16.49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-11277  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474500"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13,886,870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11,659,102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1165.91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798,159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79.82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107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-2,227,768</a:t>
                      </a:r>
                      <a:br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Cr. -222.78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lang="en-US" sz="560" b="1">
                          <a:solidFill>
                            <a:srgbClr val="000000"/>
                          </a:solidFill>
                          <a:latin typeface="Times New Roman"/>
                        </a:rPr>
                        <a:t>36  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198</TotalTime>
  <Words>1463</Words>
  <Application>Microsoft Office PowerPoint</Application>
  <PresentationFormat>Widescreen</PresentationFormat>
  <Paragraphs>677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Demand / SMH Wise</vt:lpstr>
      <vt:lpstr>PU Wise – Staff (Part 1)</vt:lpstr>
      <vt:lpstr>PU Wise ( Staff) Part 2</vt:lpstr>
      <vt:lpstr>PU Wise - NON-STAFF Part 1</vt:lpstr>
      <vt:lpstr>OPEN LINE FR Report </vt:lpstr>
      <vt:lpstr>OPEN LINE FR – Fund Wise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27</cp:revision>
  <dcterms:created xsi:type="dcterms:W3CDTF">2026-07-10T14:38:31Z</dcterms:created>
  <dcterms:modified xsi:type="dcterms:W3CDTF">2026-07-15T06:07:39Z</dcterms:modified>
</cp:coreProperties>
</file>