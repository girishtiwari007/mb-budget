
<file path=[Content_Types].xml><?xml version="1.0" encoding="utf-8"?>
<ns0:Types xmlns:ns0="http://schemas.openxmlformats.org/package/2006/content-types">
  <ns0:Default Extension="jpeg" ContentType="image/jpe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docProps/core.xml" ContentType="application/vnd.openxmlformats-package.core-properties+xml"/>
  <ns0:Override PartName="/docProps/app.xml" ContentType="application/vnd.openxmlformats-officedocument.extended-properti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saveSubsetFonts="1">
  <p:sldMasterIdLst>
    <p:sldMasterId id="2147483743" r:id="rId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94947" autoAdjust="0"/>
  </p:normalViewPr>
  <p:slideViewPr>
    <p:cSldViewPr snapToGrid="0">
      <p:cViewPr varScale="1">
        <p:scale>
          <a:sx n="73" d="100"/>
          <a:sy n="73" d="100"/>
        </p:scale>
        <p:origin x="27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3" Type="http://schemas.openxmlformats.org/officeDocument/2006/relationships/tableStyles" Target="tableStyles.xml" /><ns0:Relationship Id="rId12" Type="http://schemas.openxmlformats.org/officeDocument/2006/relationships/theme" Target="theme/theme1.xml" /><ns0:Relationship Id="rId1" Type="http://schemas.openxmlformats.org/officeDocument/2006/relationships/slideMaster" Target="slideMasters/slideMaster1.xml" /><ns0:Relationship Id="rId11" Type="http://schemas.openxmlformats.org/officeDocument/2006/relationships/viewProps" Target="viewProps.xml" /><ns0:Relationship Id="rId10" Type="http://schemas.openxmlformats.org/officeDocument/2006/relationships/presProps" Target="presProps.xml" /><ns0:Relationship Id="rId1" Type="http://schemas.openxmlformats.org/officeDocument/2006/relationships/slide" Target="slides/slide1.xml" /><ns0:Relationship Id="rId2" Type="http://schemas.openxmlformats.org/officeDocument/2006/relationships/slide" Target="slides/slide2.xml" /><ns0:Relationship Id="rId3" Type="http://schemas.openxmlformats.org/officeDocument/2006/relationships/slide" Target="slides/slide3.xml" /><ns0:Relationship Id="rId4" Type="http://schemas.openxmlformats.org/officeDocument/2006/relationships/slide" Target="slides/slide4.xml" /><ns0:Relationship Id="rId5" Type="http://schemas.openxmlformats.org/officeDocument/2006/relationships/slide" Target="slides/slide5.xml" /><ns0:Relationship Id="rId6" Type="http://schemas.openxmlformats.org/officeDocument/2006/relationships/slide" Target="slides/slide6.xml" /><ns0:Relationship Id="rId7" Type="http://schemas.openxmlformats.org/officeDocument/2006/relationships/slide" Target="slides/slide7.xml" /><ns0:Relationship Id="rId8" Type="http://schemas.openxmlformats.org/officeDocument/2006/relationships/slide" Target="slides/slide8.xml" /><ns0:Relationship Id="rId9" Type="http://schemas.openxmlformats.org/officeDocument/2006/relationships/slide" Target="slides/slide9.xml" /><ns0:Relationship Id="rId10" Type="http://schemas.openxmlformats.org/officeDocument/2006/relationships/slide" Target="slides/slide10.xml" /><ns0:Relationship Id="rId11" Type="http://schemas.openxmlformats.org/officeDocument/2006/relationships/slide" Target="slides/slide11.xml" /><ns0:Relationship Id="rId12" Type="http://schemas.openxmlformats.org/officeDocument/2006/relationships/slide" Target="slides/slide12.xml" /></ns0: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pattFill prst="pct5">
          <a:fgClr>
            <a:schemeClr val="bg1">
              <a:lumMod val="8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8000" b="1" dirty="0">
                <a:solidFill>
                  <a:schemeClr val="accent2">
                    <a:lumMod val="50000"/>
                  </a:schemeClr>
                </a:solidFill>
              </a:rPr>
              <a:t>Moradabad Division Accounts Dept FY - 2026-2027</a:t>
            </a:r>
            <a:br>
              <a:rPr lang="en-US" sz="80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en-US" sz="8000" b="1" dirty="0">
                <a:solidFill>
                  <a:schemeClr val="accent2">
                    <a:lumMod val="50000"/>
                  </a:schemeClr>
                </a:solidFill>
              </a:rPr>
              <a:t/>
            </a:r>
            <a:br>
              <a:rPr lang="en-US" sz="8000" b="1" dirty="0">
                <a:solidFill>
                  <a:schemeClr val="accent2">
                    <a:lumMod val="50000"/>
                  </a:schemeClr>
                </a:solidFill>
              </a:rPr>
            </a:br>
            <a:r>
              <a:rPr lang="en-US" sz="8000" b="1" dirty="0">
                <a:solidFill>
                  <a:schemeClr val="accent2">
                    <a:lumMod val="50000"/>
                  </a:schemeClr>
                </a:solidFill>
              </a:rPr>
              <a:t/>
            </a:r>
            <a:endParaRPr lang="en-IN" sz="8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ns2:creationId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>
                <a:solidFill>
                  <a:schemeClr val="accent2">
                    <a:lumMod val="50000"/>
                  </a:schemeClr>
                </a:solidFill>
              </a:rPr>
              <a:t>Figures in thousands.</a:t>
            </a:r>
            <a:r>
              <a:rPr lang="en-US" sz="2400" dirty="0">
                <a:solidFill>
                  <a:schemeClr val="accent2">
                    <a:lumMod val="50000"/>
                  </a:schemeClr>
                </a:solidFill>
              </a:rPr>
              <a:t/>
            </a:r>
          </a:p>
          <a:p>
            <a:pPr algn="ctr"/>
            <a:r>
              <a:rPr lang="en-US" sz="2400" i="1" dirty="0">
                <a:solidFill>
                  <a:schemeClr val="accent2">
                    <a:lumMod val="50000"/>
                  </a:schemeClr>
                </a:solidFill>
              </a:rPr>
              <a:t/>
            </a:r>
            <a:endParaRPr lang="en-IN"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ns3:creationId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F230738E-E267-4B69-B925-9D150C098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5174" y="111082"/>
            <a:ext cx="10018713" cy="639097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/ SMH Wise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ns2:creationId id="{F2A23CF3-BFF8-4333-BE68-4D6A8FD43C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804757020"/>
              </p:ext>
            </p:extLst>
          </p:nvPr>
        </p:nvGraphicFramePr>
        <p:xfrm>
          <a:off x="1455174" y="747255"/>
          <a:ext cx="10308944" cy="56240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88618">
                  <a:extLst>
                    <a:ext uri="{9D8B030D-6E8A-4147-A177-3AD203B41FA5}">
                      <ns2:colId val="2671810648"/>
                    </a:ext>
                  </a:extLst>
                </a:gridCol>
                <a:gridCol w="1288618">
                  <a:extLst>
                    <a:ext uri="{9D8B030D-6E8A-4147-A177-3AD203B41FA5}">
                      <ns2:colId val="398794330"/>
                    </a:ext>
                  </a:extLst>
                </a:gridCol>
                <a:gridCol w="1288618">
                  <a:extLst>
                    <a:ext uri="{9D8B030D-6E8A-4147-A177-3AD203B41FA5}">
                      <ns2:colId val="593037145"/>
                    </a:ext>
                  </a:extLst>
                </a:gridCol>
                <a:gridCol w="1288618">
                  <a:extLst>
                    <a:ext uri="{9D8B030D-6E8A-4147-A177-3AD203B41FA5}">
                      <ns2:colId val="2245698325"/>
                    </a:ext>
                  </a:extLst>
                </a:gridCol>
                <a:gridCol w="1288618">
                  <a:extLst>
                    <a:ext uri="{9D8B030D-6E8A-4147-A177-3AD203B41FA5}">
                      <ns2:colId val="4198348844"/>
                    </a:ext>
                  </a:extLst>
                </a:gridCol>
                <a:gridCol w="1288618">
                  <a:extLst>
                    <a:ext uri="{9D8B030D-6E8A-4147-A177-3AD203B41FA5}">
                      <ns2:colId val="1591198250"/>
                    </a:ext>
                  </a:extLst>
                </a:gridCol>
                <a:gridCol w="1288618">
                  <a:extLst>
                    <a:ext uri="{9D8B030D-6E8A-4147-A177-3AD203B41FA5}">
                      <ns2:colId val="1261788368"/>
                    </a:ext>
                  </a:extLst>
                </a:gridCol>
                <a:gridCol w="1288618">
                  <a:extLst>
                    <a:ext uri="{9D8B030D-6E8A-4147-A177-3AD203B41FA5}">
                      <ns2:colId val="3226160255"/>
                    </a:ext>
                  </a:extLst>
                </a:gridCol>
              </a:tblGrid>
              <a:tr h="397016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/ SMH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Budget Remaining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 Utilized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974619520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03/01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641,522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160,380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176,892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16,512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464,630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205223064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04/02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3,608,902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902,226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1,105,969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203,744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2,502,933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3459919092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05/03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1,864,843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466,211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273,692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-192,519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1,591,151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69113319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06/04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1,353,581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338,395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597,994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259,599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177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755,587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67376667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07/05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2,059,950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514,988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601,800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86,812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1,458,150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087585992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08/06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3,352,566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838,142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1,217,151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379,010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2,135,415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092601854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09/07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4,428,766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1,107,192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1,324,118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216,926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3,104,648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791720480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10/08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11,607,206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2,901,802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3,481,717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579,916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8,125,489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521518790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11/09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1,392,832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348,208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670,966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322,758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193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721,866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699201622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12/10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994,638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248,660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260,992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12,332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733,646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313636852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13/11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1,291,067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322,767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318,734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-4,033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972,333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128149925"/>
                  </a:ext>
                </a:extLst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12N/10N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-13,045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-3,261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1,463,486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1,466,747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-44,875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-1,476,531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-11,219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338410677"/>
                  </a:ext>
                </a:extLst>
              </a:tr>
              <a:tr h="226867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32,582,828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8,145,707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11,493,511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3,347,804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21,089,317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942991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9B7BA12E-6DF1-4FB3-BB48-A2CD737A60E0}"/>
              </a:ext>
            </a:extLst>
          </p:cNvPr>
          <p:cNvSpPr txBox="1"/>
          <p:nvPr/>
        </p:nvSpPr>
        <p:spPr>
          <a:xfrm>
            <a:off x="8975835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109852338"/>
      </p:ext>
    </p:extLst>
  </p:cSld>
  <p:clrMapOvr>
    <a:masterClrMapping/>
  </p:clrMapOvr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4D15637-AA8D-499E-A33D-355AD3D5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076" y="58990"/>
            <a:ext cx="6047201" cy="717755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Wise - Staff (Part 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4C76AF1C-C815-412C-A687-D65333CA4C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715154439"/>
              </p:ext>
            </p:extLst>
          </p:nvPr>
        </p:nvGraphicFramePr>
        <p:xfrm>
          <a:off x="1258528" y="875071"/>
          <a:ext cx="10530352" cy="556506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16294">
                  <a:extLst>
                    <a:ext uri="{9D8B030D-6E8A-4147-A177-3AD203B41FA5}">
                      <ns2:colId val="1239790493"/>
                    </a:ext>
                  </a:extLst>
                </a:gridCol>
                <a:gridCol w="1316294">
                  <a:extLst>
                    <a:ext uri="{9D8B030D-6E8A-4147-A177-3AD203B41FA5}">
                      <ns2:colId val="2802333530"/>
                    </a:ext>
                  </a:extLst>
                </a:gridCol>
                <a:gridCol w="1316294">
                  <a:extLst>
                    <a:ext uri="{9D8B030D-6E8A-4147-A177-3AD203B41FA5}">
                      <ns2:colId val="952834949"/>
                    </a:ext>
                  </a:extLst>
                </a:gridCol>
                <a:gridCol w="1316294">
                  <a:extLst>
                    <a:ext uri="{9D8B030D-6E8A-4147-A177-3AD203B41FA5}">
                      <ns2:colId val="3402646669"/>
                    </a:ext>
                  </a:extLst>
                </a:gridCol>
                <a:gridCol w="1316294">
                  <a:extLst>
                    <a:ext uri="{9D8B030D-6E8A-4147-A177-3AD203B41FA5}">
                      <ns2:colId val="3727906630"/>
                    </a:ext>
                  </a:extLst>
                </a:gridCol>
                <a:gridCol w="1316294">
                  <a:extLst>
                    <a:ext uri="{9D8B030D-6E8A-4147-A177-3AD203B41FA5}">
                      <ns2:colId val="2280596706"/>
                    </a:ext>
                  </a:extLst>
                </a:gridCol>
                <a:gridCol w="1316294">
                  <a:extLst>
                    <a:ext uri="{9D8B030D-6E8A-4147-A177-3AD203B41FA5}">
                      <ns2:colId val="1801743421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</a:tblGrid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Budget Remaining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 Utilized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596447904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PU-01 - Sal/Wag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6,706,409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1,676,602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1,830,978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154,376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4,875,431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65667403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PU-02 - DA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4,100,453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1,025,113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1,188,851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163,738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2,911,602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586232237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PU-03 - PLB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285,089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71,272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82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-71,190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285,007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069816369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PU-04 - HRA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776,198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194,050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201,302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7,252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574,896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35886713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PU-07 - TPA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496,609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124,152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130,168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6,016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366,441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995875332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PU-08 - NPS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1,285,187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321,297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318,409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-2,888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966,778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145299812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PU-10 - KMA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680,197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170,049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218,804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48,755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129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461,393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481816309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PU-11 - OT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77,300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19,325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43,958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24,633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227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33,342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892503596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PU-12 - NDA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209,913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52,478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73,688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21,210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136,225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999147903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PU-13 - OA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527,832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131,958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115,964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-15,994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411,868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6941461"/>
                  </a:ext>
                </a:extLst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PU-14 - FEES &amp; HON.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3,566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-538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3,213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7914761"/>
                  </a:ext>
                </a:extLst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PU-15 - TA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16,048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4,012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1,382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10,654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D6E765E4-6569-4A66-A3D2-BFF40CB2FCB5}"/>
              </a:ext>
            </a:extLst>
          </p:cNvPr>
          <p:cNvSpPr txBox="1"/>
          <p:nvPr/>
        </p:nvSpPr>
        <p:spPr>
          <a:xfrm>
            <a:off x="9165022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786117796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0B557307-DA62-4E25-8397-62E4A596DD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3381" y="115286"/>
            <a:ext cx="7286063" cy="720456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Wise - Staff (Part 2)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59CED771-EEF2-4BDD-8F31-55994B4260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789395368"/>
              </p:ext>
            </p:extLst>
          </p:nvPr>
        </p:nvGraphicFramePr>
        <p:xfrm>
          <a:off x="1415845" y="835742"/>
          <a:ext cx="10215720" cy="571273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76965">
                  <a:extLst>
                    <a:ext uri="{9D8B030D-6E8A-4147-A177-3AD203B41FA5}">
                      <ns2:colId val="3844203750"/>
                    </a:ext>
                  </a:extLst>
                </a:gridCol>
                <a:gridCol w="1276965">
                  <a:extLst>
                    <a:ext uri="{9D8B030D-6E8A-4147-A177-3AD203B41FA5}">
                      <ns2:colId val="358594132"/>
                    </a:ext>
                  </a:extLst>
                </a:gridCol>
                <a:gridCol w="1276965">
                  <a:extLst>
                    <a:ext uri="{9D8B030D-6E8A-4147-A177-3AD203B41FA5}">
                      <ns2:colId val="1004706099"/>
                    </a:ext>
                  </a:extLst>
                </a:gridCol>
                <a:gridCol w="1276965">
                  <a:extLst>
                    <a:ext uri="{9D8B030D-6E8A-4147-A177-3AD203B41FA5}">
                      <ns2:colId val="4065274722"/>
                    </a:ext>
                  </a:extLst>
                </a:gridCol>
                <a:gridCol w="1276965">
                  <a:extLst>
                    <a:ext uri="{9D8B030D-6E8A-4147-A177-3AD203B41FA5}">
                      <ns2:colId val="2152095466"/>
                    </a:ext>
                  </a:extLst>
                </a:gridCol>
                <a:gridCol w="1276965">
                  <a:extLst>
                    <a:ext uri="{9D8B030D-6E8A-4147-A177-3AD203B41FA5}">
                      <ns2:colId val="1263450631"/>
                    </a:ext>
                  </a:extLst>
                </a:gridCol>
                <a:gridCol w="1276965">
                  <a:extLst>
                    <a:ext uri="{9D8B030D-6E8A-4147-A177-3AD203B41FA5}">
                      <ns2:colId val="3490328948"/>
                    </a:ext>
                  </a:extLst>
                </a:gridCol>
                <a:gridCol w="1276965">
                  <a:extLst>
                    <a:ext uri="{9D8B030D-6E8A-4147-A177-3AD203B41FA5}">
                      <ns2:colId val="769197214"/>
                    </a:ext>
                  </a:extLst>
                </a:gridCol>
              </a:tblGrid>
              <a:tr h="511047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Budget Remaining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 Utilized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1575111226"/>
                  </a:ext>
                </a:extLst>
              </a:tr>
              <a:tr h="202714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PU-16 - TE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308,081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77,020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130,831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53,811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177,250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2676482612"/>
                  </a:ext>
                </a:extLst>
              </a:tr>
              <a:tr h="35688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PU-17 - ATPP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2,110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528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-528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2,110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2472078658"/>
                  </a:ext>
                </a:extLst>
              </a:tr>
              <a:tr h="511047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PU-20 - Leave Salary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18,623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4,656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8,191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3,535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176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10,432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956063337"/>
                  </a:ext>
                </a:extLst>
              </a:tr>
              <a:tr h="665214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PU-25 - Children Edu. Allow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379,418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94,854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318,899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224,044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336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60,519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3946925509"/>
                  </a:ext>
                </a:extLst>
              </a:tr>
              <a:tr h="511047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PU-26 - Medical Expenses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384,392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96,098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102,851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6,753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107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281,541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71677204"/>
                  </a:ext>
                </a:extLst>
              </a:tr>
              <a:tr h="665214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PU-29 - Remu. Re-engaged Staff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-124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2647007663"/>
                  </a:ext>
                </a:extLst>
              </a:tr>
              <a:tr h="35688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PU-39 - ATD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996303099"/>
                  </a:ext>
                </a:extLst>
              </a:tr>
              <a:tr h="511047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PU-42 - ARR SALARY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25,882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6,470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3,937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-2,534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21,945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2166991399"/>
                  </a:ext>
                </a:extLst>
              </a:tr>
              <a:tr h="35688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PU-43 - ARR DA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12,005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3,001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1,855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-1,146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10,150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2433155535"/>
                  </a:ext>
                </a:extLst>
              </a:tr>
              <a:tr h="511047">
                <a:tc>
                  <a:txBody>
                    <a:bodyPr/>
                    <a:lstStyle/>
                    <a:p>
                      <a:r>
                        <a:rPr lang="en-US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PU-44 - ARR OTH ALW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11,589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2,897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200,441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197,544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6,918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-188,852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1,730</a:t>
                      </a:r>
                      <a:endParaRPr lang="en-IN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310566672"/>
                  </a:ext>
                </a:extLst>
              </a:tr>
              <a:tr h="35688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PU-53 - All India LTC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614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154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1,140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986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743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-526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186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3833777949"/>
                  </a:ext>
                </a:extLst>
              </a:tr>
              <a:tr h="356880"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16,307,520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4,076,880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4,896,220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819,340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11,411,300</a:t>
                      </a:r>
                    </a:p>
                  </a:txBody>
                  <a:tcPr marL="33594" marR="33594" marT="16797" marB="16797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3594" marR="33594" marT="16797" marB="16797" anchor="ctr"/>
                </a:tc>
                <a:extLst>
                  <a:ext uri="{0D108BD9-81ED-4DB2-BD59-A6C34878D82A}">
                    <ns2:rowId val="38337779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AE647A2E-D2C5-4D25-868C-DD454B4677E4}"/>
              </a:ext>
            </a:extLst>
          </p:cNvPr>
          <p:cNvSpPr txBox="1"/>
          <p:nvPr/>
        </p:nvSpPr>
        <p:spPr>
          <a:xfrm>
            <a:off x="9343698" y="287406"/>
            <a:ext cx="240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3497845175"/>
      </p:ext>
    </p:extLst>
  </p:cSld>
  <p:clrMapOvr>
    <a:masterClrMapping/>
  </p:clrMapOvr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C09003F0-56D0-4852-861D-6BCDBDA50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6643" y="1"/>
            <a:ext cx="10018713" cy="693170"/>
          </a:xfrm>
        </p:spPr>
        <p:txBody>
          <a:bodyPr>
            <a:normAutofit/>
          </a:bodyPr>
          <a:lstStyle/>
          <a:p>
            <a:pPr algn="ctr"/>
            <a:r>
              <a:rPr lang="fr-FR" sz="3600" b="1" i="0" u="none" strike="noStrike" dirty="0">
                <a:solidFill>
                  <a:srgbClr val="003366"/>
                </a:solidFill>
                <a:effectLst/>
                <a:latin typeface="Times New Roman" panose="02020603050405020304" pitchFamily="18" charset="0"/>
              </a:rPr>
              <a:t>PU Wise - Non-Staff (Part 1)</a:t>
            </a:r>
            <a:endParaRPr lang="en-IN" sz="7200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ns2:creationId id="{8EA0D9CB-576D-4BFA-B10E-1BD2F964CF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658477156"/>
              </p:ext>
            </p:extLst>
          </p:nvPr>
        </p:nvGraphicFramePr>
        <p:xfrm>
          <a:off x="1317523" y="776750"/>
          <a:ext cx="10363200" cy="5388079"/>
        </p:xfrm>
        <a:graphic>
          <a:graphicData uri="http://schemas.openxmlformats.org/drawingml/2006/table">
            <a:tbl>
              <a:tblPr/>
              <a:tblGrid>
                <a:gridCol w="3141560">
                  <a:extLst>
                    <a:ext uri="{9D8B030D-6E8A-4147-A177-3AD203B41FA5}">
                      <ns2:colId val="2031857858"/>
                    </a:ext>
                  </a:extLst>
                </a:gridCol>
                <a:gridCol w="1031557">
                  <a:extLst>
                    <a:ext uri="{9D8B030D-6E8A-4147-A177-3AD203B41FA5}">
                      <ns2:colId val="3445548215"/>
                    </a:ext>
                  </a:extLst>
                </a:gridCol>
                <a:gridCol w="1031557">
                  <a:extLst>
                    <a:ext uri="{9D8B030D-6E8A-4147-A177-3AD203B41FA5}">
                      <ns2:colId val="2356011983"/>
                    </a:ext>
                  </a:extLst>
                </a:gridCol>
                <a:gridCol w="1031557">
                  <a:extLst>
                    <a:ext uri="{9D8B030D-6E8A-4147-A177-3AD203B41FA5}">
                      <ns2:colId val="1682077274"/>
                    </a:ext>
                  </a:extLst>
                </a:gridCol>
                <a:gridCol w="1031557">
                  <a:extLst>
                    <a:ext uri="{9D8B030D-6E8A-4147-A177-3AD203B41FA5}">
                      <ns2:colId val="3956130087"/>
                    </a:ext>
                  </a:extLst>
                </a:gridCol>
                <a:gridCol w="1031557">
                  <a:extLst>
                    <a:ext uri="{9D8B030D-6E8A-4147-A177-3AD203B41FA5}">
                      <ns2:colId val="3504684228"/>
                    </a:ext>
                  </a:extLst>
                </a:gridCol>
                <a:gridCol w="1031557">
                  <a:extLst>
                    <a:ext uri="{9D8B030D-6E8A-4147-A177-3AD203B41FA5}">
                      <ns2:colId val="3982970376"/>
                    </a:ext>
                  </a:extLst>
                </a:gridCol>
                <a:gridCol w="1032298">
                  <a:extLst>
                    <a:ext uri="{9D8B030D-6E8A-4147-A177-3AD203B41FA5}">
                      <ns2:colId val="3320387455"/>
                    </a:ext>
                  </a:extLst>
                </a:gridCol>
              </a:tblGrid>
              <a:tr h="68093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PU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OBA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BP</a:t>
                      </a:r>
                    </a:p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/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AE</a:t>
                      </a:r>
                    </a:p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/>
                      </a:r>
                      <a:r>
                        <a:rPr lang="en-IN" sz="11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/>
                      </a:r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/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Variation</a:t>
                      </a:r>
                    </a:p>
                    <a:p>
                      <a:pPr algn="ctr" fontAlgn="ctr"/>
                      <a:r>
                        <a:rPr lang="en-IN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/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Budget Remaining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% OBA Utilized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ns2:rowId val="297032399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PU-18 - OE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8,252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2,063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-2,063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8,252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496997156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PU-19 - Phone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655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164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-164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655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678729821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PU-21 - Adv Expenses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3,300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825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521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-304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2,779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731554459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fr-FR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PU-22 - Util(excl. elec.)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843791104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PU-23 - Rental Office Equip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42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42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799893381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PU-24 - Printing and Stnry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215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54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-54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215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879526715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PU-27 - Materials from stock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1,068,752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267,188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588,298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321,110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220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480,454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55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391900435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PU-28 - Materials-Dir. purchase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149,947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37,487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42,862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5,375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114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107,085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29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095773270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PU-30 - Cost Of Elec. Energy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3,878,724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969,681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1,014,184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44,503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2,864,540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26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4209815595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PU-31 - OF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95,273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23,818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22,763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-1,055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96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72,510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24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615939541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PU-32 - CP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3,254,310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813,578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966,862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153,284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119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2,287,448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535792454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PU-33 - TRDC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2,625,440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656,360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534,260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-122,100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81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2,091,180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4135560399"/>
                  </a:ext>
                </a:extLst>
              </a:tr>
              <a:tr h="362088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PU-36 - Excise Duty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155,548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38,887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11,736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-27,151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0" i="0" u="none" strike="noStrike">
                          <a:effectLst/>
                          <a:latin typeface="Times New Roman" panose="02020603050405020304" pitchFamily="18" charset="0"/>
                        </a:rPr>
                        <a:t>143,812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3408838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ns2:creationId id="{60DB26C2-2EF7-416B-8D9D-B1F0DA9954CF}"/>
              </a:ext>
            </a:extLst>
          </p:cNvPr>
          <p:cNvSpPr txBox="1"/>
          <p:nvPr/>
        </p:nvSpPr>
        <p:spPr>
          <a:xfrm>
            <a:off x="9343698" y="287406"/>
            <a:ext cx="240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3186631292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ns2:creationId id="{24A57A1E-B851-4CE6-9BD3-A98AB4AF84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159736434"/>
              </p:ext>
            </p:extLst>
          </p:nvPr>
        </p:nvGraphicFramePr>
        <p:xfrm>
          <a:off x="1086643" y="1170040"/>
          <a:ext cx="10416383" cy="4059517"/>
        </p:xfrm>
        <a:graphic>
          <a:graphicData uri="http://schemas.openxmlformats.org/drawingml/2006/table">
            <a:tbl>
              <a:tblPr/>
              <a:tblGrid>
                <a:gridCol w="3157908">
                  <a:extLst>
                    <a:ext uri="{9D8B030D-6E8A-4147-A177-3AD203B41FA5}">
                      <ns2:colId val="10455852"/>
                    </a:ext>
                  </a:extLst>
                </a:gridCol>
                <a:gridCol w="1036925">
                  <a:extLst>
                    <a:ext uri="{9D8B030D-6E8A-4147-A177-3AD203B41FA5}">
                      <ns2:colId val="974991832"/>
                    </a:ext>
                  </a:extLst>
                </a:gridCol>
                <a:gridCol w="1036925">
                  <a:extLst>
                    <a:ext uri="{9D8B030D-6E8A-4147-A177-3AD203B41FA5}">
                      <ns2:colId val="571984019"/>
                    </a:ext>
                  </a:extLst>
                </a:gridCol>
                <a:gridCol w="1036925">
                  <a:extLst>
                    <a:ext uri="{9D8B030D-6E8A-4147-A177-3AD203B41FA5}">
                      <ns2:colId val="1516580103"/>
                    </a:ext>
                  </a:extLst>
                </a:gridCol>
                <a:gridCol w="1036925">
                  <a:extLst>
                    <a:ext uri="{9D8B030D-6E8A-4147-A177-3AD203B41FA5}">
                      <ns2:colId val="3982871051"/>
                    </a:ext>
                  </a:extLst>
                </a:gridCol>
                <a:gridCol w="1036925">
                  <a:extLst>
                    <a:ext uri="{9D8B030D-6E8A-4147-A177-3AD203B41FA5}">
                      <ns2:colId val="3537471657"/>
                    </a:ext>
                  </a:extLst>
                </a:gridCol>
                <a:gridCol w="1036925">
                  <a:extLst>
                    <a:ext uri="{9D8B030D-6E8A-4147-A177-3AD203B41FA5}">
                      <ns2:colId val="925803973"/>
                    </a:ext>
                  </a:extLst>
                </a:gridCol>
                <a:gridCol w="1036925">
                  <a:extLst>
                    <a:ext uri="{9D8B030D-6E8A-4147-A177-3AD203B41FA5}">
                      <ns2:colId val="2165817522"/>
                    </a:ext>
                  </a:extLst>
                </a:gridCol>
              </a:tblGrid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OBA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BP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AE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Variation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Budget Remaining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% OBA Utilized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151597531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PU-38 - Sales Tax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95,829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23,957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30,820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6,863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129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65,009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32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ns2:rowId val="1977473670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PU-49 - O/S M/P TRACK AND SIGNAL MNT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544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136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2,904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2,768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2,135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-2,360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534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368343347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PU-52 - Laptop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707170697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PU-60 - Fuel from Stock-Home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4,703,356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1,175,839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1,807,074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631,235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154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2,896,282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38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470365658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fr-FR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PU-72 - Central GST (CGST)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32,329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8,082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26,728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18,646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331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5,601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83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28693005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PU-73 - State GST (SGST)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31,932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7,983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26,728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18,745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335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5,204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84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480874377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PU-74 - Union Territory GST (UTGST)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851430169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PU-75 - Integrated GST (IGST)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26,098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6,524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25,910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19,386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397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188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99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ns2:rowId val="4035576184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PU-98 - Credit or Recoveries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-1,652,821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-413,205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-268,121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145,084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65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-1,384,700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>
                          <a:effectLst/>
                          <a:latin typeface="Times New Roman" panose="02020603050405020304" pitchFamily="18" charset="0"/>
                        </a:rPr>
                        <a:t>16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454531350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PU-99 - OE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1,797,579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449,395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1,763,761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1,314,366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392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33,818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98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ns2:rowId val="3223075286"/>
                  </a:ext>
                </a:extLst>
              </a:tr>
              <a:tr h="36904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1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16,275,308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4,068,827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6,597,290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2,528,463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162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100" b="1" i="0" u="none" strike="noStrike">
                          <a:effectLst/>
                          <a:latin typeface="Times New Roman" panose="02020603050405020304" pitchFamily="18" charset="0"/>
                        </a:rPr>
                        <a:t>9,678,018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4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41</a:t>
                      </a:r>
                    </a:p>
                  </a:txBody>
                  <a:tcPr marL="6800" marR="6800" marT="680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ns2:rowId val="3223075286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ns2:creationId id="{ABB133A3-F682-4022-B99E-4B432580E54E}"/>
              </a:ext>
            </a:extLst>
          </p:cNvPr>
          <p:cNvSpPr txBox="1">
            <a:spLocks/>
          </p:cNvSpPr>
          <p:nvPr/>
        </p:nvSpPr>
        <p:spPr>
          <a:xfrm>
            <a:off x="1086643" y="1"/>
            <a:ext cx="10018713" cy="693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3600" b="1" dirty="0">
                <a:solidFill>
                  <a:srgbClr val="003366"/>
                </a:solidFill>
                <a:latin typeface="Times New Roman" panose="02020603050405020304" pitchFamily="18" charset="0"/>
              </a:rPr>
              <a:t>PU Wise - Non-Staff (Part 2)</a:t>
            </a:r>
            <a:endParaRPr lang="en-IN" sz="7200" dirty="0"/>
          </a:p>
        </p:txBody>
      </p:sp>
      <p:sp>
        <p:nvSpPr>
          <p:cNvPr id="6" name="TextBox 5">
            <a:extLst>
              <a:ext uri="{FF2B5EF4-FFF2-40B4-BE49-F238E27FC236}">
                <ns2:creationId id="{842BB9F5-71CD-4A2C-B1DF-34EA26F9F01D}"/>
              </a:ext>
            </a:extLst>
          </p:cNvPr>
          <p:cNvSpPr txBox="1"/>
          <p:nvPr/>
        </p:nvSpPr>
        <p:spPr>
          <a:xfrm>
            <a:off x="9343698" y="287406"/>
            <a:ext cx="240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436508281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F230738E-E267-4B69-B925-9D150C098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5174" y="111082"/>
            <a:ext cx="10018713" cy="639097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/ SMH Wise Previous Year Comparison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ns2:creationId id="{F2A23CF3-BFF8-4333-BE68-4D6A8FD43C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804757020"/>
              </p:ext>
            </p:extLst>
          </p:nvPr>
        </p:nvGraphicFramePr>
        <p:xfrm>
          <a:off x="1455174" y="747255"/>
          <a:ext cx="10308944" cy="562407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88618">
                  <a:extLst>
                    <a:ext uri="{9D8B030D-6E8A-4147-A177-3AD203B41FA5}">
                      <ns2:colId val="2671810648"/>
                    </a:ext>
                  </a:extLst>
                </a:gridCol>
                <a:gridCol w="1288618">
                  <a:extLst>
                    <a:ext uri="{9D8B030D-6E8A-4147-A177-3AD203B41FA5}">
                      <ns2:colId val="398794330"/>
                    </a:ext>
                  </a:extLst>
                </a:gridCol>
                <a:gridCol w="1288618">
                  <a:extLst>
                    <a:ext uri="{9D8B030D-6E8A-4147-A177-3AD203B41FA5}">
                      <ns2:colId val="593037145"/>
                    </a:ext>
                  </a:extLst>
                </a:gridCol>
                <a:gridCol w="1288618">
                  <a:extLst>
                    <a:ext uri="{9D8B030D-6E8A-4147-A177-3AD203B41FA5}">
                      <ns2:colId val="2245698325"/>
                    </a:ext>
                  </a:extLst>
                </a:gridCol>
                <a:gridCol w="1288618">
                  <a:extLst>
                    <a:ext uri="{9D8B030D-6E8A-4147-A177-3AD203B41FA5}">
                      <ns2:colId val="4198348844"/>
                    </a:ext>
                  </a:extLst>
                </a:gridCol>
                <a:gridCol w="1288618">
                  <a:extLst>
                    <a:ext uri="{9D8B030D-6E8A-4147-A177-3AD203B41FA5}">
                      <ns2:colId val="1591198250"/>
                    </a:ext>
                  </a:extLst>
                </a:gridCol>
                <a:gridCol w="1288618">
                  <a:extLst>
                    <a:ext uri="{9D8B030D-6E8A-4147-A177-3AD203B41FA5}">
                      <ns2:colId val="1261788368"/>
                    </a:ext>
                  </a:extLst>
                </a:gridCol>
                <a:gridCol w="1288618">
                  <a:extLst>
                    <a:ext uri="{9D8B030D-6E8A-4147-A177-3AD203B41FA5}">
                      <ns2:colId val="3226160255"/>
                    </a:ext>
                  </a:extLst>
                </a:gridCol>
                <a:gridCol w="1288618">
                  <a:extLst>
                    <a:ext uri="{9D8B030D-6E8A-4147-A177-3AD203B41FA5}">
                      <ns2:colId val="3226160255"/>
                    </a:ext>
                  </a:extLst>
                </a:gridCol>
              </a:tblGrid>
              <a:tr h="397016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/ SMH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Current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Previous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 BP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Actual Expense Variation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974619520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03/01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665,629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166,407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176,892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162,725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10,485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14,167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205223064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04/02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3,847,643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961,911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1,105,969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976,233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144,058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129,736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345991909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05/03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2,090,612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522,653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273,692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489,526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-248,961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-215,834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6911331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06/04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1,494,173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373,543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597,994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413,323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224,451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184,671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67376667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07/05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2,214,697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553,674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601,800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515,902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48,126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85,898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08758599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08/06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3,934,040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983,510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1,217,151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929,896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233,641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287,255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092601854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09/07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4,981,857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1,245,464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1,324,118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1,204,668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78,654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119,450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791720480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10/08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12,766,553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3,191,638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3,481,717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3,091,834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290,079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389,883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521518790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11/09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1,251,847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312,962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670,966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598,673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358,004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72,293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69920162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12/10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991,836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247,959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260,992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233,573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13,033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27,419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31363685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13/11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1,103,187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275,797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318,734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299,663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42,937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116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19,071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128149925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32886" marR="32886" marT="16443" marB="16443" anchor="ctr"/>
                </a:tc>
              </a:tr>
              <a:tr h="397016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 12N/10N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-190,700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-47,675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1,463,486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1,526,263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1,511,161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-3,070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-62,777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1338410677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-767</a:t>
                      </a:r>
                    </a:p>
                  </a:txBody>
                  <a:tcPr marL="32886" marR="32886" marT="16443" marB="16443" anchor="ctr"/>
                </a:tc>
              </a:tr>
              <a:tr h="226867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35,151,374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8,787,844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11,493,511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10,442,279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2,705,668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131</a:t>
                      </a:r>
                    </a:p>
                  </a:txBody>
                  <a:tcPr marL="32886" marR="32886" marT="16443" marB="16443" anchor="ctr"/>
                </a:tc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1,051,232</a:t>
                      </a:r>
                    </a:p>
                  </a:txBody>
                  <a:tcPr marL="32886" marR="32886" marT="16443" marB="16443" anchor="ctr"/>
                </a:tc>
                <a:extLst>
                  <a:ext uri="{0D108BD9-81ED-4DB2-BD59-A6C34878D82A}">
                    <ns2:rowId val="2694299165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</a:t>
                      </a:r>
                    </a:p>
                  </a:txBody>
                  <a:tcPr marL="32886" marR="32886" marT="16443" marB="16443" anchor="ctr"/>
                </a:tc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9B7BA12E-6DF1-4FB3-BB48-A2CD737A60E0}"/>
              </a:ext>
            </a:extLst>
          </p:cNvPr>
          <p:cNvSpPr txBox="1"/>
          <p:nvPr/>
        </p:nvSpPr>
        <p:spPr>
          <a:xfrm>
            <a:off x="8975835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109852338"/>
      </p:ext>
    </p:extLst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4D15637-AA8D-499E-A33D-355AD3D5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076" y="58990"/>
            <a:ext cx="6047201" cy="717755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Wise Previous Year Comparison (Part 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4C76AF1C-C815-412C-A687-D65333CA4C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715154439"/>
              </p:ext>
            </p:extLst>
          </p:nvPr>
        </p:nvGraphicFramePr>
        <p:xfrm>
          <a:off x="1258528" y="875071"/>
          <a:ext cx="10530352" cy="556506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16294">
                  <a:extLst>
                    <a:ext uri="{9D8B030D-6E8A-4147-A177-3AD203B41FA5}">
                      <ns2:colId val="1239790493"/>
                    </a:ext>
                  </a:extLst>
                </a:gridCol>
                <a:gridCol w="1316294">
                  <a:extLst>
                    <a:ext uri="{9D8B030D-6E8A-4147-A177-3AD203B41FA5}">
                      <ns2:colId val="2802333530"/>
                    </a:ext>
                  </a:extLst>
                </a:gridCol>
                <a:gridCol w="1316294">
                  <a:extLst>
                    <a:ext uri="{9D8B030D-6E8A-4147-A177-3AD203B41FA5}">
                      <ns2:colId val="952834949"/>
                    </a:ext>
                  </a:extLst>
                </a:gridCol>
                <a:gridCol w="1316294">
                  <a:extLst>
                    <a:ext uri="{9D8B030D-6E8A-4147-A177-3AD203B41FA5}">
                      <ns2:colId val="3402646669"/>
                    </a:ext>
                  </a:extLst>
                </a:gridCol>
                <a:gridCol w="1316294">
                  <a:extLst>
                    <a:ext uri="{9D8B030D-6E8A-4147-A177-3AD203B41FA5}">
                      <ns2:colId val="3727906630"/>
                    </a:ext>
                  </a:extLst>
                </a:gridCol>
                <a:gridCol w="1316294">
                  <a:extLst>
                    <a:ext uri="{9D8B030D-6E8A-4147-A177-3AD203B41FA5}">
                      <ns2:colId val="2280596706"/>
                    </a:ext>
                  </a:extLst>
                </a:gridCol>
                <a:gridCol w="1316294">
                  <a:extLst>
                    <a:ext uri="{9D8B030D-6E8A-4147-A177-3AD203B41FA5}">
                      <ns2:colId val="1801743421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</a:tblGrid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Current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Previous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Actual Expense Variation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596447904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PU-01 - Sal/Wag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7,074,279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1,768,570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1,830,978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1,828,626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62,408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2,352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656674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PU-02 - DA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4,420,234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1,105,058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1,188,851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1,090,294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83,792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98,557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586232237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PU-03 - PLB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289,831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72,458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82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-72,376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-117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06981636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PU-04 - HRA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824,912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206,228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201,302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199,984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-4,926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1,318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3588671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PU-07 - TPA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506,019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126,505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130,168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127,133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3,663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3,035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99587533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PU-08 - NPS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1,100,183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275,046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318,409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299,025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43,363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19,384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14529981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PU-10 - KMA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765,522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191,380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218,804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191,396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27,424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27,408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48181630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PU-11 - OT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96,309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24,077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43,958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49,721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19,881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-5,763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89250359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PU-12 - NDA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280,806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70,202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73,688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70,151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3,486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3,537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9991479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PU-13 - OA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551,574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137,894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115,964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114,511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-21,930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1,453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69414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PU-14 - FEES &amp; HON.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4,686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1,172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-818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106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79147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PU-15 - TA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19,866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4,966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8,861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-3,467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PU-16 - TE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523,466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130,866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130,831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121,502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9,329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PU-17 - ATPP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2,260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565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-565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PU-18 - OE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8,037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-2,009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D6E765E4-6569-4A66-A3D2-BFF40CB2FCB5}"/>
              </a:ext>
            </a:extLst>
          </p:cNvPr>
          <p:cNvSpPr txBox="1"/>
          <p:nvPr/>
        </p:nvSpPr>
        <p:spPr>
          <a:xfrm>
            <a:off x="9165022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786117796"/>
      </p:ext>
    </p:extLst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4D15637-AA8D-499E-A33D-355AD3D5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076" y="58990"/>
            <a:ext cx="6047201" cy="717755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Wise Previous Year Comparison (Part 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4C76AF1C-C815-412C-A687-D65333CA4C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715154439"/>
              </p:ext>
            </p:extLst>
          </p:nvPr>
        </p:nvGraphicFramePr>
        <p:xfrm>
          <a:off x="1258528" y="875071"/>
          <a:ext cx="10530352" cy="556506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16294">
                  <a:extLst>
                    <a:ext uri="{9D8B030D-6E8A-4147-A177-3AD203B41FA5}">
                      <ns2:colId val="1239790493"/>
                    </a:ext>
                  </a:extLst>
                </a:gridCol>
                <a:gridCol w="1316294">
                  <a:extLst>
                    <a:ext uri="{9D8B030D-6E8A-4147-A177-3AD203B41FA5}">
                      <ns2:colId val="2802333530"/>
                    </a:ext>
                  </a:extLst>
                </a:gridCol>
                <a:gridCol w="1316294">
                  <a:extLst>
                    <a:ext uri="{9D8B030D-6E8A-4147-A177-3AD203B41FA5}">
                      <ns2:colId val="952834949"/>
                    </a:ext>
                  </a:extLst>
                </a:gridCol>
                <a:gridCol w="1316294">
                  <a:extLst>
                    <a:ext uri="{9D8B030D-6E8A-4147-A177-3AD203B41FA5}">
                      <ns2:colId val="3402646669"/>
                    </a:ext>
                  </a:extLst>
                </a:gridCol>
                <a:gridCol w="1316294">
                  <a:extLst>
                    <a:ext uri="{9D8B030D-6E8A-4147-A177-3AD203B41FA5}">
                      <ns2:colId val="3727906630"/>
                    </a:ext>
                  </a:extLst>
                </a:gridCol>
                <a:gridCol w="1316294">
                  <a:extLst>
                    <a:ext uri="{9D8B030D-6E8A-4147-A177-3AD203B41FA5}">
                      <ns2:colId val="2280596706"/>
                    </a:ext>
                  </a:extLst>
                </a:gridCol>
                <a:gridCol w="1316294">
                  <a:extLst>
                    <a:ext uri="{9D8B030D-6E8A-4147-A177-3AD203B41FA5}">
                      <ns2:colId val="1801743421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</a:tblGrid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Current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Previous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Actual Expense Variation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596447904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PU-19 - Phone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-152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656674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PU-20 - Leave Salary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14,388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3,597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8,191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6,924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1,267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586232237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PU-21 - Adv Expenses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2,848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712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521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-191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521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06981636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PU-22 - Util(excl. elec.)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3588671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PU-23 - Rental Office Equip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99587533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PU-24 - Printing and Stnry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14529981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PU-25 - Children Edu. Allow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364,718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91,180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318,899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326,556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227,720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-7,657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48181630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87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PU-26 - Medical Expenses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321,438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80,360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102,851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96,272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22,492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6,579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89250359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PU-27 - Materials from stock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1,445,603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361,401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588,298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278,101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226,897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310,197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9991479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PU-28 - Materials-Dir. purchase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223,635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55,909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42,862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52,514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-13,047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-9,652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69414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PU-29 - Remu. Re-engaged Staff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121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79147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PU-30 - Cost Of Elec. Energy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3,659,596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914,899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1,014,184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918,591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99,285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95,593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PU-31 - OF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154,625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38,656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22,763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19,556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-15,893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3,207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PU-32 - CP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3,775,796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943,949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966,862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956,004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22,913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10,858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PU-33 - TRDC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3,391,480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847,870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534,260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718,166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-313,610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-183,906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</a:txBody>
                  <a:tcPr marL="44631" marR="44631" marT="22316" marB="22316" anchor="ctr"/>
                </a:tc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D6E765E4-6569-4A66-A3D2-BFF40CB2FCB5}"/>
              </a:ext>
            </a:extLst>
          </p:cNvPr>
          <p:cNvSpPr txBox="1"/>
          <p:nvPr/>
        </p:nvSpPr>
        <p:spPr>
          <a:xfrm>
            <a:off x="9165022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786117796"/>
      </p:ext>
    </p:extLst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4D15637-AA8D-499E-A33D-355AD3D5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8076" y="58990"/>
            <a:ext cx="6047201" cy="717755"/>
          </a:xfrm>
        </p:spPr>
        <p:txBody>
          <a:bodyPr>
            <a:norm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 Wise Previous Year Comparison (Part 3)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4C76AF1C-C815-412C-A687-D65333CA4C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715154439"/>
              </p:ext>
            </p:extLst>
          </p:nvPr>
        </p:nvGraphicFramePr>
        <p:xfrm>
          <a:off x="1258528" y="875071"/>
          <a:ext cx="10530352" cy="556506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316294">
                  <a:extLst>
                    <a:ext uri="{9D8B030D-6E8A-4147-A177-3AD203B41FA5}">
                      <ns2:colId val="1239790493"/>
                    </a:ext>
                  </a:extLst>
                </a:gridCol>
                <a:gridCol w="1316294">
                  <a:extLst>
                    <a:ext uri="{9D8B030D-6E8A-4147-A177-3AD203B41FA5}">
                      <ns2:colId val="2802333530"/>
                    </a:ext>
                  </a:extLst>
                </a:gridCol>
                <a:gridCol w="1316294">
                  <a:extLst>
                    <a:ext uri="{9D8B030D-6E8A-4147-A177-3AD203B41FA5}">
                      <ns2:colId val="952834949"/>
                    </a:ext>
                  </a:extLst>
                </a:gridCol>
                <a:gridCol w="1316294">
                  <a:extLst>
                    <a:ext uri="{9D8B030D-6E8A-4147-A177-3AD203B41FA5}">
                      <ns2:colId val="3402646669"/>
                    </a:ext>
                  </a:extLst>
                </a:gridCol>
                <a:gridCol w="1316294">
                  <a:extLst>
                    <a:ext uri="{9D8B030D-6E8A-4147-A177-3AD203B41FA5}">
                      <ns2:colId val="3727906630"/>
                    </a:ext>
                  </a:extLst>
                </a:gridCol>
                <a:gridCol w="1316294">
                  <a:extLst>
                    <a:ext uri="{9D8B030D-6E8A-4147-A177-3AD203B41FA5}">
                      <ns2:colId val="2280596706"/>
                    </a:ext>
                  </a:extLst>
                </a:gridCol>
                <a:gridCol w="1316294">
                  <a:extLst>
                    <a:ext uri="{9D8B030D-6E8A-4147-A177-3AD203B41FA5}">
                      <ns2:colId val="1801743421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  <a:gridCol w="1316294">
                  <a:extLst>
                    <a:ext uri="{9D8B030D-6E8A-4147-A177-3AD203B41FA5}">
                      <ns2:colId val="1558190990"/>
                    </a:ext>
                  </a:extLst>
                </a:gridCol>
              </a:tblGrid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Current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AE Previous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Variation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BP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Actual Expense Variation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596447904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 OBA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PU-36 - Excise Duty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203,822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50,956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11,736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33,908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-39,220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-22,172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656674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PU-38 - Sales Tax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161,025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40,256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30,820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25,560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-9,436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5,260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586232237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PU-39 - ATD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06981636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PU-42 - ARR SALARY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12,543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3,136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3,937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6,100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-2,163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3588671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PU-43 - ARR DA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8,631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2,158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1,855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2,416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-303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-561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99587533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PU-44 - ARR OTH ALW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22,378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5,594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200,441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10,169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194,846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3,583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190,272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145299812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896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PU-49 - O/S M/P TRACK AND SIGNAL MNT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2,904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2,707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1,472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2,904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481816309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368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PU-52 - Laptop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IN" sz="1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89250359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PU-53 - All India LTC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1,140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611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1,090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2,280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529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2999147903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PU-60 - Fuel from Stock-Home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4,909,641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1,227,410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1,807,074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1,323,279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579,664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483,795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169414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</a:t>
                      </a:r>
                    </a:p>
                  </a:txBody>
                  <a:tcPr marL="44631" marR="44631" marT="22316" marB="22316" anchor="ctr"/>
                </a:tc>
              </a:tr>
              <a:tr h="534085">
                <a:tc>
                  <a:txBody>
                    <a:bodyPr/>
                    <a:lstStyle/>
                    <a:p>
                      <a:r>
                        <a:rPr lang="en-IN" sz="14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PU-72 - Central GST (CGST)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15,454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3,864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26,728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3,121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22,864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692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23,607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37914761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173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PU-73 - State GST (SGST)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15,459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3,865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26,728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3,120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22,863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692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23,608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173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PU-74 - Union Territory GST (UTGST)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PU-75 - Integrated GST (IGST)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15,534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3,884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25,910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4,532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22,026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21,378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167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PU-98 - Credit or Recoveries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-1,194,360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-298,590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-268,121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-284,598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30,469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16,477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PU-99 - OE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1,157,401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289,350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1,763,761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1,839,719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1,474,411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-75,958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152</a:t>
                      </a:r>
                    </a:p>
                  </a:txBody>
                  <a:tcPr marL="44631" marR="44631" marT="22316" marB="22316" anchor="ctr"/>
                </a:tc>
              </a:tr>
              <a:tr h="304411">
                <a:tc>
                  <a:txBody>
                    <a:bodyPr/>
                    <a:lstStyle/>
                    <a:p>
                      <a:r>
                        <a:rPr lang="en-IN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35,151,374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8,787,844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11,493,510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10,442,277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2,705,666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131</a:t>
                      </a:r>
                    </a:p>
                  </a:txBody>
                  <a:tcPr marL="44631" marR="44631" marT="22316" marB="22316" anchor="ctr"/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1,051,233</a:t>
                      </a:r>
                    </a:p>
                  </a:txBody>
                  <a:tcPr marL="44631" marR="44631" marT="22316" marB="22316" anchor="ctr"/>
                </a:tc>
                <a:extLst>
                  <a:ext uri="{0D108BD9-81ED-4DB2-BD59-A6C34878D82A}">
                    <ns2:rowId val="4070041066"/>
                  </a:ext>
                </a:extLst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</a:t>
                      </a:r>
                    </a:p>
                  </a:txBody>
                  <a:tcPr marL="44631" marR="44631" marT="22316" marB="22316" anchor="ctr"/>
                </a:tc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D6E765E4-6569-4A66-A3D2-BFF40CB2FCB5}"/>
              </a:ext>
            </a:extLst>
          </p:cNvPr>
          <p:cNvSpPr txBox="1"/>
          <p:nvPr/>
        </p:nvSpPr>
        <p:spPr>
          <a:xfrm>
            <a:off x="9165022" y="208779"/>
            <a:ext cx="278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786117796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564958C9-36FE-4666-A9F5-287DD881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4310" y="0"/>
            <a:ext cx="10018713" cy="776747"/>
          </a:xfrm>
        </p:spPr>
        <p:txBody>
          <a:bodyPr>
            <a:normAutofit/>
          </a:bodyPr>
          <a:lstStyle/>
          <a:p>
            <a:pPr algn="ctr"/>
            <a:r>
              <a:rPr lang="en-US" sz="3200" b="1" i="0" u="none" strike="noStrike" dirty="0">
                <a:solidFill>
                  <a:srgbClr val="00336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LINE FR Report</a:t>
            </a: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BF789696-4C52-4FD4-AA10-C0D4920A6A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4109916967"/>
              </p:ext>
            </p:extLst>
          </p:nvPr>
        </p:nvGraphicFramePr>
        <p:xfrm>
          <a:off x="1238865" y="776747"/>
          <a:ext cx="10451690" cy="5742035"/>
        </p:xfrm>
        <a:graphic>
          <a:graphicData uri="http://schemas.openxmlformats.org/drawingml/2006/table">
            <a:tbl>
              <a:tblPr/>
              <a:tblGrid>
                <a:gridCol w="792633">
                  <a:extLst>
                    <a:ext uri="{9D8B030D-6E8A-4147-A177-3AD203B41FA5}">
                      <ns2:colId val="2279500941"/>
                    </a:ext>
                  </a:extLst>
                </a:gridCol>
                <a:gridCol w="2894032">
                  <a:extLst>
                    <a:ext uri="{9D8B030D-6E8A-4147-A177-3AD203B41FA5}">
                      <ns2:colId val="25716110"/>
                    </a:ext>
                  </a:extLst>
                </a:gridCol>
                <a:gridCol w="1751164">
                  <a:extLst>
                    <a:ext uri="{9D8B030D-6E8A-4147-A177-3AD203B41FA5}">
                      <ns2:colId val="1480489734"/>
                    </a:ext>
                  </a:extLst>
                </a:gridCol>
                <a:gridCol w="1751164">
                  <a:extLst>
                    <a:ext uri="{9D8B030D-6E8A-4147-A177-3AD203B41FA5}">
                      <ns2:colId val="620414281"/>
                    </a:ext>
                  </a:extLst>
                </a:gridCol>
                <a:gridCol w="1935498">
                  <a:extLst>
                    <a:ext uri="{9D8B030D-6E8A-4147-A177-3AD203B41FA5}">
                      <ns2:colId val="2770356795"/>
                    </a:ext>
                  </a:extLst>
                </a:gridCol>
                <a:gridCol w="1327199">
                  <a:extLst>
                    <a:ext uri="{9D8B030D-6E8A-4147-A177-3AD203B41FA5}">
                      <ns2:colId val="2088836457"/>
                    </a:ext>
                  </a:extLst>
                </a:gridCol>
              </a:tblGrid>
              <a:tr h="530369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Plan Head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Plan Head Name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SBA 2026-27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AE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Variation (AE - SBA)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% SBA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ns2:rowId val="1408795537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1600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Traffic facility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160,903.00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26,747.00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-134,156.00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16.62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4213388283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1700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Computerization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32,227.00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3,375.00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-28,852.00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10.47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951946638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2900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Level crossing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120,318.00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45,115.00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-75,203.00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37.50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558090607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3000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Road over/under Bridge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507,420.00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280,081.00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-227,339.00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55.20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63671212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3100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Track renewal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2,962,795.00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2,309,920.00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-652,875.00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77.96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503103511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3200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Bridge work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132,267.00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117,471.00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-14,796.00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88.81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456057338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3300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S&amp;T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522,843.00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83,786.00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-439,057.00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16.03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981195039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3600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Other electric works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307,843.00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77,718.00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-230,125.00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25.25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079822977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3700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Traction Dist. works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858353665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4100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Machine and plants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13,194.00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1,919.00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-11,275.00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14.54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733426400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4200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Workshop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53,702.00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2,426.00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-51,276.00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4.52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988710632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5100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Staff Welfare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97,500.00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22,047.00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-75,453.00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22.61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310119990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Customer(Passenger) amenities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310,912.00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125,504.00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-185,408.00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40.37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075113014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6200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Inv. In Govt. comm Public Un.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723434575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6400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Other specified works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315,733.00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71,352.00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-244,381.00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22.60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477611038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/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OSW (CAPIN)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64,034.00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-64,034.00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778505607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6500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Training/HRD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6,010.00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-6,010.00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1436850140"/>
                  </a:ext>
                </a:extLst>
              </a:tr>
              <a:tr h="289537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Total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/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5,607,701.00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3,167,461.00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-2,440,240.00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6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56.48</a:t>
                      </a:r>
                    </a:p>
                  </a:txBody>
                  <a:tcPr marL="5889" marR="5889" marT="588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F7"/>
                    </a:solidFill>
                  </a:tcPr>
                </a:tc>
                <a:extLst>
                  <a:ext uri="{0D108BD9-81ED-4DB2-BD59-A6C34878D82A}">
                    <ns2:rowId val="414417848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3D8769DA-955A-4FE8-BF50-B15F3023F06E}"/>
              </a:ext>
            </a:extLst>
          </p:cNvPr>
          <p:cNvSpPr txBox="1"/>
          <p:nvPr/>
        </p:nvSpPr>
        <p:spPr>
          <a:xfrm>
            <a:off x="9343698" y="287406"/>
            <a:ext cx="240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2077728567"/>
      </p:ext>
    </p:extLst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71E38019-44BC-4E0A-8B50-A7DFCEF37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5821" y="0"/>
            <a:ext cx="10018713" cy="58256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i="0" u="none" strike="noStrike" dirty="0">
                <a:solidFill>
                  <a:srgbClr val="003366"/>
                </a:solidFill>
                <a:effectLst/>
                <a:latin typeface="Times New Roman" panose="02020603050405020304" pitchFamily="18" charset="0"/>
              </a:rPr>
              <a:t>OPEN LINE FR - Fund Wise</a:t>
            </a:r>
            <a:endParaRPr lang="en-IN" sz="60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ns2:creationId id="{C6928778-5A3A-4D4B-B6B3-3336193338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ns3:modId val="2524314685"/>
              </p:ext>
            </p:extLst>
          </p:nvPr>
        </p:nvGraphicFramePr>
        <p:xfrm>
          <a:off x="1395821" y="1209368"/>
          <a:ext cx="9685133" cy="4424520"/>
        </p:xfrm>
        <a:graphic>
          <a:graphicData uri="http://schemas.openxmlformats.org/drawingml/2006/table">
            <a:tbl>
              <a:tblPr/>
              <a:tblGrid>
                <a:gridCol w="1829990">
                  <a:extLst>
                    <a:ext uri="{9D8B030D-6E8A-4147-A177-3AD203B41FA5}">
                      <ns2:colId val="479235537"/>
                    </a:ext>
                  </a:extLst>
                </a:gridCol>
                <a:gridCol w="1640085">
                  <a:extLst>
                    <a:ext uri="{9D8B030D-6E8A-4147-A177-3AD203B41FA5}">
                      <ns2:colId val="2944235294"/>
                    </a:ext>
                  </a:extLst>
                </a:gridCol>
                <a:gridCol w="1640085">
                  <a:extLst>
                    <a:ext uri="{9D8B030D-6E8A-4147-A177-3AD203B41FA5}">
                      <ns2:colId val="4168187702"/>
                    </a:ext>
                  </a:extLst>
                </a:gridCol>
                <a:gridCol w="1640085">
                  <a:extLst>
                    <a:ext uri="{9D8B030D-6E8A-4147-A177-3AD203B41FA5}">
                      <ns2:colId val="2380996168"/>
                    </a:ext>
                  </a:extLst>
                </a:gridCol>
                <a:gridCol w="1467444">
                  <a:extLst>
                    <a:ext uri="{9D8B030D-6E8A-4147-A177-3AD203B41FA5}">
                      <ns2:colId val="1064714628"/>
                    </a:ext>
                  </a:extLst>
                </a:gridCol>
                <a:gridCol w="1467444">
                  <a:extLst>
                    <a:ext uri="{9D8B030D-6E8A-4147-A177-3AD203B41FA5}">
                      <ns2:colId val="2794646735"/>
                    </a:ext>
                  </a:extLst>
                </a:gridCol>
              </a:tblGrid>
              <a:tr h="553065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Fund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SBA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AE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Available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Expensed 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200" b="1" i="0" u="none" strike="noStrike">
                          <a:solidFill>
                            <a:srgbClr val="FFFFFF"/>
                          </a:solidFill>
                          <a:effectLst/>
                          <a:latin typeface="Times New Roman" panose="02020603050405020304" pitchFamily="18" charset="0"/>
                        </a:rPr>
                        <a:t>Remaining %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ns2:rowId val="125441746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CAP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1,018,353.00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262,411.00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755,942.00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25.77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74.23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639534468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DRF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40,232.00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12,646.00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27,586.00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31.43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68.57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733026837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DF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130,592.00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8,107.00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122,485.00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6.21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93.79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818484055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CAPITAL FUND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4105127040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S FUND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3,117,515.00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2,386,001.00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731,514.00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76.54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 dirty="0">
                          <a:effectLst/>
                          <a:highlight>
                            <a:srgbClr val="FFFF00"/>
                          </a:highlight>
                          <a:latin typeface="Times New Roman" panose="02020603050405020304" pitchFamily="18" charset="0"/>
                        </a:rPr>
                        <a:t>23.46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2780493007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EBR-(S)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>
                          <a:effectLst/>
                          <a:latin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588445391"/>
                  </a:ext>
                </a:extLst>
              </a:tr>
              <a:tr h="553065">
                <a:tc>
                  <a:txBody>
                    <a:bodyPr/>
                    <a:lstStyle/>
                    <a:p>
                      <a:pPr algn="l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RRSK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1,301,009.00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498,296.00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802,713.00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0" i="0" u="none" strike="noStrike">
                          <a:effectLst/>
                          <a:latin typeface="Times New Roman" panose="02020603050405020304" pitchFamily="18" charset="0"/>
                        </a:rPr>
                        <a:t>38.30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IN" sz="1200" b="1" i="0" u="none" strike="noStrike" dirty="0">
                          <a:effectLst/>
                          <a:latin typeface="Times New Roman" panose="02020603050405020304" pitchFamily="18" charset="0"/>
                        </a:rPr>
                        <a:t>61.70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ns2:rowId val="36797517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ns2:creationId id="{4D02751B-C9B8-446B-82F6-BDFA5DB61E03}"/>
              </a:ext>
            </a:extLst>
          </p:cNvPr>
          <p:cNvSpPr txBox="1"/>
          <p:nvPr/>
        </p:nvSpPr>
        <p:spPr>
          <a:xfrm>
            <a:off x="9343698" y="287406"/>
            <a:ext cx="240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Figures in thousands.</a:t>
            </a:r>
          </a:p>
        </p:txBody>
      </p:sp>
    </p:spTree>
    <p:extLst>
      <p:ext uri="{BB962C8B-B14F-4D97-AF65-F5344CB8AC3E}">
        <ns3:creationId val="84972324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139</TotalTime>
  <Words>1164</Words>
  <Application>Microsoft Office PowerPoint</Application>
  <PresentationFormat>Widescreen</PresentationFormat>
  <Paragraphs>694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Demand / SMH Wise</vt:lpstr>
      <vt:lpstr>PU Wise – Staff (Part 1)</vt:lpstr>
      <vt:lpstr>PU Wise ( Staff) Part 2</vt:lpstr>
      <vt:lpstr>PU Wise - NON-STAFF Part 1</vt:lpstr>
      <vt:lpstr>PowerPoint Presentation</vt:lpstr>
      <vt:lpstr>OPEN LINE FR Report </vt:lpstr>
      <vt:lpstr>OPEN LINE FR – Fund Wise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girish</cp:lastModifiedBy>
  <cp:revision>15</cp:revision>
  <dcterms:created xsi:type="dcterms:W3CDTF">2026-07-10T14:38:31Z</dcterms:created>
  <dcterms:modified xsi:type="dcterms:W3CDTF">2026-07-11T06:31:04Z</dcterms:modified>
</cp:coreProperties>
</file>