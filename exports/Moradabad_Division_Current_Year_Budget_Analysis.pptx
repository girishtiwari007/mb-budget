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  <p:sldId id="269" r:id="rIdSlide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Relationship Id="rIdSlide14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B5159-584C-4350-86DF-1495789B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3265" y="1163758"/>
            <a:ext cx="8574622" cy="2616199"/>
          </a:xfrm>
        </p:spPr>
        <p:txBody>
          <a:bodyPr>
            <a:normAutofit fontScale="90000"/>
          </a:bodyPr>
          <a:lstStyle/>
          <a:p>
            <a:pPr algn="ctr">
              <a:buNone/>
            </a:pPr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Moradabad Division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Accounts Dept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FY – 2026-2027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7B258E-CB94-4952-9FB8-D735A3626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9970" y="3779957"/>
            <a:ext cx="6987645" cy="1388534"/>
          </a:xfrm>
        </p:spPr>
        <p:txBody>
          <a:bodyPr>
            <a:normAutofit fontScale="92500" lnSpcReduction="10000"/>
          </a:bodyPr>
          <a:lstStyle/>
          <a:p>
            <a:pPr algn="ctr">
              <a:buNone/>
            </a:pPr>
            <a:r>
              <a:rPr sz="2400" b="1" dirty="0">
                <a:solidFill>
                  <a:schemeClr val="accent2">
                    <a:lumMod val="50000"/>
                  </a:schemeClr>
                </a:solidFill>
              </a:rPr>
              <a:t>Budget &amp; FR Analysis (2026‑27)</a:t>
            </a:r>
            <a:r>
              <a:rPr sz="2400" dirty="0">
                <a:solidFill>
                  <a:schemeClr val="accent2">
                    <a:lumMod val="50000"/>
                  </a:schemeClr>
                </a:solidFill>
              </a:rPr>
              <a:t> </a:t>
            </a:r>
          </a:p>
          <a:p>
            <a:pPr algn="ctr">
              <a:buNone/>
            </a:pPr>
            <a:r>
              <a:rPr sz="2400" i="1" dirty="0">
                <a:solidFill>
                  <a:schemeClr val="accent2">
                    <a:lumMod val="50000"/>
                  </a:schemeClr>
                </a:solidFill>
              </a:rPr>
              <a:t>Current Year &amp; Fund Review</a:t>
            </a:r>
          </a:p>
          <a:p>
            <a:pPr algn="ctr">
              <a:buNone/>
            </a:pPr>
            <a:r>
              <a:rPr sz="3200" b="1" dirty="0">
                <a:solidFill>
                  <a:schemeClr val="accent2">
                    <a:lumMod val="50000"/>
                  </a:schemeClr>
                </a:solidFill>
              </a:rPr>
              <a:t>As on 19.10.2026</a:t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endParaRPr sz="32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389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SEP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2026-10-27T11:36:19+05:30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643,222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3,809,302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1,904,651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221,723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1,682,928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168.29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2,111,950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211.19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919,540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1,007,778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4,504,666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2,252,333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225.23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350,268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1,902,065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4,363,636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436.36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465,128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32,925,873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3292.59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16,462,936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1646.29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3,455,384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345.54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13,007,552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SEP 2026 | uploaded 2026-10-27T11:36:19+05:30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370,825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642,594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638,971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646,216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SEP 2026 | uploaded 2026-10-27T11:36:19+05:30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9,253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1630.75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8,153,760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815.38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9,422,814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942.28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1,269,054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126.91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6,884,706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688.47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SEP 2026 | uploaded 2026-10-27T11:36:19+05:30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63,346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96,174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107,411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1,557,936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155.79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3,541,910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1,770,955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254,733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1,516,222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1,312,720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131.27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1,229,411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-47,711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125,485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SEP 2026 | uploaded 2026-10-27T11:36:19+05:30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47,914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23,680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-9,876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1,307,618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16,164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-12,239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-22,255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-826,410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-675,020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-977,801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-97.78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898,790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2,347,202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1,448,412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-549,623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-54.96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16,605,308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1660.53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8,302,654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12,086,633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1208.66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3,783,979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378.40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4,518,675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451.87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2026-10-27T11:36:19+05:30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707.43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3,537,140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3,647,498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41,627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2,210,117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214.14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212,944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144,916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288,231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-288,159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82.49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412,456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399,203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253,010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251,457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550,092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642,594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638,971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38,271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382,761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394,125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42,965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-19,908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140,403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316,696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2026-10-27T11:36:19+05:30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261,733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2026-10-27T11:36:19+05:30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182,359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367,469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160,719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187,455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722,802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651,647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353,759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119,235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96,174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-34,299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1,980,644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340,144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66,303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1,887,898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1,835,153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3,541,910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1,770,955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254,733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190,535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1,695,740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1,443,317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1,312,720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131.27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1,229,411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-213,906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2026-10-27T11:36:19+05:30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101,911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-47,711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-53,533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60,984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47,914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-6,886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212,927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490.96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245.48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2,599,753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795,985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79.60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2026-10-27T11:36:19+05:30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16,164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33,814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33,815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36,143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-597,180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-59.72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-616,604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-61.66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-826,410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-675,020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-58,416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115.74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578,700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2,364,956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898,790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2,347,202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1,448,412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-17,754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17,575,687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1757.57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19,722,992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1972.30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32,912,828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3291.28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16,456,414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1645.64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21,509,447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2150.94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5,053,033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1,786,455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178.65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SEP 2026 | uploaded 2026-10-27T11:36:19+05:30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332,814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328,429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643,222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25,083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1,923,822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2,033,590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3,809,302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1,904,651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221,723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92,784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209.06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1,045,306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-213,035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149.42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747,086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802,687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247,417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1,107,348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1,095,173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2,111,950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211.19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97,237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393.40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1,967,020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1,911,829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432,959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498.19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2,490,928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249.09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2,518,387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4,504,666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2,252,333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225.23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350,268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84,214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1276.66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6,383,276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6,335,607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633.56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907,963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125.18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625,924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941,967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111,740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495,918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492,890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36,620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SEP 2026 | uploaded 2026-10-27T11:36:19+05:30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601,940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37,773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3534.21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17,671,037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1767.10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18,057,566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1805.76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32,925,873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3292.59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16,462,936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1646.29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3,455,384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345.54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1,860,755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186.08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-95,350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-9.54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1,665,478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-74,351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