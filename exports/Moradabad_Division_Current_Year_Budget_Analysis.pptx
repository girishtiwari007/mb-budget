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  <p:sldId id="263" r:id="rIdSlide8"/>
    <p:sldId id="264" r:id="rIdSlide9"/>
    <p:sldId id="265" r:id="rIdSlide10"/>
    <p:sldId id="266" r:id="rIdSlide11"/>
    <p:sldId id="267" r:id="rIdSlide12"/>
    <p:sldId id="268" r:id="rIdSlide13"/>
    <p:sldId id="269" r:id="rIdSlide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Relationship Id="rIdSlide8" Type="http://schemas.openxmlformats.org/officeDocument/2006/relationships/slide" Target="slides/slide8.xml"/><Relationship Id="rIdSlide9" Type="http://schemas.openxmlformats.org/officeDocument/2006/relationships/slide" Target="slides/slide9.xml"/><Relationship Id="rIdSlide10" Type="http://schemas.openxmlformats.org/officeDocument/2006/relationships/slide" Target="slides/slide10.xml"/><Relationship Id="rIdSlide11" Type="http://schemas.openxmlformats.org/officeDocument/2006/relationships/slide" Target="slides/slide11.xml"/><Relationship Id="rIdSlide12" Type="http://schemas.openxmlformats.org/officeDocument/2006/relationships/slide" Target="slides/slide12.xml"/><Relationship Id="rIdSlide13" Type="http://schemas.openxmlformats.org/officeDocument/2006/relationships/slide" Target="slides/slide13.xml"/><Relationship Id="rIdSlide14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B5159-584C-4350-86DF-1495789BEB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43265" y="1163758"/>
            <a:ext cx="8574622" cy="2616199"/>
          </a:xfrm>
        </p:spPr>
        <p:txBody>
          <a:bodyPr>
            <a:normAutofit fontScale="90000"/>
          </a:bodyPr>
          <a:lstStyle/>
          <a:p>
            <a:pPr algn="ctr">
              <a:buNone/>
            </a:pPr>
            <a:r>
              <a:rPr sz="8000" b="1">
                <a:solidFill>
                  <a:schemeClr val="accent2">
                    <a:lumMod val="50000"/>
                  </a:schemeClr>
                </a:solidFill>
              </a:rPr>
              <a:t>Moradabad Division</a:t>
            </a:r>
            <a:br/>
            <a:r>
              <a:rPr sz="8000" b="1">
                <a:solidFill>
                  <a:schemeClr val="accent2">
                    <a:lumMod val="50000"/>
                  </a:schemeClr>
                </a:solidFill>
              </a:rPr>
              <a:t>Accounts Dept</a:t>
            </a:r>
            <a:br/>
            <a:r>
              <a:rPr sz="8000" b="1">
                <a:solidFill>
                  <a:schemeClr val="accent2">
                    <a:lumMod val="50000"/>
                  </a:schemeClr>
                </a:solidFill>
              </a:rPr>
              <a:t>FY – 2026-2027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7B258E-CB94-4952-9FB8-D735A3626A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9970" y="3779957"/>
            <a:ext cx="6987645" cy="1388534"/>
          </a:xfrm>
        </p:spPr>
        <p:txBody>
          <a:bodyPr>
            <a:normAutofit fontScale="92500" lnSpcReduction="10000"/>
          </a:bodyPr>
          <a:lstStyle/>
          <a:p>
            <a:pPr algn="ctr">
              <a:buNone/>
            </a:pPr>
            <a:r>
              <a:rPr sz="2400" b="1" dirty="0">
                <a:solidFill>
                  <a:schemeClr val="accent2">
                    <a:lumMod val="50000"/>
                  </a:schemeClr>
                </a:solidFill>
              </a:rPr>
              <a:t>Budget &amp; FR Analysis (2026‑27)</a:t>
            </a:r>
            <a:r>
              <a:rPr sz="2400" dirty="0">
                <a:solidFill>
                  <a:schemeClr val="accent2">
                    <a:lumMod val="50000"/>
                  </a:schemeClr>
                </a:solidFill>
              </a:rPr>
              <a:t> </a:t>
            </a:r>
          </a:p>
          <a:p>
            <a:pPr algn="ctr">
              <a:buNone/>
            </a:pPr>
            <a:r>
              <a:rPr sz="2400" i="1" dirty="0">
                <a:solidFill>
                  <a:schemeClr val="accent2">
                    <a:lumMod val="50000"/>
                  </a:schemeClr>
                </a:solidFill>
              </a:rPr>
              <a:t>Current Year &amp; Fund Review</a:t>
            </a:r>
          </a:p>
          <a:p>
            <a:pPr algn="ctr">
              <a:buNone/>
            </a:pPr>
            <a:r>
              <a:rPr sz="3200" b="1" dirty="0">
                <a:solidFill>
                  <a:schemeClr val="accent2">
                    <a:lumMod val="50000"/>
                  </a:schemeClr>
                </a:solidFill>
              </a:rPr>
              <a:t>As on 19.10.2026</a:t>
            </a:r>
            <a:r>
              <a:rPr sz="3200" b="1">
                <a:solidFill>
                  <a:schemeClr val="accent2">
                    <a:lumMod val="50000"/>
                  </a:schemeClr>
                </a:solidFill>
              </a:rPr>
              <a:t/>
            </a:r>
            <a:r>
              <a:rPr lang="en-US" sz="3200" b="1">
                <a:solidFill>
                  <a:schemeClr val="accent2">
                    <a:lumMod val="50000"/>
                  </a:schemeClr>
                </a:solidFill>
              </a:rPr>
              <a:t/>
            </a:r>
            <a:r>
              <a:rPr sz="3200" b="1">
                <a:solidFill>
                  <a:schemeClr val="accent2">
                    <a:lumMod val="50000"/>
                  </a:schemeClr>
                </a:solidFill>
              </a:rPr>
              <a:t/>
            </a:r>
            <a:r>
              <a:rPr lang="en-US" sz="3200" b="1">
                <a:solidFill>
                  <a:schemeClr val="accent2">
                    <a:lumMod val="50000"/>
                  </a:schemeClr>
                </a:solidFill>
              </a:rPr>
              <a:t/>
            </a:r>
            <a:r>
              <a:rPr sz="3200" b="1">
                <a:solidFill>
                  <a:schemeClr val="accent2">
                    <a:lumMod val="50000"/>
                  </a:schemeClr>
                </a:solidFill>
              </a:rPr>
              <a:t/>
            </a:r>
            <a:endParaRPr sz="3200" b="1" dirty="0">
              <a:solidFill>
                <a:schemeClr val="accent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63894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Current / Previous Year Budget Analysis | Completed SEP 2026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SEP 2026 | uploaded 2026-10-19T14:05:55+05:30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42931"/>
                <a:gridCol w="2342969"/>
                <a:gridCol w="1234344"/>
                <a:gridCol w="1234344"/>
                <a:gridCol w="1234344"/>
                <a:gridCol w="1348636"/>
                <a:gridCol w="822896"/>
                <a:gridCol w="1348636"/>
                <a:gridCol w="822900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320,761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353,512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32,751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288,010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360.89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1,804,451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180.45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2,126,374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212.64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321,923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1,482,528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148.25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186.48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932,422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93.24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78.20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-150,390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-15.04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108.28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135.36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676,790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67.68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1,050,104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105.01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373,314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303,477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206.00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1,029,975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103.00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1,192,410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119.24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162,435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867,540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86.75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1,676,283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167.63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2,344,788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234.48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668,505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66.85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1,007,778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100.78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442.88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2,214,383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221.44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2,602,601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260.26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388,218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1,826,165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182.62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1160.72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5,803,603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580.36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7,243,570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724.36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1,439,967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144.00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4,363,636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436.36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696,416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69.64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1,053,707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105.37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357,291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339,125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33.91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497,319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529,510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32,191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465,128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46.51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645,534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639,713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63.97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-5,820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651,354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65.14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3259.59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16,297,936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1629.79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19,918,321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1991.83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3,620,384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362.04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12,677,552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1267.76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1,591,127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1,597,650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159.76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-24394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-1,604,172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-160.42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-12197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Staff Current Year - SEP 2026 | uploaded 2026-10-19T14:05:55+05:30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670.64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3,353,204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3,689,125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368.91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335,920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3,017,284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301.73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2,050,226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205.02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2,354,304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235.43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304,078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1,746,149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174.61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142,544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-142,472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-14.25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77.62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388,099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405,373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17,274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370,825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248,304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259,437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237,172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- 08 - NPS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1,285,187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128.52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642,594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638,971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63.90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-3,622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646,216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68.02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340,098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437,090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96,992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243,107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24.31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59,779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21,129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17,521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104,956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147,751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42,794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62,162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263,916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318,453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54,537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209,379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- 14 - FEES &amp; HON.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-1,284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8,024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13,236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5,212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2,812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154,040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265,224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111,184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42,857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Staff Current Year - SEP 2026 | uploaded 2026-10-19T14:05:55+05:30 (Rows 14-24)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- 17 - ATPP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- 20 - Leave Salary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18,623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9,312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6,768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189,709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195,227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-5,518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- 26 - Medical Expenses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384,392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192,196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196,798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4,602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187,594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- 29 - Remu. Re-engaged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- 39 - ATD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- 42 - ARR SALARY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25,882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12,941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5,890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-7,051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19,992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- 43 - ARR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12,005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-3,250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9,253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- 44 - ARR OTH ALW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11,589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224,748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218,954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3879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-213,159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-21.32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- 53 - All India LTC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-1,184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16,307,520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1630.75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8,153,760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815.38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9,422,814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942.28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1,269,054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126.91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6,884,706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688.47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Non Staff Current Year - SEP 2026 | uploaded 2026-10-19T14:05:55+05:30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- 18 - OE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-4,126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- 19 - Phone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- 21 - Adv Expenses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- 22 - Util(excl. elec.)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- 23 - Rental Office Equip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- 24 - Printing and Stnry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106.88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534,376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1,005,406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471,030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63,346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74,974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84,936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9,962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65,011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387.87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1,939,362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193.94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2,320,788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232.08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381,426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1,557,936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155.79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- 31 - OF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95,273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47,636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102,363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54,726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-7,090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325.43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1,627,155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162.72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2,025,688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202.57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398,533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39.85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1,228,622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122.86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- 33 - TRDC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2,625,440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262.54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1,312,720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131.27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1,229,411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122.94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-83,309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-8.33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1,396,029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- 36 - Excise Duty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155,548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77,774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30,063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-47,711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-4.77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125,485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Non Staff Current Year - SEP 2026 | uploaded 2026-10-19T14:05:55+05:30 (Rows 14-24)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- 38 - Sales Tax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95,829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47,914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72,149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24,234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2.42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23,680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- 49 - O/S M/P TRACK AND SIGNAL MNT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10,420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10,148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3831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-9,876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- 52 - Laptop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470.34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2,351,678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235.17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3,395,738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339.57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1,044,060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104.41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1,307,618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130.76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- 72 - Central GST (CGST)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32,329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16,164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44,568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28,404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-12,239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- 73 - State GST (SGST)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31,932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15,966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44,568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28,602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-12,636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- 74 - Union Territory GST (UTGST)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- 75 - Integrated GST (IGST)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26,098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13,049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48,353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35,304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-22,255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- 98 - Credit or Recoveries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-1,652,821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-165.28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-826,410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-82.64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-675,020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-67.50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151,390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-977,801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-97.78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- 99 - OE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1,797,579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179.76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898,790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89.88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2,347,202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234.72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1,448,412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144.84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-549,623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-54.96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16,275,308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1627.53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8,137,654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813.77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12,086,633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1208.66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3,948,979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394.90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4,188,675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418.87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SEP 2026 | uploaded 2026-10-19T14:05:55+05:30 (Rows 1-10)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7,074,279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707.43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3,537,140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353.71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3,647,498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364.75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670.64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3,353,204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3,689,125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368.91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335,920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41,627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4,420,234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442.02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2,210,117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221.01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2,141,360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214.14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2,050,226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205.02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2,354,304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235.43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304,078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212,944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289,831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144,916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288,231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142,544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-142,472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-14.25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-288,159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-28.82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824,912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82.49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412,456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399,203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39.92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77.62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388,099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405,373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17,274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6,170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506,019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253,010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251,457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248,304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259,437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7,980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- 08 - NPS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1,100,183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550,092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55.01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600,700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60.07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1,285,187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128.52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642,594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638,971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63.90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-3,622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38,271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765,522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76.55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382,761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394,125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39.41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68.02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340,098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437,090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96,992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42,965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96,309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48,154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79,687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59,779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21,129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-19,908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280,806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140,403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142,048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104,956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147,751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42,794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551,574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55.16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275,787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316,696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31.67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263,916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318,453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54,537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1,757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SEP 2026 | uploaded 2026-10-19T14:05:55+05:30 (Rows 11-20)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- 14 - FEES &amp; HON.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4,686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-1,284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19,866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9,933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13,798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8,024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13,236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5,212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523,466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261,733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259,486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154,040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265,224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111,184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- 17 - ATPP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- 18 - OE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8,037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4,018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-4,126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- 19 - Phone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- 20 - Leave Salary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14,388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7,194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10,173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18,623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9,312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6,768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5,906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- 21 - Adv Expenses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2,848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- 22 - Util(excl. elec.)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- 23 - Rental Office Equip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SEP 2026 | uploaded 2026-10-19T14:05:55+05:30 (Rows 21-30)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- 24 - Printing and Stnry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364,718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182,359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367,469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189,709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195,227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17,467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- 26 - Medical Expenses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321,438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160,719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187,455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384,392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192,196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196,798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4,602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9,343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1,445,603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144.56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722,802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72.28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651,647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65.16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106.88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534,376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1,005,406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471,030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353,759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223,635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111,818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119,235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11.92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74,974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84,936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9,962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-34,299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-3.43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- 29 - Remu. Re-engaged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3,659,596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365.96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1,829,798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182.98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1,980,644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198.06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387.87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1,939,362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193.94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2,320,788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232.08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381,426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340,144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- 31 - OF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154,625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36,060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95,273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47,636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102,363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54,726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66,303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3,775,796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377.58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1,887,898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188.79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1,835,153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183.52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325.43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1,627,155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162.72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2,025,688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202.57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398,533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39.85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190,535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- 33 - TRDC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3,391,480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339.15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1,695,740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169.57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1,443,317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144.33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2,625,440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262.54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1,312,720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131.27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1,229,411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122.94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-83,309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-8.33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-213,906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-21.39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SEP 2026 | uploaded 2026-10-19T14:05:55+05:30 (Rows 31-40)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- 36 - Excise Duty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203,822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101,911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83,596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155,548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77,774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30,063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-47,711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-4.77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-53,533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- 38 - Sales Tax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161,025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80,512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60,984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95,829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47,914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72,149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24,234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2.42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- 39 - ATD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- 42 - ARR SALARY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12,543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6,272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12,776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25,882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12,941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5,890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-7,051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-6,886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- 43 - ARR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8,631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4,316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5,227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12,005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-3,250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-2,475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- 44 - ARR OTH ALW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22,378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11,821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11,589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224,748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218,954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3879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212,927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- 49 - O/S M/P TRACK AND SIGNAL MNT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10,420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10,148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3831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10,418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- 52 - Laptop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- 53 - All India LTC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4,909,641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490.96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2,454,820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245.48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2,599,753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259.98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470.34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2,351,678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235.17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3,395,738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339.57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1,044,060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104.41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795,985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79.60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SEP 2026 | uploaded 2026-10-19T14:05:55+05:30 (Rows 41-47)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- 72 - Central GST (CGST)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7,727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10,754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32,329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16,164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44,568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28,404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33,814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- 73 - State GST (SGST)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7,730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10,753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31,932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15,966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44,568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28,602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33,815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- 74 - Union Territory GST (UTGST)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- 75 - Integrated GST (IGST)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15,534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7,767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12,210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26,098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13,049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48,353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35,304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36,143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- 98 - Credit or Recoveries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-1,194,360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-119.44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-597,180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-59.72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-616,604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-61.66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-1,652,821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-165.28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-826,410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-82.64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-675,020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-67.50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151,390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-58,416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- 99 - OE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1,157,401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115.74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578,700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57.87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2,364,956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236.50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1,797,579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179.76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898,790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89.88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2,347,202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234.72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1,448,412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144.84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-17,754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35,151,374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3515.14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17,575,687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1757.57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19,722,992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1972.30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32,582,828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3258.28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16,291,414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1629.14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21,509,447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2150.94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5,218,033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521.80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132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1,786,455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178.65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Previous Year Comparison - SEP 2026 | uploaded 2026-10-19T14:05:55+05:30 (Rows 1-10)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2687"/>
                <a:gridCol w="1795932"/>
                <a:gridCol w="946149"/>
                <a:gridCol w="919867"/>
                <a:gridCol w="946149"/>
                <a:gridCol w="946149"/>
                <a:gridCol w="919867"/>
                <a:gridCol w="946149"/>
                <a:gridCol w="1033756"/>
                <a:gridCol w="630766"/>
                <a:gridCol w="1033756"/>
                <a:gridCol w="630773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665,629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66.56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332,814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328,429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320,761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353,512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32,751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25,083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3,847,643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384.76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1,923,822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192.38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2,033,590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203.36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360.89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1,804,451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180.45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2,126,374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212.64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321,923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92,784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2,090,612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209.06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1,045,306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104.53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995,067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186.48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932,422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93.24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78.20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-150,390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-15.04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-213,035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1,494,173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149.42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747,086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74.71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802,687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80.27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135.36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676,790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67.68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1,050,104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105.01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373,314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247,417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2,214,697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221.47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1,107,348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110.73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1,095,173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109.52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206.00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1,029,975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103.00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1,192,410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119.24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162,435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97,237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3,934,040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393.40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1,967,020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196.70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1,911,829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191.18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1,676,283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167.63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2,344,788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234.48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668,505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66.85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432,959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4,981,857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498.19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2,490,928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249.09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2,518,387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251.84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442.88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2,214,383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221.44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2,602,601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260.26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388,218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84,214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8.42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12,766,553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1276.66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6,383,276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638.33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6,335,607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633.56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1160.72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5,803,603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580.36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7,243,570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724.36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1,439,967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144.00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907,963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90.80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1,251,847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125.18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625,924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62.59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941,967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94.20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696,416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69.64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1,053,707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105.37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357,291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111,740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991,836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495,918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492,890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497,319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529,510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32,191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36,620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Previous Year Comparison - SEP 2026 | uploaded 2026-10-19T14:05:55+05:30 (Rows 11-13)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2687"/>
                <a:gridCol w="1795932"/>
                <a:gridCol w="946149"/>
                <a:gridCol w="919867"/>
                <a:gridCol w="946149"/>
                <a:gridCol w="946149"/>
                <a:gridCol w="919867"/>
                <a:gridCol w="946149"/>
                <a:gridCol w="1033756"/>
                <a:gridCol w="630766"/>
                <a:gridCol w="1033756"/>
                <a:gridCol w="630773"/>
              </a:tblGrid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1,103,187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110.32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551,594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55.16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601,940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60.19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645,534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639,713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63.97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-5,820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37,773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35,342,074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3534.21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17,671,037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1767.10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18,057,566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1805.76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3259.59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16,297,936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1629.79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19,918,321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1991.83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3,620,384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362.04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1,860,755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186.08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-190,700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-19.07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-95,350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-9.54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1,665,478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166.55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1,591,127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1,597,650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159.76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-24394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-74,351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-7.44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-12197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