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3" r:id="rId1"/>
  </p:sldMasterIdLst>
  <p:sldIdLst>
    <p:sldId id="256" r:id="rIdSlide1"/>
    <p:sldId id="257" r:id="rIdSlide2"/>
    <p:sldId id="258" r:id="rIdSlide3"/>
    <p:sldId id="259" r:id="rIdSlide4"/>
    <p:sldId id="260" r:id="rIdSlide5"/>
    <p:sldId id="261" r:id="rIdSlide6"/>
    <p:sldId id="262" r:id="rIdSlide7"/>
    <p:sldId id="263" r:id="rIdSlide8"/>
    <p:sldId id="264" r:id="rIdSlide9"/>
    <p:sldId id="265" r:id="rIdSlide10"/>
    <p:sldId id="266" r:id="rIdSlide11"/>
    <p:sldId id="267" r:id="rIdSlide12"/>
    <p:sldId id="268" r:id="rIdSlide13"/>
    <p:sldId id="269" r:id="rIdSlide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4" autoAdjust="0"/>
    <p:restoredTop sz="94947" autoAdjust="0"/>
  </p:normalViewPr>
  <p:slideViewPr>
    <p:cSldViewPr snapToGrid="0">
      <p:cViewPr varScale="1">
        <p:scale>
          <a:sx n="108" d="100"/>
          <a:sy n="108" d="100"/>
        </p:scale>
        <p:origin x="714" y="9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9" Type="http://schemas.openxmlformats.org/officeDocument/2006/relationships/presProps" Target="presProps.xml"/><Relationship Id="rIdSlide1" Type="http://schemas.openxmlformats.org/officeDocument/2006/relationships/slide" Target="slides/slide1.xml"/><Relationship Id="rIdSlide2" Type="http://schemas.openxmlformats.org/officeDocument/2006/relationships/slide" Target="slides/slide2.xml"/><Relationship Id="rIdSlide3" Type="http://schemas.openxmlformats.org/officeDocument/2006/relationships/slide" Target="slides/slide3.xml"/><Relationship Id="rIdSlide4" Type="http://schemas.openxmlformats.org/officeDocument/2006/relationships/slide" Target="slides/slide4.xml"/><Relationship Id="rIdSlide5" Type="http://schemas.openxmlformats.org/officeDocument/2006/relationships/slide" Target="slides/slide5.xml"/><Relationship Id="rIdSlide6" Type="http://schemas.openxmlformats.org/officeDocument/2006/relationships/slide" Target="slides/slide6.xml"/><Relationship Id="rIdSlide7" Type="http://schemas.openxmlformats.org/officeDocument/2006/relationships/slide" Target="slides/slide7.xml"/><Relationship Id="rIdSlide8" Type="http://schemas.openxmlformats.org/officeDocument/2006/relationships/slide" Target="slides/slide8.xml"/><Relationship Id="rIdSlide9" Type="http://schemas.openxmlformats.org/officeDocument/2006/relationships/slide" Target="slides/slide9.xml"/><Relationship Id="rIdSlide10" Type="http://schemas.openxmlformats.org/officeDocument/2006/relationships/slide" Target="slides/slide10.xml"/><Relationship Id="rIdSlide11" Type="http://schemas.openxmlformats.org/officeDocument/2006/relationships/slide" Target="slides/slide11.xml"/><Relationship Id="rIdSlide12" Type="http://schemas.openxmlformats.org/officeDocument/2006/relationships/slide" Target="slides/slide12.xml"/><Relationship Id="rIdSlide13" Type="http://schemas.openxmlformats.org/officeDocument/2006/relationships/slide" Target="slides/slide13.xml"/><Relationship Id="rIdSlide14" Type="http://schemas.openxmlformats.org/officeDocument/2006/relationships/slide" Target="slides/slide1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1415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0201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81203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3241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2131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1223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2357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4238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2717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4880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41248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48464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080266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81526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66691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81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A35F6B-60EE-4E23-AF30-AF29AAFFCFD7}" type="datetimeFigureOut">
              <a:rPr lang="en-IN" smtClean="0"/>
              <a:t>10-08-2026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EB82001-2828-4277-A850-18FA655D73F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8007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57" r:id="rId14"/>
    <p:sldLayoutId id="2147483758" r:id="rId15"/>
    <p:sldLayoutId id="21474837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B5159-584C-4350-86DF-1495789BEB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3265" y="1163758"/>
            <a:ext cx="8574622" cy="2616199"/>
          </a:xfrm>
        </p:spPr>
        <p:txBody>
          <a:bodyPr>
            <a:normAutofit fontScale="90000"/>
          </a:bodyPr>
          <a:lstStyle/>
          <a:p>
            <a:pPr algn="ctr">
              <a:buNone/>
            </a:pPr>
            <a:r>
              <a:rPr sz="8000" b="1">
                <a:solidFill>
                  <a:schemeClr val="accent2">
                    <a:lumMod val="50000"/>
                  </a:schemeClr>
                </a:solidFill>
              </a:rPr>
              <a:t>Moradabad Division</a:t>
            </a:r>
            <a:br/>
            <a:r>
              <a:rPr sz="8000" b="1">
                <a:solidFill>
                  <a:schemeClr val="accent2">
                    <a:lumMod val="50000"/>
                  </a:schemeClr>
                </a:solidFill>
              </a:rPr>
              <a:t>Accounts Dept</a:t>
            </a:r>
            <a:br/>
            <a:r>
              <a:rPr sz="8000" b="1">
                <a:solidFill>
                  <a:schemeClr val="accent2">
                    <a:lumMod val="50000"/>
                  </a:schemeClr>
                </a:solidFill>
              </a:rPr>
              <a:t>FY – 2026-2027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7B258E-CB94-4952-9FB8-D735A3626A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659970" y="3779957"/>
            <a:ext cx="6987645" cy="1388534"/>
          </a:xfrm>
        </p:spPr>
        <p:txBody>
          <a:bodyPr>
            <a:normAutofit fontScale="92500" lnSpcReduction="10000"/>
          </a:bodyPr>
          <a:lstStyle/>
          <a:p>
            <a:pPr algn="ctr">
              <a:buNone/>
            </a:pPr>
            <a:r>
              <a:rPr sz="2400" b="1" dirty="0">
                <a:solidFill>
                  <a:schemeClr val="accent2">
                    <a:lumMod val="50000"/>
                  </a:schemeClr>
                </a:solidFill>
              </a:rPr>
              <a:t>Budget &amp; FR Analysis (2026‑27)</a:t>
            </a:r>
            <a:r>
              <a:rPr sz="2400" dirty="0">
                <a:solidFill>
                  <a:schemeClr val="accent2">
                    <a:lumMod val="50000"/>
                  </a:schemeClr>
                </a:solidFill>
              </a:rPr>
              <a:t> </a:t>
            </a:r>
          </a:p>
          <a:p>
            <a:pPr algn="ctr">
              <a:buNone/>
            </a:pPr>
            <a:r>
              <a:rPr sz="2400" i="1" dirty="0">
                <a:solidFill>
                  <a:schemeClr val="accent2">
                    <a:lumMod val="50000"/>
                  </a:schemeClr>
                </a:solidFill>
              </a:rPr>
              <a:t>Current Year &amp; Fund Review</a:t>
            </a:r>
          </a:p>
          <a:p>
            <a:pPr algn="ctr">
              <a:buNone/>
            </a:pPr>
            <a:r>
              <a:rPr sz="3200" b="1" dirty="0">
                <a:solidFill>
                  <a:schemeClr val="accent2">
                    <a:lumMod val="50000"/>
                  </a:schemeClr>
                </a:solidFill>
              </a:rPr>
              <a:t>As on 05.10.2026</a:t>
            </a:r>
            <a:r>
              <a:rPr sz="3200" b="1">
                <a:solidFill>
                  <a:schemeClr val="accent2">
                    <a:lumMod val="50000"/>
                  </a:schemeClr>
                </a:solidFill>
              </a:rPr>
              <a:t/>
            </a:r>
            <a:r>
              <a:rPr lang="en-US" sz="3200" b="1">
                <a:solidFill>
                  <a:schemeClr val="accent2">
                    <a:lumMod val="50000"/>
                  </a:schemeClr>
                </a:solidFill>
              </a:rPr>
              <a:t/>
            </a:r>
            <a:r>
              <a:rPr sz="3200" b="1">
                <a:solidFill>
                  <a:schemeClr val="accent2">
                    <a:lumMod val="50000"/>
                  </a:schemeClr>
                </a:solidFill>
              </a:rPr>
              <a:t/>
            </a:r>
            <a:r>
              <a:rPr lang="en-US" sz="3200" b="1">
                <a:solidFill>
                  <a:schemeClr val="accent2">
                    <a:lumMod val="50000"/>
                  </a:schemeClr>
                </a:solidFill>
              </a:rPr>
              <a:t/>
            </a:r>
            <a:r>
              <a:rPr sz="3200" b="1">
                <a:solidFill>
                  <a:schemeClr val="accent2">
                    <a:lumMod val="50000"/>
                  </a:schemeClr>
                </a:solidFill>
              </a:rPr>
              <a:t/>
            </a:r>
            <a:endParaRPr sz="3200" b="1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63894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0" y="0"/>
            <a:ext cx="12192000" cy="540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1350" b="1">
                <a:solidFill>
                  <a:srgbClr val="FFFFFF"/>
                </a:solidFill>
                <a:latin typeface="Times New Roman"/>
              </a:rPr>
              <a:t>NORTHERN RAILWAY - MORADABAD DIVISION</a:t>
            </a:r>
          </a:p>
        </p:txBody>
      </p:sp>
      <p:sp>
        <p:nvSpPr>
          <p:cNvPr id="3" name="Text 3"/>
          <p:cNvSpPr/>
          <p:nvPr/>
        </p:nvSpPr>
        <p:spPr>
          <a:xfrm>
            <a:off x="420000" y="1180000"/>
            <a:ext cx="11352000" cy="760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2400" b="1">
                <a:solidFill>
                  <a:srgbClr val="22A7D8"/>
                </a:solidFill>
                <a:latin typeface="Times New Roman"/>
              </a:rPr>
              <a:t>Moradabad Division Budget &amp; FR Analysis</a:t>
            </a:r>
          </a:p>
        </p:txBody>
      </p:sp>
      <p:sp>
        <p:nvSpPr>
          <p:cNvPr id="4" name="Text 4"/>
          <p:cNvSpPr/>
          <p:nvPr/>
        </p:nvSpPr>
        <p:spPr>
          <a:xfrm>
            <a:off x="860000" y="2040000"/>
            <a:ext cx="10472000" cy="430000"/>
          </a:xfrm>
          <a:prstGeom prst="rect">
            <a:avLst/>
          </a:prstGeom>
          <a:solidFill>
            <a:srgbClr val="E8F2F8"/>
          </a:solidFill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980">
                <a:solidFill>
                  <a:srgbClr val="000000"/>
                </a:solidFill>
                <a:latin typeface="Times New Roman"/>
              </a:rPr>
              <a:t>Accounts Dept | FY 2026-2027 | Current / Previous Year Budget Analysis | Completed SEP 2026</a:t>
            </a:r>
          </a:p>
        </p:txBody>
      </p:sp>
      <p:sp>
        <p:nvSpPr>
          <p:cNvPr id="5" name="Text 5"/>
          <p:cNvSpPr/>
          <p:nvPr/>
        </p:nvSpPr>
        <p:spPr>
          <a:xfrm>
            <a:off x="1350000" y="3120000"/>
            <a:ext cx="2400000" cy="720000"/>
          </a:xfrm>
          <a:prstGeom prst="rect">
            <a:avLst/>
          </a:prstGeom>
          <a:solidFill>
            <a:srgbClr val="DFF3E7"/>
          </a:solidFill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920" b="1">
                <a:solidFill>
                  <a:srgbClr val="000000"/>
                </a:solidFill>
                <a:latin typeface="Times New Roman"/>
              </a:rPr>
              <a:t>Green</a:t>
            </a:r>
            <a:br/>
            <a:r>
              <a:rPr lang="en-US" sz="920" b="1">
                <a:solidFill>
                  <a:srgbClr val="000000"/>
                </a:solidFill>
                <a:latin typeface="Times New Roman"/>
              </a:rPr>
              <a:t>Within control</a:t>
            </a:r>
          </a:p>
        </p:txBody>
      </p:sp>
      <p:sp>
        <p:nvSpPr>
          <p:cNvPr id="6" name="Text 6"/>
          <p:cNvSpPr/>
          <p:nvPr/>
        </p:nvSpPr>
        <p:spPr>
          <a:xfrm>
            <a:off x="4860000" y="3120000"/>
            <a:ext cx="2400000" cy="7200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920" b="1">
                <a:solidFill>
                  <a:srgbClr val="000000"/>
                </a:solidFill>
                <a:latin typeface="Times New Roman"/>
              </a:rPr>
              <a:t>Amber</a:t>
            </a:r>
            <a:br/>
            <a:r>
              <a:rPr lang="en-US" sz="920" b="1">
                <a:solidFill>
                  <a:srgbClr val="000000"/>
                </a:solidFill>
                <a:latin typeface="Times New Roman"/>
              </a:rPr>
              <a:t>Watch range</a:t>
            </a:r>
          </a:p>
        </p:txBody>
      </p:sp>
      <p:sp>
        <p:nvSpPr>
          <p:cNvPr id="7" name="Text 7"/>
          <p:cNvSpPr/>
          <p:nvPr/>
        </p:nvSpPr>
        <p:spPr>
          <a:xfrm>
            <a:off x="8370000" y="3120000"/>
            <a:ext cx="2400000" cy="720000"/>
          </a:xfrm>
          <a:prstGeom prst="rect">
            <a:avLst/>
          </a:prstGeom>
          <a:solidFill>
            <a:srgbClr val="FCE4E4"/>
          </a:solidFill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920" b="1">
                <a:solidFill>
                  <a:srgbClr val="000000"/>
                </a:solidFill>
                <a:latin typeface="Times New Roman"/>
              </a:rPr>
              <a:t>Red</a:t>
            </a:r>
            <a:br/>
            <a:r>
              <a:rPr lang="en-US" sz="920" b="1">
                <a:solidFill>
                  <a:srgbClr val="000000"/>
                </a:solidFill>
                <a:latin typeface="Times New Roman"/>
              </a:rPr>
              <a:t>Immediate review</a:t>
            </a:r>
          </a:p>
        </p:txBody>
      </p:sp>
      <p:sp>
        <p:nvSpPr>
          <p:cNvPr id="8" name="Text 8"/>
          <p:cNvSpPr/>
          <p:nvPr/>
        </p:nvSpPr>
        <p:spPr>
          <a:xfrm>
            <a:off x="0" y="6438000"/>
            <a:ext cx="12192000" cy="420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900">
                <a:solidFill>
                  <a:srgbClr val="FFFFFF"/>
                </a:solidFill>
                <a:latin typeface="Times New Roman"/>
              </a:rPr>
              <a:t>Figures in thousands with Crore equivalent shown inside table cells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130000" y="45000"/>
            <a:ext cx="11932000" cy="36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1900" b="1">
                <a:solidFill>
                  <a:srgbClr val="22A7D8"/>
                </a:solidFill>
                <a:latin typeface="Times New Roman"/>
              </a:rPr>
              <a:t>Demand SMH Wise - SEP 2026 | uploaded 2026-10-19T14:05:55+05:30</a:t>
            </a:r>
          </a:p>
        </p:txBody>
      </p:sp>
      <p:sp>
        <p:nvSpPr>
          <p:cNvPr id="3" name="Text 3"/>
          <p:cNvSpPr/>
          <p:nvPr/>
        </p:nvSpPr>
        <p:spPr>
          <a:xfrm>
            <a:off x="130000" y="430000"/>
            <a:ext cx="11932000" cy="21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r"/>
            <a:r>
              <a:rPr lang="en-US" sz="900">
                <a:solidFill>
                  <a:srgbClr val="000000"/>
                </a:solidFill>
                <a:latin typeface="Times New Roman"/>
              </a:rPr>
              <a:t>Figures in thousands.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30000" y="670000"/>
          <a:ext cx="11932000" cy="60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2931"/>
                <a:gridCol w="2342969"/>
                <a:gridCol w="1234344"/>
                <a:gridCol w="1234344"/>
                <a:gridCol w="1234344"/>
                <a:gridCol w="1348636"/>
                <a:gridCol w="822896"/>
                <a:gridCol w="1348636"/>
                <a:gridCol w="822900"/>
              </a:tblGrid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Demand No. / SMH-Grant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Department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A\nOBA/RG\nRG if available, else BG_ISL 2026-27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BP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 / 12 * 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Actuals up to SEP 2026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Variation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 - B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% BP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 / B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Budget Remaining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 - C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G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% OBA Utilized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 / A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03 / 01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PERSONNEL / STORE And Office Staff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641,522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64.15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320,761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32.08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353,512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35.35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32,751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3.28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288,010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28.80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55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04 / 02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ENGINEERING / PWAY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3,608,902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360.89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1,804,451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180.45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2,126,374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212.64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321,923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32.19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118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1,482,528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148.25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59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05 / 03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Mechanical LOCO Shed Roza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1,864,843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186.48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932,422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93.24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782,032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78.20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-150,390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-15.04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84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1,082,811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108.28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42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06 / 04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Electrical General / Mech C&amp;W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1,353,581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135.36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676,790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67.68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1,050,104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105.01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373,314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37.33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155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303,477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30.35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78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07 / 05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S&amp;T / TRD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2,059,950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206.00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1,029,975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103.00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1,192,410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119.24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162,435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16.24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867,540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86.75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58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08 / 06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MECHANICAL / Running Staff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3,352,566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335.26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1,676,283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167.63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2,344,788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234.48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668,505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66.85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140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1,007,778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100.78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70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09 / 07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OPERATING / Commercial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4,428,766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442.88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2,214,383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221.44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2,602,601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260.26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388,218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38.82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118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1,826,165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182.62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59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10 / 08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Operating Expenses - Fuel / Traction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11,607,206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1160.72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5,803,603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580.36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7,243,570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724.36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1,439,967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144.00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125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4,363,636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436.36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62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11 / 09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MEDICAL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1,392,832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139.28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696,416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69.64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1,053,707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105.37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357,291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35.73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151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339,125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33.91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76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12 / 10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SECURITY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994,638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99.46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497,319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49.73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529,510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52.95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32,191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3.22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106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465,128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46.51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53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13 / 11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Pension and Retirement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1,291,067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129.11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645,534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64.55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639,713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63.97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-5,820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-0.58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99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651,354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65.14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Total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/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32,595,873</a:t>
                      </a:r>
                      <a:br/>
                      <a:r>
                        <a:rPr lang="en-US" sz="950" b="1">
                          <a:solidFill>
                            <a:srgbClr val="006F78"/>
                          </a:solidFill>
                          <a:latin typeface="Times New Roman"/>
                        </a:rPr>
                        <a:t>3259.59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16,297,936</a:t>
                      </a:r>
                      <a:br/>
                      <a:r>
                        <a:rPr lang="en-US" sz="950" b="1">
                          <a:solidFill>
                            <a:srgbClr val="006F78"/>
                          </a:solidFill>
                          <a:latin typeface="Times New Roman"/>
                        </a:rPr>
                        <a:t>1629.79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19,918,321</a:t>
                      </a:r>
                      <a:br/>
                      <a:r>
                        <a:rPr lang="en-US" sz="950" b="1">
                          <a:solidFill>
                            <a:srgbClr val="006F78"/>
                          </a:solidFill>
                          <a:latin typeface="Times New Roman"/>
                        </a:rPr>
                        <a:t>1991.83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3,620,384</a:t>
                      </a:r>
                      <a:br/>
                      <a:r>
                        <a:rPr lang="en-US" sz="950" b="1">
                          <a:solidFill>
                            <a:srgbClr val="006F78"/>
                          </a:solidFill>
                          <a:latin typeface="Times New Roman"/>
                        </a:rPr>
                        <a:t>362.04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FFFFFF"/>
                          </a:solidFill>
                          <a:latin typeface="Times New Roman"/>
                        </a:rPr>
                        <a:t>122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2323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12,677,552</a:t>
                      </a:r>
                      <a:br/>
                      <a:r>
                        <a:rPr lang="en-US" sz="950" b="1">
                          <a:solidFill>
                            <a:srgbClr val="006F78"/>
                          </a:solidFill>
                          <a:latin typeface="Times New Roman"/>
                        </a:rPr>
                        <a:t>1267.76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FFFFFF"/>
                          </a:solidFill>
                          <a:latin typeface="Times New Roman"/>
                        </a:rPr>
                        <a:t>61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25A55B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12N / 10N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Suspense Heads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-13,045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-1.30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-6,522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-0.65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1,591,127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159.11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1,597,650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159.76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-24394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-1,604,172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-160.42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-12197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130000" y="45000"/>
            <a:ext cx="11932000" cy="36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1900" b="1">
                <a:solidFill>
                  <a:srgbClr val="22A7D8"/>
                </a:solidFill>
                <a:latin typeface="Times New Roman"/>
              </a:rPr>
              <a:t>PU Staff Current Year - SEP 2026 | uploaded 2026-10-19T14:05:55+05:30 (Rows 1-13)</a:t>
            </a:r>
          </a:p>
        </p:txBody>
      </p:sp>
      <p:sp>
        <p:nvSpPr>
          <p:cNvPr id="3" name="Text 3"/>
          <p:cNvSpPr/>
          <p:nvPr/>
        </p:nvSpPr>
        <p:spPr>
          <a:xfrm>
            <a:off x="130000" y="430000"/>
            <a:ext cx="11932000" cy="21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r"/>
            <a:r>
              <a:rPr lang="en-US" sz="900">
                <a:solidFill>
                  <a:srgbClr val="000000"/>
                </a:solidFill>
                <a:latin typeface="Times New Roman"/>
              </a:rPr>
              <a:t>Figures in thousands.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30000" y="670000"/>
          <a:ext cx="11932000" cy="60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65569"/>
                <a:gridCol w="1482918"/>
                <a:gridCol w="1482918"/>
                <a:gridCol w="1482918"/>
                <a:gridCol w="1620225"/>
                <a:gridCol w="988612"/>
                <a:gridCol w="1620225"/>
                <a:gridCol w="988615"/>
              </a:tblGrid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PU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A\nOBA/RG\nRG if available, else BG_ISL 2026-27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B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BP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 / 12 * 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C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AE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Actuals up to SEP 2026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D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Variation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C - B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E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% BP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C / B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F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Budget Remaining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 - C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G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% OBA Utilized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C / A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- 01 - Sal/Wag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6,706,409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670.64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3,353,204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335.32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3,689,125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368.91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335,920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33.59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3,017,284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301.73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55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- 02 - DA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4,100,453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410.05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2,050,226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205.02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2,354,304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235.43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304,078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30.41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115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1,746,149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174.61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57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- 03 - PLB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285,089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28.51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142,544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14.25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-142,472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-14.25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285,017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28.50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- 04 - HRA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776,198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77.62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388,099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38.81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405,373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40.54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17,274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1.73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104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370,825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37.08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52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- 07 - TPA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496,609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49.66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248,304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24.83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259,437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25.94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11,132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1.11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104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237,172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23.72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52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- 08 - NPS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1,285,187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128.52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642,594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64.26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638,971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63.90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-3,622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-0.36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99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646,216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64.62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- 10 - KMA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680,197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68.02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340,098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34.01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437,090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43.71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96,992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9.70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129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243,107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24.31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64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- 11 - OT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77,300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7.73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38,650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3.87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59,779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5.98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21,129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2.11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155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17,521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1.75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77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- 12 - NDA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209,913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20.99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104,956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10.50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147,751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14.78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42,794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4.28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141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62,162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6.22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70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- 13 - OA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527,832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52.78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263,916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26.39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318,453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31.85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54,537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5.45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121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209,379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20.94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- 14 - FEES &amp; HON.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3,566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0.36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1,783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0.18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499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-1,284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-0.13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28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3,067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0.31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14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- 15 - TA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16,048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1.60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8,024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0.80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13,236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1.32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5,212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0.52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165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2,812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0.28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82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- 16 - TE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308,081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30.81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154,040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15.40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265,224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26.52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111,184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11.12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172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42,857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4.29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86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2C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130000" y="45000"/>
            <a:ext cx="11932000" cy="36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1900" b="1">
                <a:solidFill>
                  <a:srgbClr val="22A7D8"/>
                </a:solidFill>
                <a:latin typeface="Times New Roman"/>
              </a:rPr>
              <a:t>PU Staff Current Year - SEP 2026 | uploaded 2026-10-19T14:05:55+05:30 (Rows 14-24)</a:t>
            </a:r>
          </a:p>
        </p:txBody>
      </p:sp>
      <p:sp>
        <p:nvSpPr>
          <p:cNvPr id="3" name="Text 3"/>
          <p:cNvSpPr/>
          <p:nvPr/>
        </p:nvSpPr>
        <p:spPr>
          <a:xfrm>
            <a:off x="130000" y="430000"/>
            <a:ext cx="11932000" cy="21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r"/>
            <a:r>
              <a:rPr lang="en-US" sz="900">
                <a:solidFill>
                  <a:srgbClr val="000000"/>
                </a:solidFill>
                <a:latin typeface="Times New Roman"/>
              </a:rPr>
              <a:t>Figures in thousands.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30000" y="670000"/>
          <a:ext cx="11932000" cy="60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65569"/>
                <a:gridCol w="1482918"/>
                <a:gridCol w="1482918"/>
                <a:gridCol w="1482918"/>
                <a:gridCol w="1620225"/>
                <a:gridCol w="988612"/>
                <a:gridCol w="1620225"/>
                <a:gridCol w="988615"/>
              </a:tblGrid>
              <a:tr h="504833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PU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A\nOBA/RG\nRG if available, else BG_ISL 2026-27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B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BP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 / 12 * 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C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AE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Actuals up to SEP 2026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D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Variation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C - B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E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% BP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C / B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F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Budget Remaining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 - C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G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% OBA Utilized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C / A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</a:tr>
              <a:tr h="504833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- 17 - ATPP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2,110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0.21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1,055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0.11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-1,055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-0.11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2,110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0.21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504833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- 20 - Leave Salary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18,623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1.86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9,312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0.93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16,079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1.61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6,768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0.68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173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2,544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0.25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86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504833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- 25 - Children Edu. Allow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379,418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37.94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189,709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18.97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384,936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38.49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195,227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19.52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203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-5,518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-0.55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101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</a:tr>
              <a:tr h="504833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- 26 - Medical Expenses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384,392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38.44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192,196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19.22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196,798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19.68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4,602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0.46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102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187,594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18.76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51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504833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- 29 - Remu. Re-engaged Staff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476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476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-476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-0.05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504833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- 39 - ATD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920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460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</a:tr>
              <a:tr h="504833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- 42 - ARR SALARY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25,882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2.59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12,941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1.29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5,890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0.59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-7,051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-0.71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19,992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23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504833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- 43 - ARR DA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12,005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1.20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6,002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0.60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2,752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0.28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-3,250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-0.33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9,253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0.93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23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504833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- 44 - ARR OTH ALW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11,589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1.16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5,794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0.58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224,748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22.47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218,954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21.90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3879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-213,159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-21.32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1939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</a:tr>
              <a:tr h="504833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- 53 - All India LTC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614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307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1,798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0.18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1,491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0.15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586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-1,184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-0.12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293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</a:tr>
              <a:tr h="504833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Total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16,307,520</a:t>
                      </a:r>
                      <a:br/>
                      <a:r>
                        <a:rPr lang="en-US" sz="950" b="1">
                          <a:solidFill>
                            <a:srgbClr val="006F78"/>
                          </a:solidFill>
                          <a:latin typeface="Times New Roman"/>
                        </a:rPr>
                        <a:t>1630.75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8,153,760</a:t>
                      </a:r>
                      <a:br/>
                      <a:r>
                        <a:rPr lang="en-US" sz="950" b="1">
                          <a:solidFill>
                            <a:srgbClr val="006F78"/>
                          </a:solidFill>
                          <a:latin typeface="Times New Roman"/>
                        </a:rPr>
                        <a:t>815.38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9,422,814</a:t>
                      </a:r>
                      <a:br/>
                      <a:r>
                        <a:rPr lang="en-US" sz="950" b="1">
                          <a:solidFill>
                            <a:srgbClr val="006F78"/>
                          </a:solidFill>
                          <a:latin typeface="Times New Roman"/>
                        </a:rPr>
                        <a:t>942.28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1,269,054</a:t>
                      </a:r>
                      <a:br/>
                      <a:r>
                        <a:rPr lang="en-US" sz="950" b="1">
                          <a:solidFill>
                            <a:srgbClr val="006F78"/>
                          </a:solidFill>
                          <a:latin typeface="Times New Roman"/>
                        </a:rPr>
                        <a:t>126.91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FFFFFF"/>
                          </a:solidFill>
                          <a:latin typeface="Times New Roman"/>
                        </a:rPr>
                        <a:t>116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2323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6,884,706</a:t>
                      </a:r>
                      <a:br/>
                      <a:r>
                        <a:rPr lang="en-US" sz="950" b="1">
                          <a:solidFill>
                            <a:srgbClr val="006F78"/>
                          </a:solidFill>
                          <a:latin typeface="Times New Roman"/>
                        </a:rPr>
                        <a:t>688.47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FFFFFF"/>
                          </a:solidFill>
                          <a:latin typeface="Times New Roman"/>
                        </a:rPr>
                        <a:t>58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25A55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130000" y="45000"/>
            <a:ext cx="11932000" cy="36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1900" b="1">
                <a:solidFill>
                  <a:srgbClr val="22A7D8"/>
                </a:solidFill>
                <a:latin typeface="Times New Roman"/>
              </a:rPr>
              <a:t>PU Non Staff Current Year - SEP 2026 | uploaded 2026-10-19T14:05:55+05:30 (Rows 1-13)</a:t>
            </a:r>
          </a:p>
        </p:txBody>
      </p:sp>
      <p:sp>
        <p:nvSpPr>
          <p:cNvPr id="3" name="Text 3"/>
          <p:cNvSpPr/>
          <p:nvPr/>
        </p:nvSpPr>
        <p:spPr>
          <a:xfrm>
            <a:off x="130000" y="430000"/>
            <a:ext cx="11932000" cy="21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r"/>
            <a:r>
              <a:rPr lang="en-US" sz="900">
                <a:solidFill>
                  <a:srgbClr val="000000"/>
                </a:solidFill>
                <a:latin typeface="Times New Roman"/>
              </a:rPr>
              <a:t>Figures in thousands.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30000" y="670000"/>
          <a:ext cx="11932000" cy="60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65569"/>
                <a:gridCol w="1482918"/>
                <a:gridCol w="1482918"/>
                <a:gridCol w="1482918"/>
                <a:gridCol w="1620225"/>
                <a:gridCol w="988612"/>
                <a:gridCol w="1620225"/>
                <a:gridCol w="988615"/>
              </a:tblGrid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PU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A\nOBA/RG\nRG if available, else BG_ISL 2026-27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B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BP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 / 12 * 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C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AE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Actuals up to SEP 2026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D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Variation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C - B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E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% BP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C / B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F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Budget Remaining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 - C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G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% OBA Utilized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C / A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- 18 - OE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8,252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0.83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4,126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0.41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-4,126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-0.41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8,252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0.83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- 19 - Phone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655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328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-328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-0.03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655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- 21 - Adv Expenses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3,300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0.33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1,650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0.17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-1,650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-0.17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3,300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0.33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- 22 - Util(excl. elec.)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- 23 - Rental Office Equip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-21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- 24 - Printing and Stnry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215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108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-108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-0.01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215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- 27 - Materials from stock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1,068,752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106.88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534,376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53.44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1,005,406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100.54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471,030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47.10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188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63,346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6.33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94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- 28 - Materials-Dir. purchase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149,947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14.99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74,974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7.50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84,936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8.49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9,962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113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65,011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6.50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57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- 30 - Cost Of Elec. Energy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3,878,724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387.87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1,939,362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193.94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2,320,788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232.08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381,426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38.14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120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1,557,936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155.79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- 31 - OF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95,273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9.53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47,636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4.76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102,363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10.24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54,726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5.47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215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-7,090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-0.71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107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- 32 - CP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3,254,310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325.43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1,627,155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162.72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2,025,688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202.57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398,533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39.85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124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1,228,622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122.86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62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- 33 - TRDC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2,625,440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262.54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1,312,720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131.27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1,229,411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122.94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-83,309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-8.33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94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1,396,029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139.60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47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432714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- 36 - Excise Duty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155,548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15.55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77,774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7.78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30,063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3.01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-47,711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-4.77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39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125,485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12.55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19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130000" y="45000"/>
            <a:ext cx="11932000" cy="36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1900" b="1">
                <a:solidFill>
                  <a:srgbClr val="22A7D8"/>
                </a:solidFill>
                <a:latin typeface="Times New Roman"/>
              </a:rPr>
              <a:t>PU Non Staff Current Year - SEP 2026 | uploaded 2026-10-19T14:05:55+05:30 (Rows 14-24)</a:t>
            </a:r>
          </a:p>
        </p:txBody>
      </p:sp>
      <p:sp>
        <p:nvSpPr>
          <p:cNvPr id="3" name="Text 3"/>
          <p:cNvSpPr/>
          <p:nvPr/>
        </p:nvSpPr>
        <p:spPr>
          <a:xfrm>
            <a:off x="130000" y="430000"/>
            <a:ext cx="11932000" cy="21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r"/>
            <a:r>
              <a:rPr lang="en-US" sz="900">
                <a:solidFill>
                  <a:srgbClr val="000000"/>
                </a:solidFill>
                <a:latin typeface="Times New Roman"/>
              </a:rPr>
              <a:t>Figures in thousands.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30000" y="670000"/>
          <a:ext cx="11932000" cy="60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65569"/>
                <a:gridCol w="1482918"/>
                <a:gridCol w="1482918"/>
                <a:gridCol w="1482918"/>
                <a:gridCol w="1620225"/>
                <a:gridCol w="988612"/>
                <a:gridCol w="1620225"/>
                <a:gridCol w="988615"/>
              </a:tblGrid>
              <a:tr h="504833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PU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A\nOBA/RG\nRG if available, else BG_ISL 2026-27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B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BP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 / 12 * 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C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AE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Actuals up to SEP 2026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D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Variation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C - B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E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% BP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C / B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F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Budget Remaining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A - C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G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% OBA Utilized</a:t>
                      </a:r>
                      <a:br/>
                      <a:r>
                        <a:rPr lang="en-US" sz="1080" b="1">
                          <a:solidFill>
                            <a:srgbClr val="FFFFFF"/>
                          </a:solidFill>
                          <a:latin typeface="Times New Roman"/>
                        </a:rPr>
                        <a:t>C / A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</a:tr>
              <a:tr h="504833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- 38 - Sales Tax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95,829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9.58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47,914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4.79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72,149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7.21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24,234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2.42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151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23,680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2.37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75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504833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- 49 - O/S M/P TRACK AND SIGNAL MNT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544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272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10,420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1.04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10,148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1.01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3831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-9,876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-0.99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1915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</a:tr>
              <a:tr h="504833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- 52 - Laptop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504833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- 60 - Fuel from Stock-Home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4,703,356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470.34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2,351,678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235.17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3,395,738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339.57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1,044,060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104.41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144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1,307,618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130.76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72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504833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- 72 - Central GST (CGST)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32,329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3.23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16,164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1.62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44,568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4.46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28,404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2.84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276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-12,239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-1.22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138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</a:tr>
              <a:tr h="504833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- 73 - State GST (SGST)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31,932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3.19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15,966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1.60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44,568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4.46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28,602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2.86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279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-12,636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-1.26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140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</a:tr>
              <a:tr h="504833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- 74 - Union Territory GST (UTGST)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504833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- 75 - Integrated GST (IGST)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26,098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2.61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13,049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1.30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48,353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4.84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35,304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3.53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371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-22,255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-2.23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185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</a:tr>
              <a:tr h="504833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- 98 - Credit or Recoveries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-1,652,821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-165.28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-826,410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-82.64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-675,020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-67.50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151,390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15.14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82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-977,801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-97.78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41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504833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- 99 - OE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1,797,579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179.76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898,790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89.88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2,347,202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234.72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1,448,412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144.84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261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-549,623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-54.96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131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</a:tr>
              <a:tr h="504833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Total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16,275,308</a:t>
                      </a:r>
                      <a:br/>
                      <a:r>
                        <a:rPr lang="en-US" sz="950" b="1">
                          <a:solidFill>
                            <a:srgbClr val="006F78"/>
                          </a:solidFill>
                          <a:latin typeface="Times New Roman"/>
                        </a:rPr>
                        <a:t>1627.53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8,137,654</a:t>
                      </a:r>
                      <a:br/>
                      <a:r>
                        <a:rPr lang="en-US" sz="950" b="1">
                          <a:solidFill>
                            <a:srgbClr val="006F78"/>
                          </a:solidFill>
                          <a:latin typeface="Times New Roman"/>
                        </a:rPr>
                        <a:t>813.77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12,086,633</a:t>
                      </a:r>
                      <a:br/>
                      <a:r>
                        <a:rPr lang="en-US" sz="950" b="1">
                          <a:solidFill>
                            <a:srgbClr val="006F78"/>
                          </a:solidFill>
                          <a:latin typeface="Times New Roman"/>
                        </a:rPr>
                        <a:t>1208.66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3,948,979</a:t>
                      </a:r>
                      <a:br/>
                      <a:r>
                        <a:rPr lang="en-US" sz="950" b="1">
                          <a:solidFill>
                            <a:srgbClr val="006F78"/>
                          </a:solidFill>
                          <a:latin typeface="Times New Roman"/>
                        </a:rPr>
                        <a:t>394.90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FFFFFF"/>
                          </a:solidFill>
                          <a:latin typeface="Times New Roman"/>
                        </a:rPr>
                        <a:t>149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2323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000000"/>
                          </a:solidFill>
                          <a:latin typeface="Times New Roman"/>
                        </a:rPr>
                        <a:t>4,188,675</a:t>
                      </a:r>
                      <a:br/>
                      <a:r>
                        <a:rPr lang="en-US" sz="950" b="1">
                          <a:solidFill>
                            <a:srgbClr val="006F78"/>
                          </a:solidFill>
                          <a:latin typeface="Times New Roman"/>
                        </a:rPr>
                        <a:t>418.87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130" b="1">
                          <a:solidFill>
                            <a:srgbClr val="FFFFFF"/>
                          </a:solidFill>
                          <a:latin typeface="Times New Roman"/>
                        </a:rPr>
                        <a:t>74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25A55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130000" y="45000"/>
            <a:ext cx="11932000" cy="36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1900" b="1">
                <a:solidFill>
                  <a:srgbClr val="22A7D8"/>
                </a:solidFill>
                <a:latin typeface="Times New Roman"/>
              </a:rPr>
              <a:t>PU Previous Year Comparison - SEP 2026 | uploaded 2026-10-19T14:05:55+05:30 (Rows 1-10)</a:t>
            </a:r>
          </a:p>
        </p:txBody>
      </p:sp>
      <p:sp>
        <p:nvSpPr>
          <p:cNvPr id="3" name="Text 3"/>
          <p:cNvSpPr/>
          <p:nvPr/>
        </p:nvSpPr>
        <p:spPr>
          <a:xfrm>
            <a:off x="130000" y="430000"/>
            <a:ext cx="11932000" cy="21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r"/>
            <a:r>
              <a:rPr lang="en-US" sz="900">
                <a:solidFill>
                  <a:srgbClr val="000000"/>
                </a:solidFill>
                <a:latin typeface="Times New Roman"/>
              </a:rPr>
              <a:t>Figures in thousands.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30000" y="670000"/>
          <a:ext cx="11932000" cy="60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8618"/>
                <a:gridCol w="1085641"/>
                <a:gridCol w="1055484"/>
                <a:gridCol w="1085641"/>
                <a:gridCol w="1085641"/>
                <a:gridCol w="1055484"/>
                <a:gridCol w="1085641"/>
                <a:gridCol w="1186163"/>
                <a:gridCol w="723760"/>
                <a:gridCol w="1186163"/>
                <a:gridCol w="723764"/>
              </a:tblGrid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PU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Previous OBA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RG 2025-26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Previous Budget Proportion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 / 12 * 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Previous Actual Expenditure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up to SEP 2025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D\nCurrent OBA/RG\nRG if available, else BG_ISL 2026-27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Current Budget Proportion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 / 12 * 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Current Actual Expenditure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up to SEP 2026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G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Budget Variation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 - E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H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Current Budget Proportion %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 / E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I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Actual Expenditure Variation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 - C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J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Current OBA Utilization %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 / D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- 01 - Sal/Wag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7,074,279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707.43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3,537,140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353.71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3,647,498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364.75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6,706,409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670.64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3,353,204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335.32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3,689,125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368.91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335,920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33.59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41,627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4.16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55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- 02 - DA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4,420,234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442.02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2,210,117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221.01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2,141,360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214.14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4,100,453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410.05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2,050,226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205.02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2,354,304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235.43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304,078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30.41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115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212,944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21.29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57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- 03 - PLB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289,831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28.98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144,916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14.49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288,231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28.82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285,089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28.51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142,544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14.25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-142,472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-14.25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-288,159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-28.82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- 04 - HRA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824,912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82.49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412,456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41.25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399,203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39.92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776,198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77.62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388,099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38.81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405,373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40.54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17,274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1.73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104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6,170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0.62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52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- 07 - TPA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506,019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50.60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253,010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25.30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251,457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25.15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496,609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49.66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248,304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24.83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259,437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25.94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11,132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1.11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104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7,980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0.80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52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- 08 - NPS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1,100,183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110.02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550,092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55.01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600,700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60.07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1,285,187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128.52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642,594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64.26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638,971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63.90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-3,622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-0.36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99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38,271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3.83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- 10 - KMA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765,522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76.55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382,761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38.28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394,125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39.41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680,197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68.02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340,098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34.01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437,090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43.71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96,992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9.70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129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42,965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4.30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64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- 11 - OT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96,309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9.63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48,154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4.82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79,687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7.97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77,300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7.73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38,650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3.87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59,779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5.98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21,129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2.11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155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-19,908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-1.99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77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- 12 - NDA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280,806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28.08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140,403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14.04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142,048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14.20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209,913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20.99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104,956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10.50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147,751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14.78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42,794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4.28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141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5,703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0.57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70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- 13 - OA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551,574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55.16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275,787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27.58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316,696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31.67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527,832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52.78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263,916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26.39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318,453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31.85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54,537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5.45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121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1,757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0.18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130000" y="45000"/>
            <a:ext cx="11932000" cy="36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1900" b="1">
                <a:solidFill>
                  <a:srgbClr val="22A7D8"/>
                </a:solidFill>
                <a:latin typeface="Times New Roman"/>
              </a:rPr>
              <a:t>PU Previous Year Comparison - SEP 2026 | uploaded 2026-10-19T14:05:55+05:30 (Rows 11-20)</a:t>
            </a:r>
          </a:p>
        </p:txBody>
      </p:sp>
      <p:sp>
        <p:nvSpPr>
          <p:cNvPr id="3" name="Text 3"/>
          <p:cNvSpPr/>
          <p:nvPr/>
        </p:nvSpPr>
        <p:spPr>
          <a:xfrm>
            <a:off x="130000" y="430000"/>
            <a:ext cx="11932000" cy="21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r"/>
            <a:r>
              <a:rPr lang="en-US" sz="900">
                <a:solidFill>
                  <a:srgbClr val="000000"/>
                </a:solidFill>
                <a:latin typeface="Times New Roman"/>
              </a:rPr>
              <a:t>Figures in thousands.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30000" y="670000"/>
          <a:ext cx="11932000" cy="60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8618"/>
                <a:gridCol w="1085641"/>
                <a:gridCol w="1055484"/>
                <a:gridCol w="1085641"/>
                <a:gridCol w="1085641"/>
                <a:gridCol w="1055484"/>
                <a:gridCol w="1085641"/>
                <a:gridCol w="1186163"/>
                <a:gridCol w="723760"/>
                <a:gridCol w="1186163"/>
                <a:gridCol w="723764"/>
              </a:tblGrid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PU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Previous OBA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RG 2025-26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Previous Budget Proportion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 / 12 * 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Previous Actual Expenditure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up to SEP 2025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D\nCurrent OBA/RG\nRG if available, else BG_ISL 2026-27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Current Budget Proportion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 / 12 * 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Current Actual Expenditure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up to SEP 2026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G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Budget Variation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 - E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H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Current Budget Proportion %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 / E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I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Actual Expenditure Variation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 - C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J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Current OBA Utilization %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 / D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- 14 - FEES &amp; HON.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4,686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0.47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2,343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0.23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560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3,566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0.36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1,783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0.18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499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-1,284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-0.13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28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-61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-0.01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14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- 15 - TA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19,866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1.99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9,933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0.99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13,798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1.38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16,048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1.60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8,024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0.80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13,236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1.32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5,212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0.52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165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-562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-0.06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82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- 16 - TE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523,466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52.35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261,733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26.17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259,486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25.95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308,081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30.81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154,040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15.40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265,224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26.52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111,184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11.12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172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5,738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0.57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86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- 17 - ATPP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2,260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0.23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1,130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0.11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2,110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0.21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1,055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0.11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-1,055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-0.11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- 18 - OE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8,037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0.80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4,018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0.40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8,252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0.83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4,126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0.41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-4,126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-0.41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- 19 - Phone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606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303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655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328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-328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-0.03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- 20 - Leave Salary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14,388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1.44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7,194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0.72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10,173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1.02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18,623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1.86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9,312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0.93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16,079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1.61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6,768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0.68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173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5,906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0.59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86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- 21 - Adv Expenses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2,848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0.28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1,424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0.14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3,300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0.33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1,650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0.17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-1,650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-0.17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- 22 - Util(excl. elec.)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- 23 - Rental Office Equip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-21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130000" y="45000"/>
            <a:ext cx="11932000" cy="36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1900" b="1">
                <a:solidFill>
                  <a:srgbClr val="22A7D8"/>
                </a:solidFill>
                <a:latin typeface="Times New Roman"/>
              </a:rPr>
              <a:t>PU Previous Year Comparison - SEP 2026 | uploaded 2026-10-19T14:05:55+05:30 (Rows 21-30)</a:t>
            </a:r>
          </a:p>
        </p:txBody>
      </p:sp>
      <p:sp>
        <p:nvSpPr>
          <p:cNvPr id="3" name="Text 3"/>
          <p:cNvSpPr/>
          <p:nvPr/>
        </p:nvSpPr>
        <p:spPr>
          <a:xfrm>
            <a:off x="130000" y="430000"/>
            <a:ext cx="11932000" cy="21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r"/>
            <a:r>
              <a:rPr lang="en-US" sz="900">
                <a:solidFill>
                  <a:srgbClr val="000000"/>
                </a:solidFill>
                <a:latin typeface="Times New Roman"/>
              </a:rPr>
              <a:t>Figures in thousands.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30000" y="670000"/>
          <a:ext cx="11932000" cy="60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8618"/>
                <a:gridCol w="1085641"/>
                <a:gridCol w="1055484"/>
                <a:gridCol w="1085641"/>
                <a:gridCol w="1085641"/>
                <a:gridCol w="1055484"/>
                <a:gridCol w="1085641"/>
                <a:gridCol w="1186163"/>
                <a:gridCol w="723760"/>
                <a:gridCol w="1186163"/>
                <a:gridCol w="723764"/>
              </a:tblGrid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PU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Previous OBA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RG 2025-26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Previous Budget Proportion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 / 12 * 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Previous Actual Expenditure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up to SEP 2025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D\nCurrent OBA/RG\nRG if available, else BG_ISL 2026-27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Current Budget Proportion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 / 12 * 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Current Actual Expenditure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up to SEP 2026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G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Budget Variation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 - E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H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Current Budget Proportion %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 / E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I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Actual Expenditure Variation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 - C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J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Current OBA Utilization %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 / D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- 24 - Printing and Stnry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215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108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-108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-0.01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- 25 - Children Edu. Allow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364,718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36.47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182,359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18.24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367,469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36.75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379,418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37.94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189,709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18.97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384,936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38.49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195,227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19.52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203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17,467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1.75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101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- 26 - Medical Expenses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321,438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32.14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160,719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16.07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187,455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18.75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384,392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38.44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192,196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19.22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196,798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19.68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4,602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0.46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102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9,343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0.93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51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- 27 - Materials from stock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1,445,603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144.56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722,802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72.28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651,647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65.16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1,068,752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106.88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534,376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53.44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1,005,406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100.54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471,030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47.10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188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353,759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35.38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94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- 28 - Materials-Dir. purchase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223,635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22.36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111,818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11.18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119,235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11.92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149,947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14.99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74,974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7.50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84,936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8.49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9,962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113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-34,299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-3.43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57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- 29 - Remu. Re-engaged Staff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476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476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470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- 30 - Cost Of Elec. Energy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3,659,596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365.96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1,829,798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182.98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1,980,644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198.06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3,878,724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387.87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1,939,362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193.94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2,320,788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232.08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381,426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38.14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120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340,144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34.01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- 31 - OF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154,625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15.46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77,312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7.73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36,060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3.61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95,273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9.53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47,636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4.76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102,363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10.24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54,726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5.47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215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66,303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6.63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107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- 32 - CP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3,775,796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377.58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1,887,898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188.79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1,835,153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183.52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3,254,310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325.43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1,627,155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162.72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2,025,688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202.57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398,533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39.85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124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190,535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19.05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62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- 33 - TRDC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3,391,480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339.15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1,695,740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169.57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1,443,317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144.33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2,625,440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262.54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1,312,720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131.27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1,229,411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122.94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-83,309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-8.33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94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-213,906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-21.39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47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130000" y="45000"/>
            <a:ext cx="11932000" cy="36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1900" b="1">
                <a:solidFill>
                  <a:srgbClr val="22A7D8"/>
                </a:solidFill>
                <a:latin typeface="Times New Roman"/>
              </a:rPr>
              <a:t>PU Previous Year Comparison - SEP 2026 | uploaded 2026-10-19T14:05:55+05:30 (Rows 31-40)</a:t>
            </a:r>
          </a:p>
        </p:txBody>
      </p:sp>
      <p:sp>
        <p:nvSpPr>
          <p:cNvPr id="3" name="Text 3"/>
          <p:cNvSpPr/>
          <p:nvPr/>
        </p:nvSpPr>
        <p:spPr>
          <a:xfrm>
            <a:off x="130000" y="430000"/>
            <a:ext cx="11932000" cy="21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r"/>
            <a:r>
              <a:rPr lang="en-US" sz="900">
                <a:solidFill>
                  <a:srgbClr val="000000"/>
                </a:solidFill>
                <a:latin typeface="Times New Roman"/>
              </a:rPr>
              <a:t>Figures in thousands.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30000" y="670000"/>
          <a:ext cx="11932000" cy="60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8618"/>
                <a:gridCol w="1085641"/>
                <a:gridCol w="1055484"/>
                <a:gridCol w="1085641"/>
                <a:gridCol w="1085641"/>
                <a:gridCol w="1055484"/>
                <a:gridCol w="1085641"/>
                <a:gridCol w="1186163"/>
                <a:gridCol w="723760"/>
                <a:gridCol w="1186163"/>
                <a:gridCol w="723764"/>
              </a:tblGrid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PU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Previous OBA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RG 2025-26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Previous Budget Proportion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 / 12 * 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Previous Actual Expenditure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up to SEP 2025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D\nCurrent OBA/RG\nRG if available, else BG_ISL 2026-27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Current Budget Proportion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 / 12 * 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Current Actual Expenditure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up to SEP 2026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G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Budget Variation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 - E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H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Current Budget Proportion %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 / E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I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Actual Expenditure Variation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 - C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J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Current OBA Utilization %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 / D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- 36 - Excise Duty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203,822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20.38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101,911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10.19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83,596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8.36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155,548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15.55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77,774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7.78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30,063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3.01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-47,711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-4.77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39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-53,533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-5.35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19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- 38 - Sales Tax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161,025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16.10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80,512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8.05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60,984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6.10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95,829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9.58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47,914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4.79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72,149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7.21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24,234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2.42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151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11,165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1.12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75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- 39 - ATD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920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460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- 42 - ARR SALARY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12,543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1.25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6,272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0.63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12,776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1.28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25,882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2.59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12,941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1.29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5,890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0.59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-7,051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-0.71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-6,886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-0.69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23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- 43 - ARR DA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8,631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0.86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4,316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0.43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5,227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0.52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12,005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1.20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6,002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0.60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2,752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0.28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-3,250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-0.33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-2,475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-0.25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23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- 44 - ARR OTH ALW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22,378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2.24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11,189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1.12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11,821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1.18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11,589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1.16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5,794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0.58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224,748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22.47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218,954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21.90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3879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212,927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21.29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1939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- 49 - O/S M/P TRACK AND SIGNAL MNT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789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394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544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272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10,420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1.04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10,148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1.01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3831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10,418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1.04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1915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- 52 - Laptop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- 53 - All India LTC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200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100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726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614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307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1,798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0.18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1,491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0.15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586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1,072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0.11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293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- 60 - Fuel from Stock-Home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4,909,641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490.96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2,454,820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245.48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2,599,753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259.98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4,703,356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470.34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2,351,678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235.17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3,395,738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339.57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1,044,060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104.41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144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795,985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79.60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72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130000" y="45000"/>
            <a:ext cx="11932000" cy="36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1900" b="1">
                <a:solidFill>
                  <a:srgbClr val="22A7D8"/>
                </a:solidFill>
                <a:latin typeface="Times New Roman"/>
              </a:rPr>
              <a:t>PU Previous Year Comparison - SEP 2026 | uploaded 2026-10-19T14:05:55+05:30 (Rows 41-47)</a:t>
            </a:r>
          </a:p>
        </p:txBody>
      </p:sp>
      <p:sp>
        <p:nvSpPr>
          <p:cNvPr id="3" name="Text 3"/>
          <p:cNvSpPr/>
          <p:nvPr/>
        </p:nvSpPr>
        <p:spPr>
          <a:xfrm>
            <a:off x="130000" y="430000"/>
            <a:ext cx="11932000" cy="21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r"/>
            <a:r>
              <a:rPr lang="en-US" sz="900">
                <a:solidFill>
                  <a:srgbClr val="000000"/>
                </a:solidFill>
                <a:latin typeface="Times New Roman"/>
              </a:rPr>
              <a:t>Figures in thousands.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30000" y="670000"/>
          <a:ext cx="11932000" cy="60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58618"/>
                <a:gridCol w="1085641"/>
                <a:gridCol w="1055484"/>
                <a:gridCol w="1085641"/>
                <a:gridCol w="1085641"/>
                <a:gridCol w="1055484"/>
                <a:gridCol w="1085641"/>
                <a:gridCol w="1186163"/>
                <a:gridCol w="723760"/>
                <a:gridCol w="1186163"/>
                <a:gridCol w="723764"/>
              </a:tblGrid>
              <a:tr h="757250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PU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Previous OBA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RG 2025-26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Previous Budget Proportion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 / 12 * 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Previous Actual Expenditure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up to SEP 2025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D\nCurrent OBA/RG\nRG if available, else BG_ISL 2026-27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Current Budget Proportion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 / 12 * 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Current Actual Expenditure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up to SEP 2026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G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Budget Variation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 - E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H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Current Budget Proportion %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 / E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I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Actual Expenditure Variation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 - C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J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Current OBA Utilization %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 / D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</a:tr>
              <a:tr h="757250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- 72 - Central GST (CGST)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15,454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1.55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7,727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0.77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10,754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1.08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32,329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3.23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16,164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1.62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44,568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4.46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28,404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2.84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276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33,814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3.38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138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</a:tr>
              <a:tr h="757250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- 73 - State GST (SGST)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15,459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1.55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7,730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0.77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10,753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1.08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31,932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3.19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15,966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1.60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44,568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4.46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28,602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2.86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279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33,815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3.38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140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</a:tr>
              <a:tr h="757250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- 74 - Union Territory GST (UTGST)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757250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- 75 - Integrated GST (IGST)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15,534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1.55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7,767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0.78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12,210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1.22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26,098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2.61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13,049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1.30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48,353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4.84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35,304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3.53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371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36,143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3.61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185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</a:tr>
              <a:tr h="757250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- 98 - Credit or Recoveries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-1,194,360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-119.44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-597,180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-59.72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-616,604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-61.66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-1,652,821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-165.28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-826,410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-82.64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-675,020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-67.50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151,390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15.14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82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-58,416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-5.84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41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757250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PU - 99 - OE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1,157,401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115.74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578,700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57.87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2,364,956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236.50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1,797,579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179.76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898,790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89.88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2,347,202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234.72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1,448,412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144.84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261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-17,754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-1.78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131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</a:tr>
              <a:tr h="757250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Total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35,151,374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3515.14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17,575,687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1757.57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19,722,992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1972.30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32,582,828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3258.28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16,291,414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1629.14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21,509,447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2150.94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5,218,033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521.80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132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2323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1,786,455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178.65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66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25A55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130000" y="45000"/>
            <a:ext cx="11932000" cy="36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1900" b="1">
                <a:solidFill>
                  <a:srgbClr val="22A7D8"/>
                </a:solidFill>
                <a:latin typeface="Times New Roman"/>
              </a:rPr>
              <a:t>Demand Previous Year Comparison - SEP 2026 | uploaded 2026-10-19T14:05:55+05:30 (Rows 1-10)</a:t>
            </a:r>
          </a:p>
        </p:txBody>
      </p:sp>
      <p:sp>
        <p:nvSpPr>
          <p:cNvPr id="3" name="Text 3"/>
          <p:cNvSpPr/>
          <p:nvPr/>
        </p:nvSpPr>
        <p:spPr>
          <a:xfrm>
            <a:off x="130000" y="430000"/>
            <a:ext cx="11932000" cy="21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r"/>
            <a:r>
              <a:rPr lang="en-US" sz="900">
                <a:solidFill>
                  <a:srgbClr val="000000"/>
                </a:solidFill>
                <a:latin typeface="Times New Roman"/>
              </a:rPr>
              <a:t>Figures in thousands.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30000" y="670000"/>
          <a:ext cx="11932000" cy="60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82687"/>
                <a:gridCol w="1795932"/>
                <a:gridCol w="946149"/>
                <a:gridCol w="919867"/>
                <a:gridCol w="946149"/>
                <a:gridCol w="946149"/>
                <a:gridCol w="919867"/>
                <a:gridCol w="946149"/>
                <a:gridCol w="1033756"/>
                <a:gridCol w="630766"/>
                <a:gridCol w="1033756"/>
                <a:gridCol w="630773"/>
              </a:tblGrid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Demand No. / SMH-Grant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Department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Previous OBA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RG 2025-26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Previous Budget Proportion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 / 12 * 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Previous Actual Expenditure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up to SEP 2025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D\nCurrent OBA/RG\nRG if available, else BG_ISL 2026-27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Current Budget Proportion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 / 12 * 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Current Actual Expenditure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up to SEP 2026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G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Budget Variation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 - E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H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Current Budget Proportion %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 / E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I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Actual Expenditure Variation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 - C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J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Current OBA Utilization %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 / D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03 / 01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PERSONNEL / STORE And Office Staff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665,629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66.56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332,814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33.28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328,429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32.84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641,522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64.15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320,761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32.08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353,512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35.35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32,751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3.28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25,083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2.51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55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04 / 02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ENGINEERING / PWAY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3,847,643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384.76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1,923,822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192.38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2,033,590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203.36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3,608,902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360.89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1,804,451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180.45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2,126,374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212.64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321,923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32.19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118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92,784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9.28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59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05 / 03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Mechanical LOCO Shed Roza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2,090,612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209.06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1,045,306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104.53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995,067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99.51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1,864,843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186.48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932,422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93.24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782,032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78.20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-150,390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-15.04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84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-213,035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-21.30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42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06 / 04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Electrical General / Mech C&amp;W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1,494,173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149.42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747,086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74.71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802,687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80.27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1,353,581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135.36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676,790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67.68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1,050,104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105.01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373,314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37.33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155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247,417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24.74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78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07 / 05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S&amp;T / TRD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2,214,697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221.47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1,107,348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110.73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1,095,173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109.52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2,059,950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206.00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1,029,975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103.00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1,192,410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119.24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162,435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16.24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97,237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9.72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58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08 / 06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MECHANICAL / Running Staff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3,934,040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393.40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1,967,020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196.70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1,911,829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191.18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3,352,566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335.26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1,676,283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167.63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2,344,788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234.48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668,505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66.85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140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432,959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43.30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70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09 / 07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OPERATING / Commercial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4,981,857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498.19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2,490,928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249.09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2,518,387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251.84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4,428,766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442.88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2,214,383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221.44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2,602,601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260.26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388,218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38.82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118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84,214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8.42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59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10 / 08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Operating Expenses - Fuel / Traction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12,766,553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1276.66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6,383,276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638.33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6,335,607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633.56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11,607,206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1160.72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5,803,603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580.36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7,243,570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724.36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1,439,967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144.00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125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907,963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90.80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62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11 / 09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MEDICAL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1,251,847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125.18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625,924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62.59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941,967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94.20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1,392,832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139.28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696,416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69.64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1,053,707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105.37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357,291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35.73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151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111,740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11.17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76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2CC"/>
                    </a:solidFill>
                  </a:tcPr>
                </a:tc>
              </a:tr>
              <a:tr h="550727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12 / 10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SECURITY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991,836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99.18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495,918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49.59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492,890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49.29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994,638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99.46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497,319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49.73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529,510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52.95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32,191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3.22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106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36,620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3.66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EAF7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53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/>
        </p:nvSpPr>
        <p:spPr>
          <a:xfrm>
            <a:off x="130000" y="45000"/>
            <a:ext cx="11932000" cy="36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ctr"/>
            <a:r>
              <a:rPr lang="en-US" sz="1900" b="1">
                <a:solidFill>
                  <a:srgbClr val="22A7D8"/>
                </a:solidFill>
                <a:latin typeface="Times New Roman"/>
              </a:rPr>
              <a:t>Demand Previous Year Comparison - SEP 2026 | uploaded 2026-10-19T14:05:55+05:30 (Rows 11-13)</a:t>
            </a:r>
          </a:p>
        </p:txBody>
      </p:sp>
      <p:sp>
        <p:nvSpPr>
          <p:cNvPr id="3" name="Text 3"/>
          <p:cNvSpPr/>
          <p:nvPr/>
        </p:nvSpPr>
        <p:spPr>
          <a:xfrm>
            <a:off x="130000" y="430000"/>
            <a:ext cx="11932000" cy="215000"/>
          </a:xfrm>
          <a:prstGeom prst="rect">
            <a:avLst/>
          </a:prstGeom>
          <a:noFill/>
          <a:ln>
            <a:noFill/>
          </a:ln>
        </p:spPr>
        <p:txBody>
          <a:bodyPr wrap="square" anchor="ctr" lIns="50000" rIns="50000" tIns="25000" bIns="25000"/>
          <a:lstStyle/>
          <a:p>
            <a:pPr algn="r"/>
            <a:r>
              <a:rPr lang="en-US" sz="900">
                <a:solidFill>
                  <a:srgbClr val="000000"/>
                </a:solidFill>
                <a:latin typeface="Times New Roman"/>
              </a:rPr>
              <a:t>Figures in thousands.</a:t>
            </a:r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130000" y="670000"/>
          <a:ext cx="11932000" cy="60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82687"/>
                <a:gridCol w="1795932"/>
                <a:gridCol w="946149"/>
                <a:gridCol w="919867"/>
                <a:gridCol w="946149"/>
                <a:gridCol w="946149"/>
                <a:gridCol w="919867"/>
                <a:gridCol w="946149"/>
                <a:gridCol w="1033756"/>
                <a:gridCol w="630766"/>
                <a:gridCol w="1033756"/>
                <a:gridCol w="630773"/>
              </a:tblGrid>
              <a:tr h="1514500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Demand No. / SMH-Grant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Department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Previous OBA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RG 2025-26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Previous Budget Proportion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 / 12 * 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Previous Actual Expenditure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up to SEP 2025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D\nCurrent OBA/RG\nRG if available, else BG_ISL 2026-27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Current Budget Proportion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D / 12 * 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Current Actual Expenditure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up to SEP 2026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G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Budget Variation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 - E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H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Current Budget Proportion %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 / E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I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Actual Expenditure Variation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 - C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J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Current OBA Utilization %</a:t>
                      </a:r>
                      <a:br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F / D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1F4E79"/>
                    </a:solidFill>
                  </a:tcPr>
                </a:tc>
              </a:tr>
              <a:tr h="1514500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13 / 11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Pension and Retirement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1,103,187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110.32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551,594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55.16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601,940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60.19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1,291,067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129.11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645,534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64.55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639,713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63.97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-5,820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-0.58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99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37,773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3.78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50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FF3E7"/>
                    </a:solidFill>
                  </a:tcPr>
                </a:tc>
              </a:tr>
              <a:tr h="1514500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Total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/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35,342,074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3534.21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17,671,037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1767.10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18,057,566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1805.76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32,595,873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3259.59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16,297,936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1629.79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19,918,321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1991.83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3,620,384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362.04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122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D92323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1,860,755</a:t>
                      </a:r>
                      <a:br/>
                      <a:r>
                        <a:rPr lang="en-US" sz="820" b="1">
                          <a:solidFill>
                            <a:srgbClr val="006F78"/>
                          </a:solidFill>
                          <a:latin typeface="Times New Roman"/>
                        </a:rPr>
                        <a:t>186.08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C8D6E8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FFFFFF"/>
                          </a:solidFill>
                          <a:latin typeface="Times New Roman"/>
                        </a:rPr>
                        <a:t>61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25A55B"/>
                    </a:solidFill>
                  </a:tcPr>
                </a:tc>
              </a:tr>
              <a:tr h="1514500"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Demand 12N / 10N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l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Suspense Heads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-190,700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-19.07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-95,350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-9.54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1,665,478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166.55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-13,045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-1.30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-6,522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-0.65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1,591,127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159.11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1,597,650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159.76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-24394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>
                          <a:solidFill>
                            <a:srgbClr val="000000"/>
                          </a:solidFill>
                          <a:latin typeface="Times New Roman"/>
                        </a:rPr>
                        <a:t>-74,351</a:t>
                      </a:r>
                      <a:br/>
                      <a:r>
                        <a:rPr lang="en-US" sz="820">
                          <a:solidFill>
                            <a:srgbClr val="006F78"/>
                          </a:solidFill>
                          <a:latin typeface="Times New Roman"/>
                        </a:rPr>
                        <a:t>-7.44 Cr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anchor="ctr" lIns="18000" rIns="18000" tIns="10000" bIns="10000"/>
                    <a:lstStyle/>
                    <a:p>
                      <a:pPr algn="ctr"/>
                      <a:r>
                        <a:rPr lang="en-US" sz="1000" b="1">
                          <a:solidFill>
                            <a:srgbClr val="000000"/>
                          </a:solidFill>
                          <a:latin typeface="Times New Roman"/>
                        </a:rPr>
                        <a:t>-12197</a:t>
                      </a:r>
                    </a:p>
                  </a:txBody>
                  <a:tcPr marL="12000" marR="12000" marT="8000" marB="8000">
                    <a:lnL w="12700">
                      <a:solidFill>
                        <a:srgbClr val="000000"/>
                      </a:solidFill>
                    </a:lnL>
                    <a:lnR w="12700">
                      <a:solidFill>
                        <a:srgbClr val="000000"/>
                      </a:solidFill>
                    </a:lnR>
                    <a:lnT w="12700">
                      <a:solidFill>
                        <a:srgbClr val="000000"/>
                      </a:solidFill>
                    </a:lnT>
                    <a:lnB w="12700">
                      <a:solidFill>
                        <a:srgbClr val="000000"/>
                      </a:solidFill>
                    </a:lnB>
                    <a:solidFill>
                      <a:srgbClr val="FCE4E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208</TotalTime>
  <Words>1901</Words>
  <Application>Microsoft Office PowerPoint</Application>
  <PresentationFormat>Widescreen</PresentationFormat>
  <Paragraphs>476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Times New Roman</vt:lpstr>
      <vt:lpstr>Trebuchet MS</vt:lpstr>
      <vt:lpstr>Wingdings 3</vt:lpstr>
      <vt:lpstr>Facet</vt:lpstr>
      <vt:lpstr>Moradabad Division Accounts Dept FY – 2026-2027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Moradabad Division FY – 2026-2027</dc:title>
  <dc:creator>girish</dc:creator>
  <cp:lastModifiedBy>it centre mb</cp:lastModifiedBy>
  <cp:revision>29</cp:revision>
  <dcterms:created xsi:type="dcterms:W3CDTF">2026-07-10T14:38:31Z</dcterms:created>
  <dcterms:modified xsi:type="dcterms:W3CDTF">2026-08-10T08:17:23Z</dcterms:modified>
</cp:coreProperties>
</file>