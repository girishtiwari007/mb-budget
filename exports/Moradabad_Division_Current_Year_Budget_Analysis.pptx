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43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3C2FFA5D-87B4-456A-9821-1D502468CF0F}" styleName="Themed Style 1 - Accent 1">
    <a:tblBg>
      <a:fillRef idx="2">
        <a:schemeClr val="accent1"/>
      </a:fillRef>
      <a:effectRef idx="1">
        <a:schemeClr val="accent1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Ref idx="1">
              <a:schemeClr val="accent1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  <a:fill>
          <a:solidFill>
            <a:schemeClr val="accent1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1"/>
            </a:lnRef>
          </a:left>
          <a:right>
            <a:lnRef idx="2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2">
              <a:schemeClr val="accent1"/>
            </a:lnRef>
          </a:top>
          <a:bottom>
            <a:lnRef idx="2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/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616DA210-FB5B-4158-B5E0-FEB733F419BA}" styleName="Light Style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84" autoAdjust="0"/>
    <p:restoredTop sz="94947" autoAdjust="0"/>
  </p:normalViewPr>
  <p:slideViewPr>
    <p:cSldViewPr snapToGrid="0">
      <p:cViewPr varScale="1">
        <p:scale>
          <a:sx n="108" d="100"/>
          <a:sy n="108" d="100"/>
        </p:scale>
        <p:origin x="714" y="96"/>
      </p:cViewPr>
      <p:guideLst/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2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11" Type="http://schemas.openxmlformats.org/officeDocument/2006/relationships/theme" Target="theme/theme1.xml"/><Relationship Id="rId10" Type="http://schemas.openxmlformats.org/officeDocument/2006/relationships/viewProps" Target="viewProps.xml"/><Relationship Id="rId9" Type="http://schemas.openxmlformats.org/officeDocument/2006/relationships/presProps" Target="presProps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/>
          <p:cNvGrpSpPr/>
          <p:nvPr/>
        </p:nvGrpSpPr>
        <p:grpSpPr>
          <a:xfrm>
            <a:off x="0" y="-8467"/>
            <a:ext cx="12192000" cy="6866467"/>
            <a:chOff x="0" y="-8467"/>
            <a:chExt cx="12192000" cy="6866467"/>
          </a:xfrm>
        </p:grpSpPr>
        <p:cxnSp>
          <p:nvCxnSpPr>
            <p:cNvPr id="32" name="Straight Connector 31"/>
            <p:cNvCxnSpPr/>
            <p:nvPr/>
          </p:nvCxnSpPr>
          <p:spPr>
            <a:xfrm>
              <a:off x="9371012" y="0"/>
              <a:ext cx="1219200" cy="6858000"/>
            </a:xfrm>
            <a:prstGeom prst="line">
              <a:avLst/>
            </a:prstGeom>
            <a:ln w="952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/>
            <p:cNvCxnSpPr/>
            <p:nvPr/>
          </p:nvCxnSpPr>
          <p:spPr>
            <a:xfrm flipH="1">
              <a:off x="7425267" y="3681413"/>
              <a:ext cx="4763558" cy="3176587"/>
            </a:xfrm>
            <a:prstGeom prst="line">
              <a:avLst/>
            </a:prstGeom>
            <a:ln w="9525"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4" name="Rectangle 23"/>
            <p:cNvSpPr/>
            <p:nvPr/>
          </p:nvSpPr>
          <p:spPr>
            <a:xfrm>
              <a:off x="9181476" y="-8467"/>
              <a:ext cx="3007349" cy="6866467"/>
            </a:xfrm>
            <a:custGeom>
              <a:avLst/>
              <a:gdLst/>
              <a:ahLst/>
              <a:cxnLst/>
              <a:rect l="l" t="t" r="r" b="b"/>
              <a:pathLst>
                <a:path w="3007349" h="6866467">
                  <a:moveTo>
                    <a:pt x="2045532" y="0"/>
                  </a:moveTo>
                  <a:lnTo>
                    <a:pt x="3007349" y="0"/>
                  </a:lnTo>
                  <a:lnTo>
                    <a:pt x="3007349" y="6866467"/>
                  </a:lnTo>
                  <a:lnTo>
                    <a:pt x="0" y="6866467"/>
                  </a:lnTo>
                  <a:lnTo>
                    <a:pt x="2045532" y="0"/>
                  </a:lnTo>
                  <a:close/>
                </a:path>
              </a:pathLst>
            </a:custGeom>
            <a:solidFill>
              <a:schemeClr val="accent1">
                <a:alpha val="3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6" name="Rectangle 25"/>
            <p:cNvSpPr/>
            <p:nvPr/>
          </p:nvSpPr>
          <p:spPr>
            <a:xfrm>
              <a:off x="9603442" y="-8467"/>
              <a:ext cx="2588558" cy="6866467"/>
            </a:xfrm>
            <a:custGeom>
              <a:avLst/>
              <a:gdLst/>
              <a:ahLst/>
              <a:cxnLst/>
              <a:rect l="l" t="t" r="r" b="b"/>
              <a:pathLst>
                <a:path w="2573311" h="6866467">
                  <a:moveTo>
                    <a:pt x="0" y="0"/>
                  </a:moveTo>
                  <a:lnTo>
                    <a:pt x="2573311" y="0"/>
                  </a:lnTo>
                  <a:lnTo>
                    <a:pt x="2573311" y="6866467"/>
                  </a:lnTo>
                  <a:lnTo>
                    <a:pt x="1202336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7" name="Isosceles Triangle 26"/>
            <p:cNvSpPr/>
            <p:nvPr/>
          </p:nvSpPr>
          <p:spPr>
            <a:xfrm>
              <a:off x="8932333" y="3048000"/>
              <a:ext cx="3259667" cy="3810000"/>
            </a:xfrm>
            <a:prstGeom prst="triangle">
              <a:avLst>
                <a:gd name="adj" fmla="val 100000"/>
              </a:avLst>
            </a:prstGeom>
            <a:solidFill>
              <a:schemeClr val="accent2">
                <a:alpha val="72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8" name="Rectangle 27"/>
            <p:cNvSpPr/>
            <p:nvPr/>
          </p:nvSpPr>
          <p:spPr>
            <a:xfrm>
              <a:off x="9334500" y="-8467"/>
              <a:ext cx="2854326" cy="6866467"/>
            </a:xfrm>
            <a:custGeom>
              <a:avLst/>
              <a:gdLst/>
              <a:ahLst/>
              <a:cxnLst/>
              <a:rect l="l" t="t" r="r" b="b"/>
              <a:pathLst>
                <a:path w="2858013" h="6866467">
                  <a:moveTo>
                    <a:pt x="0" y="0"/>
                  </a:moveTo>
                  <a:lnTo>
                    <a:pt x="2858013" y="0"/>
                  </a:lnTo>
                  <a:lnTo>
                    <a:pt x="2858013" y="6866467"/>
                  </a:lnTo>
                  <a:lnTo>
                    <a:pt x="2473942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>
                <a:lumMod val="75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9" name="Rectangle 28"/>
            <p:cNvSpPr/>
            <p:nvPr/>
          </p:nvSpPr>
          <p:spPr>
            <a:xfrm>
              <a:off x="10898730" y="-8467"/>
              <a:ext cx="1290094" cy="6866467"/>
            </a:xfrm>
            <a:custGeom>
              <a:avLst/>
              <a:gdLst/>
              <a:ahLst/>
              <a:cxnLst/>
              <a:rect l="l" t="t" r="r" b="b"/>
              <a:pathLst>
                <a:path w="1290094" h="6858000">
                  <a:moveTo>
                    <a:pt x="1019735" y="0"/>
                  </a:moveTo>
                  <a:lnTo>
                    <a:pt x="1290094" y="0"/>
                  </a:lnTo>
                  <a:lnTo>
                    <a:pt x="1290094" y="6858000"/>
                  </a:lnTo>
                  <a:lnTo>
                    <a:pt x="0" y="6858000"/>
                  </a:lnTo>
                  <a:lnTo>
                    <a:pt x="1019735" y="0"/>
                  </a:lnTo>
                  <a:close/>
                </a:path>
              </a:pathLst>
            </a:custGeom>
            <a:solidFill>
              <a:schemeClr val="accent1">
                <a:lumMod val="60000"/>
                <a:lumOff val="40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30" name="Rectangle 29"/>
            <p:cNvSpPr/>
            <p:nvPr/>
          </p:nvSpPr>
          <p:spPr>
            <a:xfrm>
              <a:off x="10938999" y="-8467"/>
              <a:ext cx="1249825" cy="6866467"/>
            </a:xfrm>
            <a:custGeom>
              <a:avLst/>
              <a:gdLst/>
              <a:ahLst/>
              <a:cxnLst/>
              <a:rect l="l" t="t" r="r" b="b"/>
              <a:pathLst>
                <a:path w="1249825" h="6858000">
                  <a:moveTo>
                    <a:pt x="0" y="0"/>
                  </a:moveTo>
                  <a:lnTo>
                    <a:pt x="1249825" y="0"/>
                  </a:lnTo>
                  <a:lnTo>
                    <a:pt x="1249825" y="6858000"/>
                  </a:lnTo>
                  <a:lnTo>
                    <a:pt x="1109382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6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31" name="Isosceles Triangle 30"/>
            <p:cNvSpPr/>
            <p:nvPr/>
          </p:nvSpPr>
          <p:spPr>
            <a:xfrm>
              <a:off x="10371666" y="3589867"/>
              <a:ext cx="1817159" cy="3268133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alpha val="8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9" name="Isosceles Triangle 18"/>
            <p:cNvSpPr/>
            <p:nvPr/>
          </p:nvSpPr>
          <p:spPr>
            <a:xfrm rot="10800000">
              <a:off x="0" y="0"/>
              <a:ext cx="842596" cy="5666154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alpha val="8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07067" y="2404534"/>
            <a:ext cx="7766936" cy="1646302"/>
          </a:xfrm>
        </p:spPr>
        <p:txBody>
          <a:bodyPr anchor="b">
            <a:noAutofit/>
          </a:bodyPr>
          <a:lstStyle>
            <a:lvl1pPr algn="r">
              <a:defRPr sz="5400">
                <a:solidFill>
                  <a:schemeClr val="accent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07067" y="4050833"/>
            <a:ext cx="7766936" cy="1096899"/>
          </a:xfrm>
        </p:spPr>
        <p:txBody>
          <a:bodyPr anchor="t"/>
          <a:lstStyle>
            <a:lvl1pPr marL="0" indent="0" algn="r">
              <a:buNone/>
              <a:defRPr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A35F6B-60EE-4E23-AF30-AF29AAFFCFD7}" type="datetimeFigureOut">
              <a:rPr lang="en-IN" smtClean="0"/>
              <a:t>10-08-2026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B82001-2828-4277-A850-18FA655D73F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52141528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A35F6B-60EE-4E23-AF30-AF29AAFFCFD7}" type="datetimeFigureOut">
              <a:rPr lang="en-IN" smtClean="0"/>
              <a:t>10-08-2026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B82001-2828-4277-A850-18FA655D73F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62020106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5" y="2700867"/>
            <a:ext cx="8596668" cy="1826581"/>
          </a:xfrm>
        </p:spPr>
        <p:txBody>
          <a:bodyPr anchor="b"/>
          <a:lstStyle>
            <a:lvl1pPr algn="l">
              <a:defRPr sz="40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860400"/>
          </a:xfrm>
        </p:spPr>
        <p:txBody>
          <a:bodyPr anchor="t"/>
          <a:lstStyle>
            <a:lvl1pPr marL="0" indent="0" algn="l">
              <a:buNone/>
              <a:defRPr sz="20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A35F6B-60EE-4E23-AF30-AF29AAFFCFD7}" type="datetimeFigureOut">
              <a:rPr lang="en-IN" smtClean="0"/>
              <a:t>10-08-2026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B82001-2828-4277-A850-18FA655D73F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14812038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77334" y="2160589"/>
            <a:ext cx="4184035" cy="388077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089970" y="2160589"/>
            <a:ext cx="4184034" cy="388077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A35F6B-60EE-4E23-AF30-AF29AAFFCFD7}" type="datetimeFigureOut">
              <a:rPr lang="en-IN" smtClean="0"/>
              <a:t>10-08-2026</a:t>
            </a:fld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B82001-2828-4277-A850-18FA655D73F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50324102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5745" y="2160983"/>
            <a:ext cx="4185623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75745" y="2737245"/>
            <a:ext cx="4185623" cy="3304117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088383" y="2160983"/>
            <a:ext cx="4185618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088384" y="2737245"/>
            <a:ext cx="4185617" cy="3304117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A35F6B-60EE-4E23-AF30-AF29AAFFCFD7}" type="datetimeFigureOut">
              <a:rPr lang="en-IN" smtClean="0"/>
              <a:t>10-08-2026</a:t>
            </a:fld>
            <a:endParaRPr lang="en-IN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B82001-2828-4277-A850-18FA655D73F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83213182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4" y="609600"/>
            <a:ext cx="8596668" cy="132080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A35F6B-60EE-4E23-AF30-AF29AAFFCFD7}" type="datetimeFigureOut">
              <a:rPr lang="en-IN" smtClean="0"/>
              <a:t>10-08-2026</a:t>
            </a:fld>
            <a:endParaRPr lang="en-IN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B82001-2828-4277-A850-18FA655D73F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5412233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A35F6B-60EE-4E23-AF30-AF29AAFFCFD7}" type="datetimeFigureOut">
              <a:rPr lang="en-IN" smtClean="0"/>
              <a:t>10-08-2026</a:t>
            </a:fld>
            <a:endParaRPr lang="en-IN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B82001-2828-4277-A850-18FA655D73F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49235773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4" y="1498604"/>
            <a:ext cx="3854528" cy="1278466"/>
          </a:xfrm>
        </p:spPr>
        <p:txBody>
          <a:bodyPr anchor="b">
            <a:normAutofit/>
          </a:bodyPr>
          <a:lstStyle>
            <a:lvl1pPr>
              <a:defRPr sz="2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0461" y="514924"/>
            <a:ext cx="4513541" cy="5526437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77334" y="2777069"/>
            <a:ext cx="3854528" cy="2584449"/>
          </a:xfrm>
        </p:spPr>
        <p:txBody>
          <a:bodyPr>
            <a:normAutofit/>
          </a:bodyPr>
          <a:lstStyle>
            <a:lvl1pPr marL="0" indent="0">
              <a:buNone/>
              <a:defRPr sz="1400"/>
            </a:lvl1pPr>
            <a:lvl2pPr marL="457063" indent="0">
              <a:buNone/>
              <a:defRPr sz="1400"/>
            </a:lvl2pPr>
            <a:lvl3pPr marL="914126" indent="0">
              <a:buNone/>
              <a:defRPr sz="1200"/>
            </a:lvl3pPr>
            <a:lvl4pPr marL="1371189" indent="0">
              <a:buNone/>
              <a:defRPr sz="1000"/>
            </a:lvl4pPr>
            <a:lvl5pPr marL="1828251" indent="0">
              <a:buNone/>
              <a:defRPr sz="1000"/>
            </a:lvl5pPr>
            <a:lvl6pPr marL="2285314" indent="0">
              <a:buNone/>
              <a:defRPr sz="1000"/>
            </a:lvl6pPr>
            <a:lvl7pPr marL="2742377" indent="0">
              <a:buNone/>
              <a:defRPr sz="1000"/>
            </a:lvl7pPr>
            <a:lvl8pPr marL="3199440" indent="0">
              <a:buNone/>
              <a:defRPr sz="1000"/>
            </a:lvl8pPr>
            <a:lvl9pPr marL="3656503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A35F6B-60EE-4E23-AF30-AF29AAFFCFD7}" type="datetimeFigureOut">
              <a:rPr lang="en-IN" smtClean="0"/>
              <a:t>10-08-2026</a:t>
            </a:fld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B82001-2828-4277-A850-18FA655D73F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44423852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4" y="4800600"/>
            <a:ext cx="8596667" cy="566738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677334" y="609600"/>
            <a:ext cx="8596668" cy="3845718"/>
          </a:xfrm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77334" y="5367338"/>
            <a:ext cx="8596667" cy="674024"/>
          </a:xfrm>
        </p:spPr>
        <p:txBody>
          <a:bodyPr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A35F6B-60EE-4E23-AF30-AF29AAFFCFD7}" type="datetimeFigureOut">
              <a:rPr lang="en-IN" smtClean="0"/>
              <a:t>10-08-2026</a:t>
            </a:fld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B82001-2828-4277-A850-18FA655D73F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71271731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5" y="609600"/>
            <a:ext cx="8596668" cy="3403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470400"/>
            <a:ext cx="8596668" cy="1570962"/>
          </a:xfrm>
        </p:spPr>
        <p:txBody>
          <a:bodyPr anchor="ctr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A35F6B-60EE-4E23-AF30-AF29AAFFCFD7}" type="datetimeFigureOut">
              <a:rPr lang="en-IN" smtClean="0"/>
              <a:t>10-08-2026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B82001-2828-4277-A850-18FA655D73F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35488039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1334" y="609600"/>
            <a:ext cx="8094134" cy="3022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1366139" y="3632200"/>
            <a:ext cx="7224524" cy="381000"/>
          </a:xfrm>
        </p:spPr>
        <p:txBody>
          <a:bodyPr anchor="ctr">
            <a:noAutofit/>
          </a:bodyPr>
          <a:lstStyle>
            <a:lvl1pPr marL="0" indent="0">
              <a:buFontTx/>
              <a:buNone/>
              <a:defRPr sz="16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470400"/>
            <a:ext cx="8596668" cy="1570962"/>
          </a:xfrm>
        </p:spPr>
        <p:txBody>
          <a:bodyPr anchor="ctr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A35F6B-60EE-4E23-AF30-AF29AAFFCFD7}" type="datetimeFigureOut">
              <a:rPr lang="en-IN" smtClean="0"/>
              <a:t>10-08-2026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B82001-2828-4277-A850-18FA655D73F5}" type="slidenum">
              <a:rPr lang="en-IN" smtClean="0"/>
              <a:t>‹#›</a:t>
            </a:fld>
            <a:endParaRPr lang="en-IN"/>
          </a:p>
        </p:txBody>
      </p:sp>
      <p:sp>
        <p:nvSpPr>
          <p:cNvPr id="20" name="TextBox 19"/>
          <p:cNvSpPr txBox="1"/>
          <p:nvPr/>
        </p:nvSpPr>
        <p:spPr>
          <a:xfrm>
            <a:off x="541870" y="790378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893011" y="2886556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latin typeface="Arial"/>
              </a:rPr>
              <a:t>”</a:t>
            </a:r>
            <a:endParaRPr lang="en-US" dirty="0">
              <a:solidFill>
                <a:schemeClr val="accent1">
                  <a:lumMod val="60000"/>
                  <a:lumOff val="40000"/>
                </a:schemeClr>
              </a:solidFill>
              <a:latin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2734124897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5" y="1931988"/>
            <a:ext cx="8596668" cy="2595460"/>
          </a:xfrm>
        </p:spPr>
        <p:txBody>
          <a:bodyPr anchor="b">
            <a:normAutofit/>
          </a:bodyPr>
          <a:lstStyle>
            <a:lvl1pPr algn="l">
              <a:defRPr sz="44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1513914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A35F6B-60EE-4E23-AF30-AF29AAFFCFD7}" type="datetimeFigureOut">
              <a:rPr lang="en-IN" smtClean="0"/>
              <a:t>10-08-2026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B82001-2828-4277-A850-18FA655D73F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494846458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1334" y="609600"/>
            <a:ext cx="8094134" cy="3022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677332" y="4013200"/>
            <a:ext cx="8596669" cy="514248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24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1513914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A35F6B-60EE-4E23-AF30-AF29AAFFCFD7}" type="datetimeFigureOut">
              <a:rPr lang="en-IN" smtClean="0"/>
              <a:t>10-08-2026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B82001-2828-4277-A850-18FA655D73F5}" type="slidenum">
              <a:rPr lang="en-IN" smtClean="0"/>
              <a:t>‹#›</a:t>
            </a:fld>
            <a:endParaRPr lang="en-IN"/>
          </a:p>
        </p:txBody>
      </p:sp>
      <p:sp>
        <p:nvSpPr>
          <p:cNvPr id="24" name="TextBox 23"/>
          <p:cNvSpPr txBox="1"/>
          <p:nvPr/>
        </p:nvSpPr>
        <p:spPr>
          <a:xfrm>
            <a:off x="541870" y="790378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893011" y="2886556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3008026637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rue or Fals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799" y="609600"/>
            <a:ext cx="8588203" cy="3022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677332" y="4013200"/>
            <a:ext cx="8596669" cy="514248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2400">
                <a:solidFill>
                  <a:schemeClr val="accent1"/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1513914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A35F6B-60EE-4E23-AF30-AF29AAFFCFD7}" type="datetimeFigureOut">
              <a:rPr lang="en-IN" smtClean="0"/>
              <a:t>10-08-2026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B82001-2828-4277-A850-18FA655D73F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438152637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A35F6B-60EE-4E23-AF30-AF29AAFFCFD7}" type="datetimeFigureOut">
              <a:rPr lang="en-IN" smtClean="0"/>
              <a:t>10-08-2026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B82001-2828-4277-A850-18FA655D73F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516669167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7967673" y="609599"/>
            <a:ext cx="1304743" cy="5251451"/>
          </a:xfrm>
        </p:spPr>
        <p:txBody>
          <a:bodyPr vert="eaVert" anchor="ctr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77335" y="609600"/>
            <a:ext cx="7060150" cy="5251450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A35F6B-60EE-4E23-AF30-AF29AAFFCFD7}" type="datetimeFigureOut">
              <a:rPr lang="en-IN" smtClean="0"/>
              <a:t>10-08-2026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B82001-2828-4277-A850-18FA655D73F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3768102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/>
          <p:cNvGrpSpPr/>
          <p:nvPr/>
        </p:nvGrpSpPr>
        <p:grpSpPr>
          <a:xfrm>
            <a:off x="0" y="-8467"/>
            <a:ext cx="12192000" cy="6866467"/>
            <a:chOff x="0" y="-8467"/>
            <a:chExt cx="12192000" cy="6866467"/>
          </a:xfrm>
        </p:grpSpPr>
        <p:cxnSp>
          <p:nvCxnSpPr>
            <p:cNvPr id="20" name="Straight Connector 19"/>
            <p:cNvCxnSpPr/>
            <p:nvPr/>
          </p:nvCxnSpPr>
          <p:spPr>
            <a:xfrm>
              <a:off x="9371012" y="0"/>
              <a:ext cx="1219200" cy="6858000"/>
            </a:xfrm>
            <a:prstGeom prst="line">
              <a:avLst/>
            </a:prstGeom>
            <a:ln w="952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/>
            <p:cNvCxnSpPr/>
            <p:nvPr/>
          </p:nvCxnSpPr>
          <p:spPr>
            <a:xfrm flipH="1">
              <a:off x="7425267" y="3681413"/>
              <a:ext cx="4763558" cy="3176587"/>
            </a:xfrm>
            <a:prstGeom prst="line">
              <a:avLst/>
            </a:prstGeom>
            <a:ln w="9525"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2" name="Rectangle 23"/>
            <p:cNvSpPr/>
            <p:nvPr/>
          </p:nvSpPr>
          <p:spPr>
            <a:xfrm>
              <a:off x="9181476" y="-8467"/>
              <a:ext cx="3007349" cy="6866467"/>
            </a:xfrm>
            <a:custGeom>
              <a:avLst/>
              <a:gdLst/>
              <a:ahLst/>
              <a:cxnLst/>
              <a:rect l="l" t="t" r="r" b="b"/>
              <a:pathLst>
                <a:path w="3007349" h="6866467">
                  <a:moveTo>
                    <a:pt x="2045532" y="0"/>
                  </a:moveTo>
                  <a:lnTo>
                    <a:pt x="3007349" y="0"/>
                  </a:lnTo>
                  <a:lnTo>
                    <a:pt x="3007349" y="6866467"/>
                  </a:lnTo>
                  <a:lnTo>
                    <a:pt x="0" y="6866467"/>
                  </a:lnTo>
                  <a:lnTo>
                    <a:pt x="2045532" y="0"/>
                  </a:lnTo>
                  <a:close/>
                </a:path>
              </a:pathLst>
            </a:custGeom>
            <a:solidFill>
              <a:schemeClr val="accent1">
                <a:alpha val="3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3" name="Rectangle 25"/>
            <p:cNvSpPr/>
            <p:nvPr/>
          </p:nvSpPr>
          <p:spPr>
            <a:xfrm>
              <a:off x="9603442" y="-8467"/>
              <a:ext cx="2588558" cy="6866467"/>
            </a:xfrm>
            <a:custGeom>
              <a:avLst/>
              <a:gdLst/>
              <a:ahLst/>
              <a:cxnLst/>
              <a:rect l="l" t="t" r="r" b="b"/>
              <a:pathLst>
                <a:path w="2573311" h="6866467">
                  <a:moveTo>
                    <a:pt x="0" y="0"/>
                  </a:moveTo>
                  <a:lnTo>
                    <a:pt x="2573311" y="0"/>
                  </a:lnTo>
                  <a:lnTo>
                    <a:pt x="2573311" y="6866467"/>
                  </a:lnTo>
                  <a:lnTo>
                    <a:pt x="1202336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4" name="Isosceles Triangle 23"/>
            <p:cNvSpPr/>
            <p:nvPr/>
          </p:nvSpPr>
          <p:spPr>
            <a:xfrm>
              <a:off x="8932333" y="3048000"/>
              <a:ext cx="3259667" cy="3810000"/>
            </a:xfrm>
            <a:prstGeom prst="triangle">
              <a:avLst>
                <a:gd name="adj" fmla="val 100000"/>
              </a:avLst>
            </a:prstGeom>
            <a:solidFill>
              <a:schemeClr val="accent2">
                <a:alpha val="72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5" name="Rectangle 27"/>
            <p:cNvSpPr/>
            <p:nvPr/>
          </p:nvSpPr>
          <p:spPr>
            <a:xfrm>
              <a:off x="9334500" y="-8467"/>
              <a:ext cx="2854326" cy="6866467"/>
            </a:xfrm>
            <a:custGeom>
              <a:avLst/>
              <a:gdLst/>
              <a:ahLst/>
              <a:cxnLst/>
              <a:rect l="l" t="t" r="r" b="b"/>
              <a:pathLst>
                <a:path w="2858013" h="6866467">
                  <a:moveTo>
                    <a:pt x="0" y="0"/>
                  </a:moveTo>
                  <a:lnTo>
                    <a:pt x="2858013" y="0"/>
                  </a:lnTo>
                  <a:lnTo>
                    <a:pt x="2858013" y="6866467"/>
                  </a:lnTo>
                  <a:lnTo>
                    <a:pt x="2473942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>
                <a:lumMod val="75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6" name="Rectangle 28"/>
            <p:cNvSpPr/>
            <p:nvPr/>
          </p:nvSpPr>
          <p:spPr>
            <a:xfrm>
              <a:off x="10898730" y="-8467"/>
              <a:ext cx="1290094" cy="6866467"/>
            </a:xfrm>
            <a:custGeom>
              <a:avLst/>
              <a:gdLst/>
              <a:ahLst/>
              <a:cxnLst/>
              <a:rect l="l" t="t" r="r" b="b"/>
              <a:pathLst>
                <a:path w="1290094" h="6858000">
                  <a:moveTo>
                    <a:pt x="1019735" y="0"/>
                  </a:moveTo>
                  <a:lnTo>
                    <a:pt x="1290094" y="0"/>
                  </a:lnTo>
                  <a:lnTo>
                    <a:pt x="1290094" y="6858000"/>
                  </a:lnTo>
                  <a:lnTo>
                    <a:pt x="0" y="6858000"/>
                  </a:lnTo>
                  <a:lnTo>
                    <a:pt x="1019735" y="0"/>
                  </a:lnTo>
                  <a:close/>
                </a:path>
              </a:pathLst>
            </a:custGeom>
            <a:solidFill>
              <a:schemeClr val="accent1">
                <a:lumMod val="60000"/>
                <a:lumOff val="40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7" name="Rectangle 29"/>
            <p:cNvSpPr/>
            <p:nvPr/>
          </p:nvSpPr>
          <p:spPr>
            <a:xfrm>
              <a:off x="10938999" y="-8467"/>
              <a:ext cx="1249825" cy="6866467"/>
            </a:xfrm>
            <a:custGeom>
              <a:avLst/>
              <a:gdLst/>
              <a:ahLst/>
              <a:cxnLst/>
              <a:rect l="l" t="t" r="r" b="b"/>
              <a:pathLst>
                <a:path w="1249825" h="6858000">
                  <a:moveTo>
                    <a:pt x="0" y="0"/>
                  </a:moveTo>
                  <a:lnTo>
                    <a:pt x="1249825" y="0"/>
                  </a:lnTo>
                  <a:lnTo>
                    <a:pt x="1249825" y="6858000"/>
                  </a:lnTo>
                  <a:lnTo>
                    <a:pt x="1109382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6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8" name="Isosceles Triangle 27"/>
            <p:cNvSpPr/>
            <p:nvPr/>
          </p:nvSpPr>
          <p:spPr>
            <a:xfrm>
              <a:off x="10371666" y="3589867"/>
              <a:ext cx="1817159" cy="3268133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alpha val="8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9" name="Isosceles Triangle 28"/>
            <p:cNvSpPr/>
            <p:nvPr/>
          </p:nvSpPr>
          <p:spPr>
            <a:xfrm>
              <a:off x="0" y="4013200"/>
              <a:ext cx="448733" cy="2844800"/>
            </a:xfrm>
            <a:prstGeom prst="triangle">
              <a:avLst>
                <a:gd name="adj" fmla="val 0"/>
              </a:avLst>
            </a:prstGeom>
            <a:solidFill>
              <a:schemeClr val="accent1">
                <a:alpha val="8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77334" y="609600"/>
            <a:ext cx="8596668" cy="1320800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4" y="2160589"/>
            <a:ext cx="8596668" cy="388077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205133" y="6041362"/>
            <a:ext cx="91193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1A35F6B-60EE-4E23-AF30-AF29AAFFCFD7}" type="datetimeFigureOut">
              <a:rPr lang="en-IN" smtClean="0"/>
              <a:t>10-08-2026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677334" y="6041362"/>
            <a:ext cx="629761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590663" y="6041362"/>
            <a:ext cx="68333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accent1"/>
                </a:solidFill>
              </a:defRPr>
            </a:lvl1pPr>
          </a:lstStyle>
          <a:p>
            <a:fld id="{1EB82001-2828-4277-A850-18FA655D73F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86800765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44" r:id="rId1"/>
    <p:sldLayoutId id="2147483745" r:id="rId2"/>
    <p:sldLayoutId id="2147483746" r:id="rId3"/>
    <p:sldLayoutId id="2147483747" r:id="rId4"/>
    <p:sldLayoutId id="2147483748" r:id="rId5"/>
    <p:sldLayoutId id="2147483749" r:id="rId6"/>
    <p:sldLayoutId id="2147483750" r:id="rId7"/>
    <p:sldLayoutId id="2147483751" r:id="rId8"/>
    <p:sldLayoutId id="2147483752" r:id="rId9"/>
    <p:sldLayoutId id="2147483753" r:id="rId10"/>
    <p:sldLayoutId id="2147483754" r:id="rId11"/>
    <p:sldLayoutId id="2147483755" r:id="rId12"/>
    <p:sldLayoutId id="2147483756" r:id="rId13"/>
    <p:sldLayoutId id="2147483757" r:id="rId14"/>
    <p:sldLayoutId id="2147483758" r:id="rId15"/>
    <p:sldLayoutId id="2147483759" r:id="rId16"/>
  </p:sldLayoutIdLst>
  <p:txStyles>
    <p:titleStyle>
      <a:lvl1pPr algn="l" defTabSz="457200" rtl="0" eaLnBrk="1" latinLnBrk="0" hangingPunct="1">
        <a:spcBef>
          <a:spcPct val="0"/>
        </a:spcBef>
        <a:buNone/>
        <a:defRPr sz="3600" kern="1200">
          <a:solidFill>
            <a:schemeClr val="accent1"/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42900" indent="-3429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8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6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/>
          <p:nvPr/>
        </p:nvSpPr>
        <p:spPr>
          <a:xfrm>
            <a:off x="0" y="0"/>
            <a:ext cx="12192000" cy="54000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txBody>
          <a:bodyPr wrap="square" anchor="ctr" lIns="50000" rIns="50000" tIns="25000" bIns="25000"/>
          <a:lstStyle/>
          <a:p>
            <a:pPr algn="ctr"/>
            <a:r>
              <a:rPr lang="en-US" sz="1350" b="1">
                <a:solidFill>
                  <a:srgbClr val="FFFFFF"/>
                </a:solidFill>
                <a:latin typeface="Times New Roman"/>
              </a:rPr>
              <a:t>NORTHERN RAILWAY - MORADABAD DIVISION</a:t>
            </a:r>
          </a:p>
        </p:txBody>
      </p:sp>
      <p:sp>
        <p:nvSpPr>
          <p:cNvPr id="3" name="Text 3"/>
          <p:cNvSpPr/>
          <p:nvPr/>
        </p:nvSpPr>
        <p:spPr>
          <a:xfrm>
            <a:off x="420000" y="1180000"/>
            <a:ext cx="11352000" cy="760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50000" rIns="50000" tIns="25000" bIns="25000"/>
          <a:lstStyle/>
          <a:p>
            <a:pPr algn="ctr"/>
            <a:r>
              <a:rPr lang="en-US" sz="2400" b="1">
                <a:solidFill>
                  <a:srgbClr val="22A7D8"/>
                </a:solidFill>
                <a:latin typeface="Times New Roman"/>
              </a:rPr>
              <a:t>Moradabad Division Budget &amp; FR Analysis</a:t>
            </a:r>
          </a:p>
        </p:txBody>
      </p:sp>
      <p:sp>
        <p:nvSpPr>
          <p:cNvPr id="4" name="Text 4"/>
          <p:cNvSpPr/>
          <p:nvPr/>
        </p:nvSpPr>
        <p:spPr>
          <a:xfrm>
            <a:off x="860000" y="2040000"/>
            <a:ext cx="10472000" cy="430000"/>
          </a:xfrm>
          <a:prstGeom prst="rect">
            <a:avLst/>
          </a:prstGeom>
          <a:solidFill>
            <a:srgbClr val="E8F2F8"/>
          </a:solidFill>
          <a:ln>
            <a:noFill/>
          </a:ln>
        </p:spPr>
        <p:txBody>
          <a:bodyPr wrap="square" anchor="ctr" lIns="50000" rIns="50000" tIns="25000" bIns="25000"/>
          <a:lstStyle/>
          <a:p>
            <a:pPr algn="ctr"/>
            <a:r>
              <a:rPr lang="en-US" sz="980">
                <a:solidFill>
                  <a:srgbClr val="000000"/>
                </a:solidFill>
                <a:latin typeface="Times New Roman"/>
              </a:rPr>
              <a:t>Accounts Dept | FY 2026-2027 | Current / Previous Year Budget Analysis | Completed AUG 2026</a:t>
            </a:r>
          </a:p>
        </p:txBody>
      </p:sp>
      <p:sp>
        <p:nvSpPr>
          <p:cNvPr id="5" name="Text 5"/>
          <p:cNvSpPr/>
          <p:nvPr/>
        </p:nvSpPr>
        <p:spPr>
          <a:xfrm>
            <a:off x="1350000" y="3120000"/>
            <a:ext cx="2400000" cy="720000"/>
          </a:xfrm>
          <a:prstGeom prst="rect">
            <a:avLst/>
          </a:prstGeom>
          <a:solidFill>
            <a:srgbClr val="DFF3E7"/>
          </a:solidFill>
          <a:ln>
            <a:noFill/>
          </a:ln>
        </p:spPr>
        <p:txBody>
          <a:bodyPr wrap="square" anchor="ctr" lIns="50000" rIns="50000" tIns="25000" bIns="25000"/>
          <a:lstStyle/>
          <a:p>
            <a:pPr algn="ctr"/>
            <a:r>
              <a:rPr lang="en-US" sz="920" b="1">
                <a:solidFill>
                  <a:srgbClr val="000000"/>
                </a:solidFill>
                <a:latin typeface="Times New Roman"/>
              </a:rPr>
              <a:t>Green</a:t>
            </a:r>
            <a:br/>
            <a:r>
              <a:rPr lang="en-US" sz="920" b="1">
                <a:solidFill>
                  <a:srgbClr val="000000"/>
                </a:solidFill>
                <a:latin typeface="Times New Roman"/>
              </a:rPr>
              <a:t>Within control</a:t>
            </a:r>
          </a:p>
        </p:txBody>
      </p:sp>
      <p:sp>
        <p:nvSpPr>
          <p:cNvPr id="6" name="Text 6"/>
          <p:cNvSpPr/>
          <p:nvPr/>
        </p:nvSpPr>
        <p:spPr>
          <a:xfrm>
            <a:off x="4860000" y="3120000"/>
            <a:ext cx="2400000" cy="720000"/>
          </a:xfrm>
          <a:prstGeom prst="rect">
            <a:avLst/>
          </a:prstGeom>
          <a:solidFill>
            <a:srgbClr val="FFF2CC"/>
          </a:solidFill>
          <a:ln>
            <a:noFill/>
          </a:ln>
        </p:spPr>
        <p:txBody>
          <a:bodyPr wrap="square" anchor="ctr" lIns="50000" rIns="50000" tIns="25000" bIns="25000"/>
          <a:lstStyle/>
          <a:p>
            <a:pPr algn="ctr"/>
            <a:r>
              <a:rPr lang="en-US" sz="920" b="1">
                <a:solidFill>
                  <a:srgbClr val="000000"/>
                </a:solidFill>
                <a:latin typeface="Times New Roman"/>
              </a:rPr>
              <a:t>Amber</a:t>
            </a:r>
            <a:br/>
            <a:r>
              <a:rPr lang="en-US" sz="920" b="1">
                <a:solidFill>
                  <a:srgbClr val="000000"/>
                </a:solidFill>
                <a:latin typeface="Times New Roman"/>
              </a:rPr>
              <a:t>Watch range</a:t>
            </a:r>
          </a:p>
        </p:txBody>
      </p:sp>
      <p:sp>
        <p:nvSpPr>
          <p:cNvPr id="7" name="Text 7"/>
          <p:cNvSpPr/>
          <p:nvPr/>
        </p:nvSpPr>
        <p:spPr>
          <a:xfrm>
            <a:off x="8370000" y="3120000"/>
            <a:ext cx="2400000" cy="720000"/>
          </a:xfrm>
          <a:prstGeom prst="rect">
            <a:avLst/>
          </a:prstGeom>
          <a:solidFill>
            <a:srgbClr val="FCE4E4"/>
          </a:solidFill>
          <a:ln>
            <a:noFill/>
          </a:ln>
        </p:spPr>
        <p:txBody>
          <a:bodyPr wrap="square" anchor="ctr" lIns="50000" rIns="50000" tIns="25000" bIns="25000"/>
          <a:lstStyle/>
          <a:p>
            <a:pPr algn="ctr"/>
            <a:r>
              <a:rPr lang="en-US" sz="920" b="1">
                <a:solidFill>
                  <a:srgbClr val="000000"/>
                </a:solidFill>
                <a:latin typeface="Times New Roman"/>
              </a:rPr>
              <a:t>Red</a:t>
            </a:r>
            <a:br/>
            <a:r>
              <a:rPr lang="en-US" sz="920" b="1">
                <a:solidFill>
                  <a:srgbClr val="000000"/>
                </a:solidFill>
                <a:latin typeface="Times New Roman"/>
              </a:rPr>
              <a:t>Immediate review</a:t>
            </a:r>
          </a:p>
        </p:txBody>
      </p:sp>
      <p:sp>
        <p:nvSpPr>
          <p:cNvPr id="8" name="Text 8"/>
          <p:cNvSpPr/>
          <p:nvPr/>
        </p:nvSpPr>
        <p:spPr>
          <a:xfrm>
            <a:off x="0" y="6438000"/>
            <a:ext cx="12192000" cy="42000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txBody>
          <a:bodyPr wrap="square" anchor="ctr" lIns="50000" rIns="50000" tIns="25000" bIns="25000"/>
          <a:lstStyle/>
          <a:p>
            <a:pPr algn="ctr"/>
            <a:r>
              <a:rPr lang="en-US" sz="900">
                <a:solidFill>
                  <a:srgbClr val="FFFFFF"/>
                </a:solidFill>
                <a:latin typeface="Times New Roman"/>
              </a:rPr>
              <a:t>Figures in thousands with Crore equivalent shown inside table cells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/>
          <p:nvPr/>
        </p:nvSpPr>
        <p:spPr>
          <a:xfrm>
            <a:off x="130000" y="45000"/>
            <a:ext cx="11932000" cy="365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50000" rIns="50000" tIns="25000" bIns="25000"/>
          <a:lstStyle/>
          <a:p>
            <a:pPr algn="ctr"/>
            <a:r>
              <a:rPr lang="en-US" sz="1900" b="1">
                <a:solidFill>
                  <a:srgbClr val="22A7D8"/>
                </a:solidFill>
                <a:latin typeface="Times New Roman"/>
              </a:rPr>
              <a:t>Demand SMH Wise - AUG 2026 | uploaded 2026-09-03T13:15:58+05:30</a:t>
            </a:r>
          </a:p>
        </p:txBody>
      </p:sp>
      <p:sp>
        <p:nvSpPr>
          <p:cNvPr id="3" name="Text 3"/>
          <p:cNvSpPr/>
          <p:nvPr/>
        </p:nvSpPr>
        <p:spPr>
          <a:xfrm>
            <a:off x="130000" y="430000"/>
            <a:ext cx="11932000" cy="215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50000" rIns="50000" tIns="25000" bIns="25000"/>
          <a:lstStyle/>
          <a:p>
            <a:pPr algn="r"/>
            <a:r>
              <a:rPr lang="en-US" sz="900">
                <a:solidFill>
                  <a:srgbClr val="000000"/>
                </a:solidFill>
                <a:latin typeface="Times New Roman"/>
              </a:rPr>
              <a:t>Figures in thousands.</a:t>
            </a:r>
          </a:p>
        </p:txBody>
      </p:sp>
      <p:graphicFrame>
        <p:nvGraphicFramePr>
          <p:cNvPr id="4" name="Table 4"/>
          <p:cNvGraphicFramePr>
            <a:graphicFrameLocks noGrp="1"/>
          </p:cNvGraphicFramePr>
          <p:nvPr/>
        </p:nvGraphicFramePr>
        <p:xfrm>
          <a:off x="130000" y="670000"/>
          <a:ext cx="11932000" cy="6058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542931"/>
                <a:gridCol w="2342969"/>
                <a:gridCol w="1234344"/>
                <a:gridCol w="1234344"/>
                <a:gridCol w="1234344"/>
                <a:gridCol w="1348636"/>
                <a:gridCol w="822896"/>
                <a:gridCol w="1348636"/>
                <a:gridCol w="822900"/>
              </a:tblGrid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Demand No. / SMH-Grant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Department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A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OBA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BG_ISL 2026-27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B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BP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A / 12 * 5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C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AE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Actuals up to AUG 2026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D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Variation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C - B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E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% BP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C / B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F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Budget Remaining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A - C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G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% OBA Utilized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C / A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Demand 03 / 01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PERSONNEL / STORE And Office Staff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641,522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64.15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267,301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26.73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294,025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29.40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26,724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2.67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110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347,497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34.75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46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Demand 04 / 02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ENGINEERING / PWAY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3,608,902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360.89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1,503,709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150.37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1,779,391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177.94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275,682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27.57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118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1,829,511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182.95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49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Demand 05 / 03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Mechanical LOCO Shed Roza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1,864,843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186.48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777,018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77.70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782,032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78.20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5,014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0.50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101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1,082,811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108.28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42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Demand 06 / 04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Electrical General / Mech C&amp;W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1,353,581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135.36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563,992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56.40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882,060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88.21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318,068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31.81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156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471,521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47.15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65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Demand 07 / 05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S&amp;T / TRD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2,059,950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206.00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858,312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85.83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987,240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98.72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128,928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12.89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115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1,072,710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107.27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48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Demand 08 / 06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MECHANICAL / Running Staff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3,352,566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335.26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1,396,902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139.69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1,953,133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195.31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556,231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55.62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140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1,399,433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139.94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58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Demand 09 / 07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OPERATING / Commercial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4,428,766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442.88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1,845,319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184.53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2,193,589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219.36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348,270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34.83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119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2,235,177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223.52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50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Demand 10 / 08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Operating Expenses - Fuel / Traction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11,607,206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1160.72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4,836,336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483.63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4,657,805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465.78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-178,531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-17.85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96</a:t>
                      </a:r>
                    </a:p>
                  </a:txBody>
                  <a:tcPr marL="12000" marR="12000" marT="8000" marB="8000">
                    <a:solidFill>
                      <a:srgbClr val="FFF2CC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6,949,401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694.94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40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Demand 11 / 09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MEDICAL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1,392,832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139.28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580,347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58.03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915,762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91.58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335,415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33.54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158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477,070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47.71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66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Demand 12 / 10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SECURITY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994,638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99.46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414,432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41.44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439,544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43.95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25,112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2.51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106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555,094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55.51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44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Demand 13 / 11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Pension and Retirement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1,291,067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129.11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537,945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53.79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532,662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53.27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-5,283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-0.53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99</a:t>
                      </a:r>
                    </a:p>
                  </a:txBody>
                  <a:tcPr marL="12000" marR="12000" marT="8000" marB="8000">
                    <a:solidFill>
                      <a:srgbClr val="FFF2CC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758,405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75.84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41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Total</a:t>
                      </a:r>
                    </a:p>
                  </a:txBody>
                  <a:tcPr marL="12000" marR="12000" marT="8000" marB="8000">
                    <a:solidFill>
                      <a:srgbClr val="C8D6E8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/>
                      </a:r>
                    </a:p>
                  </a:txBody>
                  <a:tcPr marL="12000" marR="12000" marT="8000" marB="8000">
                    <a:solidFill>
                      <a:srgbClr val="C8D6E8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32,595,873</a:t>
                      </a:r>
                      <a:br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Cr. 3259.59</a:t>
                      </a:r>
                    </a:p>
                  </a:txBody>
                  <a:tcPr marL="12000" marR="12000" marT="8000" marB="8000">
                    <a:solidFill>
                      <a:srgbClr val="C8D6E8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13,581,613</a:t>
                      </a:r>
                      <a:br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Cr. 1358.16</a:t>
                      </a:r>
                    </a:p>
                  </a:txBody>
                  <a:tcPr marL="12000" marR="12000" marT="8000" marB="8000">
                    <a:solidFill>
                      <a:srgbClr val="C8D6E8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15,417,243</a:t>
                      </a:r>
                      <a:br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Cr. 1541.72</a:t>
                      </a:r>
                    </a:p>
                  </a:txBody>
                  <a:tcPr marL="12000" marR="12000" marT="8000" marB="8000">
                    <a:solidFill>
                      <a:srgbClr val="C8D6E8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1,835,630</a:t>
                      </a:r>
                      <a:br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Cr. 183.56</a:t>
                      </a:r>
                    </a:p>
                  </a:txBody>
                  <a:tcPr marL="12000" marR="12000" marT="8000" marB="8000">
                    <a:solidFill>
                      <a:srgbClr val="C8D6E8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FFFFFF"/>
                          </a:solidFill>
                          <a:latin typeface="Times New Roman"/>
                        </a:rPr>
                        <a:t>114</a:t>
                      </a:r>
                    </a:p>
                  </a:txBody>
                  <a:tcPr marL="12000" marR="12000" marT="8000" marB="8000">
                    <a:solidFill>
                      <a:srgbClr val="D92323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17,178,630</a:t>
                      </a:r>
                      <a:br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Cr. 1717.86</a:t>
                      </a:r>
                    </a:p>
                  </a:txBody>
                  <a:tcPr marL="12000" marR="12000" marT="8000" marB="8000">
                    <a:solidFill>
                      <a:srgbClr val="C8D6E8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FFFFFF"/>
                          </a:solidFill>
                          <a:latin typeface="Times New Roman"/>
                        </a:rPr>
                        <a:t>47</a:t>
                      </a:r>
                    </a:p>
                  </a:txBody>
                  <a:tcPr marL="12000" marR="12000" marT="8000" marB="8000">
                    <a:solidFill>
                      <a:srgbClr val="25A55B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Demand 12N / 10N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Suspense Heads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-13,045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-1.30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-5,435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-0.54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1,578,852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157.89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1,584,287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158.43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-29050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-1,591,897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-159.19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-12103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/>
          <p:nvPr/>
        </p:nvSpPr>
        <p:spPr>
          <a:xfrm>
            <a:off x="130000" y="45000"/>
            <a:ext cx="11932000" cy="365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50000" rIns="50000" tIns="25000" bIns="25000"/>
          <a:lstStyle/>
          <a:p>
            <a:pPr algn="ctr"/>
            <a:r>
              <a:rPr lang="en-US" sz="1900" b="1">
                <a:solidFill>
                  <a:srgbClr val="22A7D8"/>
                </a:solidFill>
                <a:latin typeface="Times New Roman"/>
              </a:rPr>
              <a:t>PU Staff Current Year - AUG 2026 | uploaded 2026-09-03T13:15:58+05:30 (Rows 1-13)</a:t>
            </a:r>
          </a:p>
        </p:txBody>
      </p:sp>
      <p:sp>
        <p:nvSpPr>
          <p:cNvPr id="3" name="Text 3"/>
          <p:cNvSpPr/>
          <p:nvPr/>
        </p:nvSpPr>
        <p:spPr>
          <a:xfrm>
            <a:off x="130000" y="430000"/>
            <a:ext cx="11932000" cy="215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50000" rIns="50000" tIns="25000" bIns="25000"/>
          <a:lstStyle/>
          <a:p>
            <a:pPr algn="r"/>
            <a:r>
              <a:rPr lang="en-US" sz="900">
                <a:solidFill>
                  <a:srgbClr val="000000"/>
                </a:solidFill>
                <a:latin typeface="Times New Roman"/>
              </a:rPr>
              <a:t>Figures in thousands.</a:t>
            </a:r>
          </a:p>
        </p:txBody>
      </p:sp>
      <p:graphicFrame>
        <p:nvGraphicFramePr>
          <p:cNvPr id="4" name="Table 4"/>
          <p:cNvGraphicFramePr>
            <a:graphicFrameLocks noGrp="1"/>
          </p:cNvGraphicFramePr>
          <p:nvPr/>
        </p:nvGraphicFramePr>
        <p:xfrm>
          <a:off x="130000" y="670000"/>
          <a:ext cx="11932000" cy="6058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265569"/>
                <a:gridCol w="1482918"/>
                <a:gridCol w="1482918"/>
                <a:gridCol w="1482918"/>
                <a:gridCol w="1620225"/>
                <a:gridCol w="988612"/>
                <a:gridCol w="1620225"/>
                <a:gridCol w="988615"/>
              </a:tblGrid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PU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A</a:t>
                      </a:r>
                      <a:br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OBA</a:t>
                      </a:r>
                      <a:br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BG_ISL 2026-27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B</a:t>
                      </a:r>
                      <a:br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BP</a:t>
                      </a:r>
                      <a:br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A / 12 * 5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C</a:t>
                      </a:r>
                      <a:br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AE</a:t>
                      </a:r>
                      <a:br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Actuals up to AUG 2026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D</a:t>
                      </a:r>
                      <a:br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Variation</a:t>
                      </a:r>
                      <a:br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C - B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E</a:t>
                      </a:r>
                      <a:br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% BP</a:t>
                      </a:r>
                      <a:br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C / B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F</a:t>
                      </a:r>
                      <a:br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Budget Remaining</a:t>
                      </a:r>
                      <a:br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A - C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G</a:t>
                      </a:r>
                      <a:br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% OBA Utilized</a:t>
                      </a:r>
                      <a:br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C / A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- 01 - Sal/Wag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6,706,409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670.64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2,794,337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279.43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3,073,272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307.33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278,935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27.89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110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3,633,137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363.31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46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- 02 - DA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4,100,453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410.05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1,708,522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170.85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1,968,578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196.86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260,056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26.01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115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2,131,875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213.19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48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- 03 - PLB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285,089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28.51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118,787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11.88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81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0.01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-118,706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-11.87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285,008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28.50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- 04 - HRA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776,198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77.62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323,416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32.34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337,922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33.79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14,506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1.45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104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438,276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43.83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44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- 07 - TPA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496,609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49.66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206,920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20.69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216,618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21.66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9,698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0.97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105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279,991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28.00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44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- 08 - NPS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1,285,187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128.52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535,495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53.55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532,040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53.20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-3,455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-0.35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99</a:t>
                      </a:r>
                    </a:p>
                  </a:txBody>
                  <a:tcPr marL="12000" marR="12000" marT="8000" marB="8000">
                    <a:solidFill>
                      <a:srgbClr val="FFF2CC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753,147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75.31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41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- 10 - KMA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680,197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68.02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283,415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28.34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364,653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36.47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81,238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8.12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129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315,544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31.55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54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- 11 - OT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77,300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7.73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32,208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3.22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59,582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5.96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27,374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2.74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185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17,718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1.77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77</a:t>
                      </a:r>
                    </a:p>
                  </a:txBody>
                  <a:tcPr marL="12000" marR="12000" marT="8000" marB="8000">
                    <a:solidFill>
                      <a:srgbClr val="FFF2CC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- 12 - NDA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209,913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20.99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87,464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8.75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122,506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12.25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35,042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3.50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140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87,407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8.74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58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- 13 - OA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527,832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52.78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219,930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21.99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279,175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27.92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59,245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5.92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127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248,657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24.87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53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- 14 - FEES &amp; HON.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3,566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0.36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1,486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0.15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427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0.04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-1,059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-0.11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29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3,139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0.31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12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- 15 - TA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16,048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1.60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6,687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0.67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11,132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1.11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4,445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0.44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166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4,916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0.49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69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- 16 - TE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308,081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30.81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128,367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12.84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217,182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21.72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88,815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8.88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169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90,899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9.09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70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/>
          <p:nvPr/>
        </p:nvSpPr>
        <p:spPr>
          <a:xfrm>
            <a:off x="130000" y="45000"/>
            <a:ext cx="11932000" cy="365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50000" rIns="50000" tIns="25000" bIns="25000"/>
          <a:lstStyle/>
          <a:p>
            <a:pPr algn="ctr"/>
            <a:r>
              <a:rPr lang="en-US" sz="1900" b="1">
                <a:solidFill>
                  <a:srgbClr val="22A7D8"/>
                </a:solidFill>
                <a:latin typeface="Times New Roman"/>
              </a:rPr>
              <a:t>PU Staff Current Year - AUG 2026 | uploaded 2026-09-03T13:15:58+05:30 (Rows 14-24)</a:t>
            </a:r>
          </a:p>
        </p:txBody>
      </p:sp>
      <p:sp>
        <p:nvSpPr>
          <p:cNvPr id="3" name="Text 3"/>
          <p:cNvSpPr/>
          <p:nvPr/>
        </p:nvSpPr>
        <p:spPr>
          <a:xfrm>
            <a:off x="130000" y="430000"/>
            <a:ext cx="11932000" cy="215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50000" rIns="50000" tIns="25000" bIns="25000"/>
          <a:lstStyle/>
          <a:p>
            <a:pPr algn="r"/>
            <a:r>
              <a:rPr lang="en-US" sz="900">
                <a:solidFill>
                  <a:srgbClr val="000000"/>
                </a:solidFill>
                <a:latin typeface="Times New Roman"/>
              </a:rPr>
              <a:t>Figures in thousands.</a:t>
            </a:r>
          </a:p>
        </p:txBody>
      </p:sp>
      <p:graphicFrame>
        <p:nvGraphicFramePr>
          <p:cNvPr id="4" name="Table 4"/>
          <p:cNvGraphicFramePr>
            <a:graphicFrameLocks noGrp="1"/>
          </p:cNvGraphicFramePr>
          <p:nvPr/>
        </p:nvGraphicFramePr>
        <p:xfrm>
          <a:off x="130000" y="670000"/>
          <a:ext cx="11932000" cy="6058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265569"/>
                <a:gridCol w="1482918"/>
                <a:gridCol w="1482918"/>
                <a:gridCol w="1482918"/>
                <a:gridCol w="1620225"/>
                <a:gridCol w="988612"/>
                <a:gridCol w="1620225"/>
                <a:gridCol w="988615"/>
              </a:tblGrid>
              <a:tr h="504833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PU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A</a:t>
                      </a:r>
                      <a:br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OBA</a:t>
                      </a:r>
                      <a:br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BG_ISL 2026-27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B</a:t>
                      </a:r>
                      <a:br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BP</a:t>
                      </a:r>
                      <a:br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A / 12 * 5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C</a:t>
                      </a:r>
                      <a:br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AE</a:t>
                      </a:r>
                      <a:br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Actuals up to AUG 2026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D</a:t>
                      </a:r>
                      <a:br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Variation</a:t>
                      </a:r>
                      <a:br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C - B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E</a:t>
                      </a:r>
                      <a:br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% BP</a:t>
                      </a:r>
                      <a:br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C / B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F</a:t>
                      </a:r>
                      <a:br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Budget Remaining</a:t>
                      </a:r>
                      <a:br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A - C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G</a:t>
                      </a:r>
                      <a:br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% OBA Utilized</a:t>
                      </a:r>
                      <a:br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C / A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504833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- 17 - ATPP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2,110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0.21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879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0.09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-879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-0.09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2,110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0.21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504833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- 20 - Leave Salary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18,623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1.86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7,760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0.78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12,682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1.27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4,922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0.49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163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5,941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0.59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68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504833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- 25 - Children Edu. Allow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379,418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37.94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158,091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15.81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374,892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37.49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216,801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21.68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237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4,526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0.45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99</a:t>
                      </a:r>
                    </a:p>
                  </a:txBody>
                  <a:tcPr marL="12000" marR="12000" marT="8000" marB="8000">
                    <a:solidFill>
                      <a:srgbClr val="FFF2CC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504833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- 26 - Medical Expenses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384,392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38.44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160,163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16.02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152,898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15.29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-7,265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-0.73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95</a:t>
                      </a:r>
                    </a:p>
                  </a:txBody>
                  <a:tcPr marL="12000" marR="12000" marT="8000" marB="8000">
                    <a:solidFill>
                      <a:srgbClr val="FFF2CC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231,494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23.15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40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504833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- 29 - Remu. Re-engaged Staff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476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0.05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476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0.05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-476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-0.05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504833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- 39 - ATD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23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21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1150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-18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-0.00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460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504833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- 42 - ARR SALARY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25,882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2.59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10,784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1.08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5,329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0.53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-5,455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-0.55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49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20,553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2.06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21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504833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- 43 - ARR DA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12,005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1.20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5,002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0.50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2,572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0.26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-2,430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-0.24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51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9,433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0.94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21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504833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- 44 - ARR OTH ALW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11,589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1.16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4,829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0.48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224,748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22.47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219,919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21.99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4654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-213,159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-21.32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1939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504833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- 53 - All India LTC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614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0.06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256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0.03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1,705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0.17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1,449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0.14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666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-1,091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-0.11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278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504833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Total</a:t>
                      </a:r>
                    </a:p>
                  </a:txBody>
                  <a:tcPr marL="12000" marR="12000" marT="8000" marB="8000">
                    <a:solidFill>
                      <a:srgbClr val="C8D6E8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16,307,520</a:t>
                      </a:r>
                      <a:br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Cr. 1630.75</a:t>
                      </a:r>
                    </a:p>
                  </a:txBody>
                  <a:tcPr marL="12000" marR="12000" marT="8000" marB="8000">
                    <a:solidFill>
                      <a:srgbClr val="C8D6E8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6,794,800</a:t>
                      </a:r>
                      <a:br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Cr. 679.48</a:t>
                      </a:r>
                    </a:p>
                  </a:txBody>
                  <a:tcPr marL="12000" marR="12000" marT="8000" marB="8000">
                    <a:solidFill>
                      <a:srgbClr val="C8D6E8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7,958,493</a:t>
                      </a:r>
                      <a:br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Cr. 795.85</a:t>
                      </a:r>
                    </a:p>
                  </a:txBody>
                  <a:tcPr marL="12000" marR="12000" marT="8000" marB="8000">
                    <a:solidFill>
                      <a:srgbClr val="C8D6E8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1,163,693</a:t>
                      </a:r>
                      <a:br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Cr. 116.37</a:t>
                      </a:r>
                    </a:p>
                  </a:txBody>
                  <a:tcPr marL="12000" marR="12000" marT="8000" marB="8000">
                    <a:solidFill>
                      <a:srgbClr val="C8D6E8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FFFFFF"/>
                          </a:solidFill>
                          <a:latin typeface="Times New Roman"/>
                        </a:rPr>
                        <a:t>117</a:t>
                      </a:r>
                    </a:p>
                  </a:txBody>
                  <a:tcPr marL="12000" marR="12000" marT="8000" marB="8000">
                    <a:solidFill>
                      <a:srgbClr val="D92323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8,349,027</a:t>
                      </a:r>
                      <a:br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Cr. 834.90</a:t>
                      </a:r>
                    </a:p>
                  </a:txBody>
                  <a:tcPr marL="12000" marR="12000" marT="8000" marB="8000">
                    <a:solidFill>
                      <a:srgbClr val="C8D6E8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FFFFFF"/>
                          </a:solidFill>
                          <a:latin typeface="Times New Roman"/>
                        </a:rPr>
                        <a:t>49</a:t>
                      </a:r>
                    </a:p>
                  </a:txBody>
                  <a:tcPr marL="12000" marR="12000" marT="8000" marB="8000">
                    <a:solidFill>
                      <a:srgbClr val="25A55B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/>
          <p:nvPr/>
        </p:nvSpPr>
        <p:spPr>
          <a:xfrm>
            <a:off x="130000" y="45000"/>
            <a:ext cx="11932000" cy="365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50000" rIns="50000" tIns="25000" bIns="25000"/>
          <a:lstStyle/>
          <a:p>
            <a:pPr algn="ctr"/>
            <a:r>
              <a:rPr lang="en-US" sz="1900" b="1">
                <a:solidFill>
                  <a:srgbClr val="22A7D8"/>
                </a:solidFill>
                <a:latin typeface="Times New Roman"/>
              </a:rPr>
              <a:t>PU Non Staff Current Year - AUG 2026 | uploaded 2026-09-03T13:15:58+05:30 (Rows 1-13)</a:t>
            </a:r>
          </a:p>
        </p:txBody>
      </p:sp>
      <p:sp>
        <p:nvSpPr>
          <p:cNvPr id="3" name="Text 3"/>
          <p:cNvSpPr/>
          <p:nvPr/>
        </p:nvSpPr>
        <p:spPr>
          <a:xfrm>
            <a:off x="130000" y="430000"/>
            <a:ext cx="11932000" cy="215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50000" rIns="50000" tIns="25000" bIns="25000"/>
          <a:lstStyle/>
          <a:p>
            <a:pPr algn="r"/>
            <a:r>
              <a:rPr lang="en-US" sz="900">
                <a:solidFill>
                  <a:srgbClr val="000000"/>
                </a:solidFill>
                <a:latin typeface="Times New Roman"/>
              </a:rPr>
              <a:t>Figures in thousands.</a:t>
            </a:r>
          </a:p>
        </p:txBody>
      </p:sp>
      <p:graphicFrame>
        <p:nvGraphicFramePr>
          <p:cNvPr id="4" name="Table 4"/>
          <p:cNvGraphicFramePr>
            <a:graphicFrameLocks noGrp="1"/>
          </p:cNvGraphicFramePr>
          <p:nvPr/>
        </p:nvGraphicFramePr>
        <p:xfrm>
          <a:off x="130000" y="670000"/>
          <a:ext cx="11932000" cy="6058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265569"/>
                <a:gridCol w="1482918"/>
                <a:gridCol w="1482918"/>
                <a:gridCol w="1482918"/>
                <a:gridCol w="1620225"/>
                <a:gridCol w="988612"/>
                <a:gridCol w="1620225"/>
                <a:gridCol w="988615"/>
              </a:tblGrid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PU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A</a:t>
                      </a:r>
                      <a:br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OBA</a:t>
                      </a:r>
                      <a:br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BG_ISL 2026-27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B</a:t>
                      </a:r>
                      <a:br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BP</a:t>
                      </a:r>
                      <a:br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A / 12 * 5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C</a:t>
                      </a:r>
                      <a:br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AE</a:t>
                      </a:r>
                      <a:br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Actuals up to AUG 2026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D</a:t>
                      </a:r>
                      <a:br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Variation</a:t>
                      </a:r>
                      <a:br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C - B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E</a:t>
                      </a:r>
                      <a:br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% BP</a:t>
                      </a:r>
                      <a:br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C / B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F</a:t>
                      </a:r>
                      <a:br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Budget Remaining</a:t>
                      </a:r>
                      <a:br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A - C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G</a:t>
                      </a:r>
                      <a:br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% OBA Utilized</a:t>
                      </a:r>
                      <a:br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C / A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- 18 - OE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8,252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0.83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3,438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0.34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-3,438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-0.34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8,252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0.83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- 19 - Phone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655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0.07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273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0.03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-273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-0.03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655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0.07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- 21 - Adv Expenses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3,300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0.33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1,375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0.14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-1,375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-0.14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3,300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0.33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- 22 - Util(excl. elec.)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- 23 - Rental Office Equip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-18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-0.00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- 24 - Printing and Stnry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215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0.02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90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0.01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-90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-0.01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215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0.02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- 27 - Materials from stock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1,068,752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106.88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445,313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44.53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746,612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74.66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301,299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30.13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168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322,140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32.21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70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- 28 - Materials-Dir. purchase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149,947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14.99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62,478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6.25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70,596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7.06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8,118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0.81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113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79,351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7.94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47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- 30 - Cost Of Elec. Energy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3,878,724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387.87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1,616,135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161.61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1,504,722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150.47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-111,413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-11.14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93</a:t>
                      </a:r>
                    </a:p>
                  </a:txBody>
                  <a:tcPr marL="12000" marR="12000" marT="8000" marB="8000">
                    <a:solidFill>
                      <a:srgbClr val="FFF2CC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2,374,002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237.40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39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- 31 - OF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95,273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9.53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39,697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3.97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66,725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6.67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27,028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2.70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168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28,548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2.85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70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- 32 - CP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3,254,310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325.43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1,355,962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135.60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1,822,493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182.25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466,531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46.65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134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1,431,817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143.18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56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- 33 - TRDC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2,625,440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262.54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1,093,933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109.39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692,235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69.22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-401,698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-40.17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63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1,933,205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193.32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26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- 36 - Excise Duty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155,548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15.55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64,812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6.48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17,414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1.74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-47,398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-4.74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27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138,134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13.81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11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/>
          <p:nvPr/>
        </p:nvSpPr>
        <p:spPr>
          <a:xfrm>
            <a:off x="130000" y="45000"/>
            <a:ext cx="11932000" cy="365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50000" rIns="50000" tIns="25000" bIns="25000"/>
          <a:lstStyle/>
          <a:p>
            <a:pPr algn="ctr"/>
            <a:r>
              <a:rPr lang="en-US" sz="1900" b="1">
                <a:solidFill>
                  <a:srgbClr val="22A7D8"/>
                </a:solidFill>
                <a:latin typeface="Times New Roman"/>
              </a:rPr>
              <a:t>PU Non Staff Current Year - AUG 2026 | uploaded 2026-09-03T13:15:58+05:30 (Rows 14-24)</a:t>
            </a:r>
          </a:p>
        </p:txBody>
      </p:sp>
      <p:sp>
        <p:nvSpPr>
          <p:cNvPr id="3" name="Text 3"/>
          <p:cNvSpPr/>
          <p:nvPr/>
        </p:nvSpPr>
        <p:spPr>
          <a:xfrm>
            <a:off x="130000" y="430000"/>
            <a:ext cx="11932000" cy="215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50000" rIns="50000" tIns="25000" bIns="25000"/>
          <a:lstStyle/>
          <a:p>
            <a:pPr algn="r"/>
            <a:r>
              <a:rPr lang="en-US" sz="900">
                <a:solidFill>
                  <a:srgbClr val="000000"/>
                </a:solidFill>
                <a:latin typeface="Times New Roman"/>
              </a:rPr>
              <a:t>Figures in thousands.</a:t>
            </a:r>
          </a:p>
        </p:txBody>
      </p:sp>
      <p:graphicFrame>
        <p:nvGraphicFramePr>
          <p:cNvPr id="4" name="Table 4"/>
          <p:cNvGraphicFramePr>
            <a:graphicFrameLocks noGrp="1"/>
          </p:cNvGraphicFramePr>
          <p:nvPr/>
        </p:nvGraphicFramePr>
        <p:xfrm>
          <a:off x="130000" y="670000"/>
          <a:ext cx="11932000" cy="6058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265569"/>
                <a:gridCol w="1482918"/>
                <a:gridCol w="1482918"/>
                <a:gridCol w="1482918"/>
                <a:gridCol w="1620225"/>
                <a:gridCol w="988612"/>
                <a:gridCol w="1620225"/>
                <a:gridCol w="988615"/>
              </a:tblGrid>
              <a:tr h="504833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PU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A</a:t>
                      </a:r>
                      <a:br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OBA</a:t>
                      </a:r>
                      <a:br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BG_ISL 2026-27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B</a:t>
                      </a:r>
                      <a:br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BP</a:t>
                      </a:r>
                      <a:br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A / 12 * 5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C</a:t>
                      </a:r>
                      <a:br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AE</a:t>
                      </a:r>
                      <a:br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Actuals up to AUG 2026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D</a:t>
                      </a:r>
                      <a:br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Variation</a:t>
                      </a:r>
                      <a:br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C - B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E</a:t>
                      </a:r>
                      <a:br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% BP</a:t>
                      </a:r>
                      <a:br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C / B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F</a:t>
                      </a:r>
                      <a:br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Budget Remaining</a:t>
                      </a:r>
                      <a:br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A - C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G</a:t>
                      </a:r>
                      <a:br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% OBA Utilized</a:t>
                      </a:r>
                      <a:br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C / A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504833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- 38 - Sales Tax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95,829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9.58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39,929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3.99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44,460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4.45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4,531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0.45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111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51,369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5.14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46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504833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- 49 - O/S M/P TRACK AND SIGNAL MNT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544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0.05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227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0.02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6,382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0.64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6,155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0.62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2811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-5,838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-0.58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1173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504833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- 52 - Laptop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504833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- 60 - Fuel from Stock-Home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4,703,356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470.34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1,959,732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195.97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2,303,206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230.32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343,474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34.35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118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2,400,150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240.01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49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504833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- 72 - Central GST (CGST)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32,329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3.23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13,470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1.35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37,201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3.72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23,731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2.37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276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-4,872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-0.49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115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504833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- 73 - State GST (SGST)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31,932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3.19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13,305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1.33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37,201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3.72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23,896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2.39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280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-5,269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-0.53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117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504833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- 74 - Union Territory GST (UTGST)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-0.00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504833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- 75 - Integrated GST (IGST)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26,098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2.61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10,874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1.09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41,871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4.19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30,997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3.10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385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-15,773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-1.58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160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504833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- 98 - Credit or Recoveries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-1,652,821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-165.28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-688,675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-68.87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-623,357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-62.34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65,318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6.53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91</a:t>
                      </a:r>
                    </a:p>
                  </a:txBody>
                  <a:tcPr marL="12000" marR="12000" marT="8000" marB="8000">
                    <a:solidFill>
                      <a:srgbClr val="FFF2CC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-1,029,464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-102.95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38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504833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- 99 - OE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1,797,579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179.76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748,991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74.90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2,269,838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226.98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1,520,847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152.08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303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-472,259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-47.23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126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504833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Total</a:t>
                      </a:r>
                    </a:p>
                  </a:txBody>
                  <a:tcPr marL="12000" marR="12000" marT="8000" marB="8000">
                    <a:solidFill>
                      <a:srgbClr val="C8D6E8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16,275,308</a:t>
                      </a:r>
                      <a:br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Cr. 1627.53</a:t>
                      </a:r>
                    </a:p>
                  </a:txBody>
                  <a:tcPr marL="12000" marR="12000" marT="8000" marB="8000">
                    <a:solidFill>
                      <a:srgbClr val="C8D6E8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6,781,379</a:t>
                      </a:r>
                      <a:br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Cr. 678.14</a:t>
                      </a:r>
                    </a:p>
                  </a:txBody>
                  <a:tcPr marL="12000" marR="12000" marT="8000" marB="8000">
                    <a:solidFill>
                      <a:srgbClr val="C8D6E8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9,037,599</a:t>
                      </a:r>
                      <a:br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Cr. 903.76</a:t>
                      </a:r>
                    </a:p>
                  </a:txBody>
                  <a:tcPr marL="12000" marR="12000" marT="8000" marB="8000">
                    <a:solidFill>
                      <a:srgbClr val="C8D6E8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2,256,220</a:t>
                      </a:r>
                      <a:br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Cr. 225.62</a:t>
                      </a:r>
                    </a:p>
                  </a:txBody>
                  <a:tcPr marL="12000" marR="12000" marT="8000" marB="8000">
                    <a:solidFill>
                      <a:srgbClr val="C8D6E8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FFFFFF"/>
                          </a:solidFill>
                          <a:latin typeface="Times New Roman"/>
                        </a:rPr>
                        <a:t>133</a:t>
                      </a:r>
                    </a:p>
                  </a:txBody>
                  <a:tcPr marL="12000" marR="12000" marT="8000" marB="8000">
                    <a:solidFill>
                      <a:srgbClr val="D92323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7,237,709</a:t>
                      </a:r>
                      <a:br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Cr. 723.77</a:t>
                      </a:r>
                    </a:p>
                  </a:txBody>
                  <a:tcPr marL="12000" marR="12000" marT="8000" marB="8000">
                    <a:solidFill>
                      <a:srgbClr val="C8D6E8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FFFFFF"/>
                          </a:solidFill>
                          <a:latin typeface="Times New Roman"/>
                        </a:rPr>
                        <a:t>56</a:t>
                      </a:r>
                    </a:p>
                  </a:txBody>
                  <a:tcPr marL="12000" marR="12000" marT="8000" marB="8000">
                    <a:solidFill>
                      <a:srgbClr val="25A55B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/>
          <p:nvPr/>
        </p:nvSpPr>
        <p:spPr>
          <a:xfrm>
            <a:off x="130000" y="45000"/>
            <a:ext cx="11932000" cy="365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50000" rIns="50000" tIns="25000" bIns="25000"/>
          <a:lstStyle/>
          <a:p>
            <a:pPr algn="ctr"/>
            <a:r>
              <a:rPr lang="en-US" sz="1900" b="1">
                <a:solidFill>
                  <a:srgbClr val="22A7D8"/>
                </a:solidFill>
                <a:latin typeface="Times New Roman"/>
              </a:rPr>
              <a:t>PU Previous Year Comparison - AUG 2026 | uploaded 2026-09-03T13:15:58+05:30 (Rows 1-10)</a:t>
            </a:r>
          </a:p>
        </p:txBody>
      </p:sp>
      <p:sp>
        <p:nvSpPr>
          <p:cNvPr id="3" name="Text 3"/>
          <p:cNvSpPr/>
          <p:nvPr/>
        </p:nvSpPr>
        <p:spPr>
          <a:xfrm>
            <a:off x="130000" y="430000"/>
            <a:ext cx="11932000" cy="215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50000" rIns="50000" tIns="25000" bIns="25000"/>
          <a:lstStyle/>
          <a:p>
            <a:pPr algn="r"/>
            <a:r>
              <a:rPr lang="en-US" sz="900">
                <a:solidFill>
                  <a:srgbClr val="000000"/>
                </a:solidFill>
                <a:latin typeface="Times New Roman"/>
              </a:rPr>
              <a:t>Figures in thousands.</a:t>
            </a:r>
          </a:p>
        </p:txBody>
      </p:sp>
      <p:graphicFrame>
        <p:nvGraphicFramePr>
          <p:cNvPr id="4" name="Table 4"/>
          <p:cNvGraphicFramePr>
            <a:graphicFrameLocks noGrp="1"/>
          </p:cNvGraphicFramePr>
          <p:nvPr/>
        </p:nvGraphicFramePr>
        <p:xfrm>
          <a:off x="130000" y="670000"/>
          <a:ext cx="11932000" cy="6058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658618"/>
                <a:gridCol w="1085641"/>
                <a:gridCol w="1055484"/>
                <a:gridCol w="1085641"/>
                <a:gridCol w="1085641"/>
                <a:gridCol w="1055484"/>
                <a:gridCol w="1085641"/>
                <a:gridCol w="1186163"/>
                <a:gridCol w="723760"/>
                <a:gridCol w="1186163"/>
                <a:gridCol w="723764"/>
              </a:tblGrid>
              <a:tr h="550727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PU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A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Previous OBA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RG 2025-26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B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Previous Budget Proportion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A / 12 * 5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C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Previous Actual Expenditure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up to AUG 2025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D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Current OBA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BG_ISL 2026-27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E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Current Budget Proportion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D / 12 * 5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F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Current Actual Expenditure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up to AUG 2026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G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Budget Variation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F - E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H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Current Budget Proportion %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F / E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I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Actual Expenditure Variation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F - C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J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Current OBA Utilization %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F / D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550727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- 01 - Sal/Wag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7,074,279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707.43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2,947,616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294.76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6,706,409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670.64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2,794,337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279.43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3,073,271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307.33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278,934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27.89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110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3,073,271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307.33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46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550727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- 02 - DA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4,420,234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442.02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1,841,764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184.18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4,100,453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410.05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1,708,522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170.85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1,968,578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196.86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260,056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26.01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115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1,968,578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196.86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48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550727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- 03 - PLB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289,831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28.98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120,763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12.08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285,089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28.51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118,787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11.88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82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0.01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-118,705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-11.87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82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0.01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550727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- 04 - HRA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824,912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82.49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343,713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34.37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776,198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77.62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323,416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32.34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337,922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33.79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14,506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1.45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104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337,922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33.79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44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550727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- 07 - TPA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506,019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50.60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210,841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21.08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496,609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49.66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206,920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20.69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216,617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21.66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9,697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0.97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105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216,617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21.66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44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550727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- 08 - NPS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1,100,183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110.02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458,410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45.84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1,285,187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128.52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535,495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53.55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532,039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53.20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-3,456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-0.35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99</a:t>
                      </a:r>
                    </a:p>
                  </a:txBody>
                  <a:tcPr marL="12000" marR="12000" marT="8000" marB="8000">
                    <a:solidFill>
                      <a:srgbClr val="FFF2CC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532,039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53.20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41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550727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- 10 - KMA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765,522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76.55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318,968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31.90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680,197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68.02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283,415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28.34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364,653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36.47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81,238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8.12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129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364,653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36.47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54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550727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- 11 - OT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96,309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9.63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40,129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4.01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77,300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7.73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32,208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3.22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59,582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5.96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27,374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2.74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185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59,582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5.96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77</a:t>
                      </a:r>
                    </a:p>
                  </a:txBody>
                  <a:tcPr marL="12000" marR="12000" marT="8000" marB="8000">
                    <a:solidFill>
                      <a:srgbClr val="FFF2CC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550727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- 12 - NDA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280,806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28.08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117,002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11.70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209,913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20.99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87,464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8.75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122,506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12.25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35,042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3.50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140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122,506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12.25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58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550727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- 13 - OA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551,574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55.16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229,822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22.98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527,832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52.78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219,930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21.99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279,175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27.92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59,245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5.92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127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279,175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27.92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53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/>
          <p:nvPr/>
        </p:nvSpPr>
        <p:spPr>
          <a:xfrm>
            <a:off x="130000" y="45000"/>
            <a:ext cx="11932000" cy="365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50000" rIns="50000" tIns="25000" bIns="25000"/>
          <a:lstStyle/>
          <a:p>
            <a:pPr algn="ctr"/>
            <a:r>
              <a:rPr lang="en-US" sz="1900" b="1">
                <a:solidFill>
                  <a:srgbClr val="22A7D8"/>
                </a:solidFill>
                <a:latin typeface="Times New Roman"/>
              </a:rPr>
              <a:t>PU Previous Year Comparison - AUG 2026 | uploaded 2026-09-03T13:15:58+05:30 (Rows 11-20)</a:t>
            </a:r>
          </a:p>
        </p:txBody>
      </p:sp>
      <p:sp>
        <p:nvSpPr>
          <p:cNvPr id="3" name="Text 3"/>
          <p:cNvSpPr/>
          <p:nvPr/>
        </p:nvSpPr>
        <p:spPr>
          <a:xfrm>
            <a:off x="130000" y="430000"/>
            <a:ext cx="11932000" cy="215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50000" rIns="50000" tIns="25000" bIns="25000"/>
          <a:lstStyle/>
          <a:p>
            <a:pPr algn="r"/>
            <a:r>
              <a:rPr lang="en-US" sz="900">
                <a:solidFill>
                  <a:srgbClr val="000000"/>
                </a:solidFill>
                <a:latin typeface="Times New Roman"/>
              </a:rPr>
              <a:t>Figures in thousands.</a:t>
            </a:r>
          </a:p>
        </p:txBody>
      </p:sp>
      <p:graphicFrame>
        <p:nvGraphicFramePr>
          <p:cNvPr id="4" name="Table 4"/>
          <p:cNvGraphicFramePr>
            <a:graphicFrameLocks noGrp="1"/>
          </p:cNvGraphicFramePr>
          <p:nvPr/>
        </p:nvGraphicFramePr>
        <p:xfrm>
          <a:off x="130000" y="670000"/>
          <a:ext cx="11932000" cy="6058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658618"/>
                <a:gridCol w="1085641"/>
                <a:gridCol w="1055484"/>
                <a:gridCol w="1085641"/>
                <a:gridCol w="1085641"/>
                <a:gridCol w="1055484"/>
                <a:gridCol w="1085641"/>
                <a:gridCol w="1186163"/>
                <a:gridCol w="723760"/>
                <a:gridCol w="1186163"/>
                <a:gridCol w="723764"/>
              </a:tblGrid>
              <a:tr h="550727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PU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A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Previous OBA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RG 2025-26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B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Previous Budget Proportion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A / 12 * 5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C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Previous Actual Expenditure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up to AUG 2025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D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Current OBA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BG_ISL 2026-27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E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Current Budget Proportion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D / 12 * 5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F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Current Actual Expenditure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up to AUG 2026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G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Budget Variation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F - E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H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Current Budget Proportion %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F / E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I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Actual Expenditure Variation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F - C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J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Current OBA Utilization %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F / D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550727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- 14 - FEES &amp; HON.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4,686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0.47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1,952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0.20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3,566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0.36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1,486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0.15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426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0.04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-1,060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-0.11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29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426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0.04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12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550727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- 15 - TA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19,866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1.99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8,278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0.83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16,048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1.60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6,687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0.67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11,132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1.11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4,445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0.44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166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11,132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1.11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69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550727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- 16 - TE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523,466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52.35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218,111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21.81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308,081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30.81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128,367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12.84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217,183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21.72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88,816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8.88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169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217,183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21.72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70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550727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- 17 - ATPP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2,260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0.23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942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0.09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2,110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0.21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879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0.09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-879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-0.09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550727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- 18 - OE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8,037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0.80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3,349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0.33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8,252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0.83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3,438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0.34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-3,438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-0.34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550727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- 19 - Phone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606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0.06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252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0.03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655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0.07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273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0.03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-273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-0.03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550727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- 20 - Leave Salary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14,388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1.44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5,995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0.60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18,623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1.86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7,760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0.78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12,682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1.27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4,922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0.49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163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12,682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1.27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68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550727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- 21 - Adv Expenses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2,848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0.28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1,187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0.12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3,300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0.33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1,375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0.14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-1,375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-0.14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550727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- 22 - Util(excl. elec.)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550727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- 23 - Rental Office Equip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17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-18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-0.00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/>
          <p:nvPr/>
        </p:nvSpPr>
        <p:spPr>
          <a:xfrm>
            <a:off x="130000" y="45000"/>
            <a:ext cx="11932000" cy="365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50000" rIns="50000" tIns="25000" bIns="25000"/>
          <a:lstStyle/>
          <a:p>
            <a:pPr algn="ctr"/>
            <a:r>
              <a:rPr lang="en-US" sz="1900" b="1">
                <a:solidFill>
                  <a:srgbClr val="22A7D8"/>
                </a:solidFill>
                <a:latin typeface="Times New Roman"/>
              </a:rPr>
              <a:t>PU Previous Year Comparison - AUG 2026 | uploaded 2026-09-03T13:15:58+05:30 (Rows 21-30)</a:t>
            </a:r>
          </a:p>
        </p:txBody>
      </p:sp>
      <p:sp>
        <p:nvSpPr>
          <p:cNvPr id="3" name="Text 3"/>
          <p:cNvSpPr/>
          <p:nvPr/>
        </p:nvSpPr>
        <p:spPr>
          <a:xfrm>
            <a:off x="130000" y="430000"/>
            <a:ext cx="11932000" cy="215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50000" rIns="50000" tIns="25000" bIns="25000"/>
          <a:lstStyle/>
          <a:p>
            <a:pPr algn="r"/>
            <a:r>
              <a:rPr lang="en-US" sz="900">
                <a:solidFill>
                  <a:srgbClr val="000000"/>
                </a:solidFill>
                <a:latin typeface="Times New Roman"/>
              </a:rPr>
              <a:t>Figures in thousands.</a:t>
            </a:r>
          </a:p>
        </p:txBody>
      </p:sp>
      <p:graphicFrame>
        <p:nvGraphicFramePr>
          <p:cNvPr id="4" name="Table 4"/>
          <p:cNvGraphicFramePr>
            <a:graphicFrameLocks noGrp="1"/>
          </p:cNvGraphicFramePr>
          <p:nvPr/>
        </p:nvGraphicFramePr>
        <p:xfrm>
          <a:off x="130000" y="670000"/>
          <a:ext cx="11932000" cy="6058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658618"/>
                <a:gridCol w="1085641"/>
                <a:gridCol w="1055484"/>
                <a:gridCol w="1085641"/>
                <a:gridCol w="1085641"/>
                <a:gridCol w="1055484"/>
                <a:gridCol w="1085641"/>
                <a:gridCol w="1186163"/>
                <a:gridCol w="723760"/>
                <a:gridCol w="1186163"/>
                <a:gridCol w="723764"/>
              </a:tblGrid>
              <a:tr h="550727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PU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A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Previous OBA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RG 2025-26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B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Previous Budget Proportion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A / 12 * 5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C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Previous Actual Expenditure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up to AUG 2025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D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Current OBA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BG_ISL 2026-27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E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Current Budget Proportion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D / 12 * 5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F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Current Actual Expenditure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up to AUG 2026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G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Budget Variation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F - E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H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Current Budget Proportion %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F / E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I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Actual Expenditure Variation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F - C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J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Current OBA Utilization %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F / D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550727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- 24 - Printing and Stnry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215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0.02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90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0.01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-90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-0.01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550727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- 25 - Children Edu. Allow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364,718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36.47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151,966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15.20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379,418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37.94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158,091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15.81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374,893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37.49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216,802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21.68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237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374,893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37.49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99</a:t>
                      </a:r>
                    </a:p>
                  </a:txBody>
                  <a:tcPr marL="12000" marR="12000" marT="8000" marB="8000">
                    <a:solidFill>
                      <a:srgbClr val="FFF2CC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550727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- 26 - Medical Expenses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321,438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32.14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133,932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13.39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384,392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38.44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160,163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16.02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152,897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15.29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-7,266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-0.73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95</a:t>
                      </a:r>
                    </a:p>
                  </a:txBody>
                  <a:tcPr marL="12000" marR="12000" marT="8000" marB="8000">
                    <a:solidFill>
                      <a:srgbClr val="FFF2CC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152,897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15.29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40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550727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- 27 - Materials from stock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1,445,603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144.56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602,335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60.23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1,068,752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106.88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445,313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44.53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746,612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74.66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301,299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30.13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168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746,612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74.66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70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550727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- 28 - Materials-Dir. purchase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223,635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22.36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93,181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9.32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149,947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14.99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62,478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6.25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70,597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7.06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8,119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0.81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113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70,597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7.06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47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550727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- 29 - Remu. Re-engaged Staff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476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0.05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476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0.05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476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0.05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550727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- 30 - Cost Of Elec. Energy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3,659,596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365.96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1,524,832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152.48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3,878,724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387.87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1,616,135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161.61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1,504,723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150.47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-111,412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-11.14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93</a:t>
                      </a:r>
                    </a:p>
                  </a:txBody>
                  <a:tcPr marL="12000" marR="12000" marT="8000" marB="8000">
                    <a:solidFill>
                      <a:srgbClr val="FFF2CC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1,504,723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150.47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39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550727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- 31 - OF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154,625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15.46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64,427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6.44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95,273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9.53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39,697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3.97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66,726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6.67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27,029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2.70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168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66,726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6.67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70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550727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- 32 - CP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3,775,796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377.58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1,573,248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157.32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3,254,310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325.43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1,355,962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135.60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1,822,494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182.25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466,532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46.65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134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1,822,494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182.25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56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550727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- 33 - TRDC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3,391,480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339.15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1,413,117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141.31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2,625,440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262.54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1,093,933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109.39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692,234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69.22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-401,699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-40.17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63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692,234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69.22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26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/>
          <p:nvPr/>
        </p:nvSpPr>
        <p:spPr>
          <a:xfrm>
            <a:off x="130000" y="45000"/>
            <a:ext cx="11932000" cy="365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50000" rIns="50000" tIns="25000" bIns="25000"/>
          <a:lstStyle/>
          <a:p>
            <a:pPr algn="ctr"/>
            <a:r>
              <a:rPr lang="en-US" sz="1900" b="1">
                <a:solidFill>
                  <a:srgbClr val="22A7D8"/>
                </a:solidFill>
                <a:latin typeface="Times New Roman"/>
              </a:rPr>
              <a:t>PU Previous Year Comparison - AUG 2026 | uploaded 2026-09-03T13:15:58+05:30 (Rows 31-40)</a:t>
            </a:r>
          </a:p>
        </p:txBody>
      </p:sp>
      <p:sp>
        <p:nvSpPr>
          <p:cNvPr id="3" name="Text 3"/>
          <p:cNvSpPr/>
          <p:nvPr/>
        </p:nvSpPr>
        <p:spPr>
          <a:xfrm>
            <a:off x="130000" y="430000"/>
            <a:ext cx="11932000" cy="215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50000" rIns="50000" tIns="25000" bIns="25000"/>
          <a:lstStyle/>
          <a:p>
            <a:pPr algn="r"/>
            <a:r>
              <a:rPr lang="en-US" sz="900">
                <a:solidFill>
                  <a:srgbClr val="000000"/>
                </a:solidFill>
                <a:latin typeface="Times New Roman"/>
              </a:rPr>
              <a:t>Figures in thousands.</a:t>
            </a:r>
          </a:p>
        </p:txBody>
      </p:sp>
      <p:graphicFrame>
        <p:nvGraphicFramePr>
          <p:cNvPr id="4" name="Table 4"/>
          <p:cNvGraphicFramePr>
            <a:graphicFrameLocks noGrp="1"/>
          </p:cNvGraphicFramePr>
          <p:nvPr/>
        </p:nvGraphicFramePr>
        <p:xfrm>
          <a:off x="130000" y="670000"/>
          <a:ext cx="11932000" cy="6058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658618"/>
                <a:gridCol w="1085641"/>
                <a:gridCol w="1055484"/>
                <a:gridCol w="1085641"/>
                <a:gridCol w="1085641"/>
                <a:gridCol w="1055484"/>
                <a:gridCol w="1085641"/>
                <a:gridCol w="1186163"/>
                <a:gridCol w="723760"/>
                <a:gridCol w="1186163"/>
                <a:gridCol w="723764"/>
              </a:tblGrid>
              <a:tr h="550727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PU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A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Previous OBA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RG 2025-26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B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Previous Budget Proportion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A / 12 * 5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C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Previous Actual Expenditure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up to AUG 2025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D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Current OBA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BG_ISL 2026-27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E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Current Budget Proportion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D / 12 * 5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F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Current Actual Expenditure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up to AUG 2026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G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Budget Variation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F - E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H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Current Budget Proportion %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F / E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I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Actual Expenditure Variation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F - C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J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Current OBA Utilization %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F / D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550727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- 36 - Excise Duty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203,822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20.38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84,926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8.49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155,548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15.55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64,812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6.48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17,415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1.74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-47,397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-4.74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27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17,415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1.74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11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550727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- 38 - Sales Tax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161,025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16.10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67,094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6.71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95,829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9.58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39,929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3.99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44,460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4.45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4,531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0.45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111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44,460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4.45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46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550727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- 39 - ATD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80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0.01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33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23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21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1104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23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460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550727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- 42 - ARR SALARY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12,543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1.25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5,226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0.52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25,882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2.59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10,784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1.08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5,328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0.53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-5,456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-0.55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49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5,328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0.53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21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550727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- 43 - ARR DA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8,631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0.86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3,596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0.36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12,005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1.20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5,002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0.50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2,573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0.26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-2,429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-0.24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51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2,573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0.26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21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550727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- 44 - ARR OTH ALW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22,378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2.24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9,324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0.93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11,589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1.16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4,829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0.48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224,749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22.47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219,920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21.99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4654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224,749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22.47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1939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550727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- 49 - O/S M/P TRACK AND SIGNAL MNT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789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0.08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329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0.03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544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0.05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227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0.02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6,382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0.64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6,155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0.62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2816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6,382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0.64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1173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550727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- 52 - Laptop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550727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- 53 - All India LTC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200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0.02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83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0.01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614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0.06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256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0.03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1,704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0.17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1,448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0.14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666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1,704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0.17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278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550727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- 60 - Fuel from Stock-Home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4,909,641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490.96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2,045,684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204.57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4,703,356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470.34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1,959,732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195.97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2,303,206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230.32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343,474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34.35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118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2,303,206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230.32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49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/>
          <p:nvPr/>
        </p:nvSpPr>
        <p:spPr>
          <a:xfrm>
            <a:off x="130000" y="45000"/>
            <a:ext cx="11932000" cy="365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50000" rIns="50000" tIns="25000" bIns="25000"/>
          <a:lstStyle/>
          <a:p>
            <a:pPr algn="ctr"/>
            <a:r>
              <a:rPr lang="en-US" sz="1900" b="1">
                <a:solidFill>
                  <a:srgbClr val="22A7D8"/>
                </a:solidFill>
                <a:latin typeface="Times New Roman"/>
              </a:rPr>
              <a:t>PU Previous Year Comparison - AUG 2026 | uploaded 2026-09-03T13:15:58+05:30 (Rows 41-47)</a:t>
            </a:r>
          </a:p>
        </p:txBody>
      </p:sp>
      <p:sp>
        <p:nvSpPr>
          <p:cNvPr id="3" name="Text 3"/>
          <p:cNvSpPr/>
          <p:nvPr/>
        </p:nvSpPr>
        <p:spPr>
          <a:xfrm>
            <a:off x="130000" y="430000"/>
            <a:ext cx="11932000" cy="215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50000" rIns="50000" tIns="25000" bIns="25000"/>
          <a:lstStyle/>
          <a:p>
            <a:pPr algn="r"/>
            <a:r>
              <a:rPr lang="en-US" sz="900">
                <a:solidFill>
                  <a:srgbClr val="000000"/>
                </a:solidFill>
                <a:latin typeface="Times New Roman"/>
              </a:rPr>
              <a:t>Figures in thousands.</a:t>
            </a:r>
          </a:p>
        </p:txBody>
      </p:sp>
      <p:graphicFrame>
        <p:nvGraphicFramePr>
          <p:cNvPr id="4" name="Table 4"/>
          <p:cNvGraphicFramePr>
            <a:graphicFrameLocks noGrp="1"/>
          </p:cNvGraphicFramePr>
          <p:nvPr/>
        </p:nvGraphicFramePr>
        <p:xfrm>
          <a:off x="130000" y="670000"/>
          <a:ext cx="11932000" cy="6058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658618"/>
                <a:gridCol w="1085641"/>
                <a:gridCol w="1055484"/>
                <a:gridCol w="1085641"/>
                <a:gridCol w="1085641"/>
                <a:gridCol w="1055484"/>
                <a:gridCol w="1085641"/>
                <a:gridCol w="1186163"/>
                <a:gridCol w="723760"/>
                <a:gridCol w="1186163"/>
                <a:gridCol w="723764"/>
              </a:tblGrid>
              <a:tr h="757250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PU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A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Previous OBA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RG 2025-26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B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Previous Budget Proportion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A / 12 * 5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C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Previous Actual Expenditure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up to AUG 2025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D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Current OBA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BG_ISL 2026-27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E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Current Budget Proportion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D / 12 * 5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F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Current Actual Expenditure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up to AUG 2026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G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Budget Variation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F - E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H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Current Budget Proportion %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F / E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I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Actual Expenditure Variation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F - C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J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Current OBA Utilization %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F / D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757250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- 72 - Central GST (CGST)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15,454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1.55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6,439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0.64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32,329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3.23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13,470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1.35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37,201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3.72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23,731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2.37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276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37,201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3.72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115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757250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- 73 - State GST (SGST)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15,459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1.55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6,441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0.64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31,932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3.19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13,305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1.33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37,201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3.72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23,896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2.39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280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37,201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3.72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117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757250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- 74 - Union Territory GST (UTGST)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-0.00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757250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- 75 - Integrated GST (IGST)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15,534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1.55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6,472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0.65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26,098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2.61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10,874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1.09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41,871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4.19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30,997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3.10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385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41,871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4.19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160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757250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- 98 - Credit or Recoveries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-1,194,360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-119.44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-497,650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-49.77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-1,652,821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-165.28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-688,675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-68.87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-623,356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-62.34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65,319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6.53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91</a:t>
                      </a:r>
                    </a:p>
                  </a:txBody>
                  <a:tcPr marL="12000" marR="12000" marT="8000" marB="8000">
                    <a:solidFill>
                      <a:srgbClr val="FFF2CC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-623,356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-62.34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38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757250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- 99 - OE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1,157,401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115.74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482,250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48.23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1,797,579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179.76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748,991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74.90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2,269,838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226.98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1,520,847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152.08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303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2,269,838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226.98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126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757250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Total</a:t>
                      </a:r>
                    </a:p>
                  </a:txBody>
                  <a:tcPr marL="12000" marR="12000" marT="8000" marB="8000">
                    <a:solidFill>
                      <a:srgbClr val="C8D6E8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35,151,374</a:t>
                      </a:r>
                      <a:br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Cr. 3515.14</a:t>
                      </a:r>
                    </a:p>
                  </a:txBody>
                  <a:tcPr marL="12000" marR="12000" marT="8000" marB="8000">
                    <a:solidFill>
                      <a:srgbClr val="C8D6E8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14,646,406</a:t>
                      </a:r>
                      <a:br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Cr. 1464.64</a:t>
                      </a:r>
                    </a:p>
                  </a:txBody>
                  <a:tcPr marL="12000" marR="12000" marT="8000" marB="8000">
                    <a:solidFill>
                      <a:srgbClr val="C8D6E8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C8D6E8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32,582,828</a:t>
                      </a:r>
                      <a:br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Cr. 3258.28</a:t>
                      </a:r>
                    </a:p>
                  </a:txBody>
                  <a:tcPr marL="12000" marR="12000" marT="8000" marB="8000">
                    <a:solidFill>
                      <a:srgbClr val="C8D6E8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13,576,178</a:t>
                      </a:r>
                      <a:br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Cr. 1357.62</a:t>
                      </a:r>
                    </a:p>
                  </a:txBody>
                  <a:tcPr marL="12000" marR="12000" marT="8000" marB="8000">
                    <a:solidFill>
                      <a:srgbClr val="C8D6E8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16,996,095</a:t>
                      </a:r>
                      <a:br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Cr. 1699.61</a:t>
                      </a:r>
                    </a:p>
                  </a:txBody>
                  <a:tcPr marL="12000" marR="12000" marT="8000" marB="8000">
                    <a:solidFill>
                      <a:srgbClr val="C8D6E8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3,419,917</a:t>
                      </a:r>
                      <a:br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Cr. 341.99</a:t>
                      </a:r>
                    </a:p>
                  </a:txBody>
                  <a:tcPr marL="12000" marR="12000" marT="8000" marB="8000">
                    <a:solidFill>
                      <a:srgbClr val="C8D6E8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125</a:t>
                      </a:r>
                    </a:p>
                  </a:txBody>
                  <a:tcPr marL="12000" marR="12000" marT="8000" marB="8000">
                    <a:solidFill>
                      <a:srgbClr val="D92323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16,996,095</a:t>
                      </a:r>
                      <a:br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Cr. 1699.61</a:t>
                      </a:r>
                    </a:p>
                  </a:txBody>
                  <a:tcPr marL="12000" marR="12000" marT="8000" marB="8000">
                    <a:solidFill>
                      <a:srgbClr val="C8D6E8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52</a:t>
                      </a:r>
                    </a:p>
                  </a:txBody>
                  <a:tcPr marL="12000" marR="12000" marT="8000" marB="8000">
                    <a:solidFill>
                      <a:srgbClr val="25A55B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/>
          <p:nvPr/>
        </p:nvSpPr>
        <p:spPr>
          <a:xfrm>
            <a:off x="130000" y="45000"/>
            <a:ext cx="11932000" cy="365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50000" rIns="50000" tIns="25000" bIns="25000"/>
          <a:lstStyle/>
          <a:p>
            <a:pPr algn="ctr"/>
            <a:r>
              <a:rPr lang="en-US" sz="1900" b="1">
                <a:solidFill>
                  <a:srgbClr val="22A7D8"/>
                </a:solidFill>
                <a:latin typeface="Times New Roman"/>
              </a:rPr>
              <a:t>Demand Previous Year Comparison - AUG 2026 | uploaded 2026-09-03T13:15:58+05:30 (Rows 1-10)</a:t>
            </a:r>
          </a:p>
        </p:txBody>
      </p:sp>
      <p:sp>
        <p:nvSpPr>
          <p:cNvPr id="3" name="Text 3"/>
          <p:cNvSpPr/>
          <p:nvPr/>
        </p:nvSpPr>
        <p:spPr>
          <a:xfrm>
            <a:off x="130000" y="430000"/>
            <a:ext cx="11932000" cy="215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50000" rIns="50000" tIns="25000" bIns="25000"/>
          <a:lstStyle/>
          <a:p>
            <a:pPr algn="r"/>
            <a:r>
              <a:rPr lang="en-US" sz="900">
                <a:solidFill>
                  <a:srgbClr val="000000"/>
                </a:solidFill>
                <a:latin typeface="Times New Roman"/>
              </a:rPr>
              <a:t>Figures in thousands.</a:t>
            </a:r>
          </a:p>
        </p:txBody>
      </p:sp>
      <p:graphicFrame>
        <p:nvGraphicFramePr>
          <p:cNvPr id="4" name="Table 4"/>
          <p:cNvGraphicFramePr>
            <a:graphicFrameLocks noGrp="1"/>
          </p:cNvGraphicFramePr>
          <p:nvPr/>
        </p:nvGraphicFramePr>
        <p:xfrm>
          <a:off x="130000" y="670000"/>
          <a:ext cx="11932000" cy="6058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182687"/>
                <a:gridCol w="1795932"/>
                <a:gridCol w="946149"/>
                <a:gridCol w="919867"/>
                <a:gridCol w="946149"/>
                <a:gridCol w="946149"/>
                <a:gridCol w="919867"/>
                <a:gridCol w="946149"/>
                <a:gridCol w="1033756"/>
                <a:gridCol w="630766"/>
                <a:gridCol w="1033756"/>
                <a:gridCol w="630773"/>
              </a:tblGrid>
              <a:tr h="550727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Demand No. / SMH-Grant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Department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A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Previous OBA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RG 2025-26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B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Previous Budget Proportion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A / 12 * 5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C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Previous Actual Expenditure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up to AUG 2025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D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Current OBA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BG_ISL 2026-27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E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Current Budget Proportion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D / 12 * 5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F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Current Actual Expenditure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up to AUG 2026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G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Budget Variation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F - E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H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Current Budget Proportion %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F / E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I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Actual Expenditure Variation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F - C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J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Current OBA Utilization %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F / D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550727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Demand 03 / 01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PERSONNEL / STORE And Office Staff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665,629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66.56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277,345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27.73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641,522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64.15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267,301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26.73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294,025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29.40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26,724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2.67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110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294,025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29.40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46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550727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Demand 04 / 02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ENGINEERING / PWAY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3,847,643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384.76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1,603,185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160.32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3,608,902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360.89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1,503,709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150.37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1,779,391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177.94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275,682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27.57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118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1,779,391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177.94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49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550727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Demand 05 / 03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Mechanical LOCO Shed Roza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2,090,612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209.06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871,088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87.11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1,864,843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186.48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777,018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77.70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782,032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78.20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5,014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0.50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101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782,032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78.20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42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550727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Demand 06 / 04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Electrical General / Mech C&amp;W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1,494,173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149.42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622,572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62.26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1,353,581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135.36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563,992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56.40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882,061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88.21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318,069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31.81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156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882,061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88.21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65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550727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Demand 07 / 05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S&amp;T / TRD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2,214,697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221.47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922,790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92.28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2,059,950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206.00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858,312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85.83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987,240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98.72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128,928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12.89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115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987,240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98.72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48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550727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Demand 08 / 06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MECHANICAL / Running Staff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3,934,040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393.40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1,639,183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163.92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3,352,566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335.26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1,396,902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139.69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1,953,133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195.31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556,230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55.62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140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1,953,133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195.31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58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550727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Demand 09 / 07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OPERATING / Commercial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4,981,857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498.19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2,075,774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207.58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4,428,766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442.88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1,845,319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184.53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2,193,589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219.36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348,270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34.83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119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2,193,589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219.36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50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550727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Demand 10 / 08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Operating Expenses - Fuel / Traction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12,766,553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1276.66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5,319,397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531.94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11,607,206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1160.72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4,836,336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483.63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4,657,805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465.78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-178,531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-17.85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96</a:t>
                      </a:r>
                    </a:p>
                  </a:txBody>
                  <a:tcPr marL="12000" marR="12000" marT="8000" marB="8000">
                    <a:solidFill>
                      <a:srgbClr val="FFF2CC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4,657,805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465.78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40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550727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Demand 11 / 09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MEDICAL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1,251,847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125.18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521,603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52.16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1,392,832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139.28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580,347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58.03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915,761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91.58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335,414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33.54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158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915,761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91.58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66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550727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Demand 12 / 10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SECURITY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991,836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99.18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413,265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41.33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994,638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99.46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414,432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41.44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439,545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43.95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25,112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2.51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106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439,545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43.95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44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/>
          <p:nvPr/>
        </p:nvSpPr>
        <p:spPr>
          <a:xfrm>
            <a:off x="130000" y="45000"/>
            <a:ext cx="11932000" cy="365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50000" rIns="50000" tIns="25000" bIns="25000"/>
          <a:lstStyle/>
          <a:p>
            <a:pPr algn="ctr"/>
            <a:r>
              <a:rPr lang="en-US" sz="1900" b="1">
                <a:solidFill>
                  <a:srgbClr val="22A7D8"/>
                </a:solidFill>
                <a:latin typeface="Times New Roman"/>
              </a:rPr>
              <a:t>Demand Previous Year Comparison - AUG 2026 | uploaded 2026-09-03T13:15:58+05:30 (Rows 11-13)</a:t>
            </a:r>
          </a:p>
        </p:txBody>
      </p:sp>
      <p:sp>
        <p:nvSpPr>
          <p:cNvPr id="3" name="Text 3"/>
          <p:cNvSpPr/>
          <p:nvPr/>
        </p:nvSpPr>
        <p:spPr>
          <a:xfrm>
            <a:off x="130000" y="430000"/>
            <a:ext cx="11932000" cy="215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50000" rIns="50000" tIns="25000" bIns="25000"/>
          <a:lstStyle/>
          <a:p>
            <a:pPr algn="r"/>
            <a:r>
              <a:rPr lang="en-US" sz="900">
                <a:solidFill>
                  <a:srgbClr val="000000"/>
                </a:solidFill>
                <a:latin typeface="Times New Roman"/>
              </a:rPr>
              <a:t>Figures in thousands.</a:t>
            </a:r>
          </a:p>
        </p:txBody>
      </p:sp>
      <p:graphicFrame>
        <p:nvGraphicFramePr>
          <p:cNvPr id="4" name="Table 4"/>
          <p:cNvGraphicFramePr>
            <a:graphicFrameLocks noGrp="1"/>
          </p:cNvGraphicFramePr>
          <p:nvPr/>
        </p:nvGraphicFramePr>
        <p:xfrm>
          <a:off x="130000" y="670000"/>
          <a:ext cx="11932000" cy="6058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182687"/>
                <a:gridCol w="1795932"/>
                <a:gridCol w="946149"/>
                <a:gridCol w="919867"/>
                <a:gridCol w="946149"/>
                <a:gridCol w="946149"/>
                <a:gridCol w="919867"/>
                <a:gridCol w="946149"/>
                <a:gridCol w="1033756"/>
                <a:gridCol w="630766"/>
                <a:gridCol w="1033756"/>
                <a:gridCol w="630773"/>
              </a:tblGrid>
              <a:tr h="1514500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Demand No. / SMH-Grant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Department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A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Previous OBA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RG 2025-26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B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Previous Budget Proportion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A / 12 * 5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C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Previous Actual Expenditure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up to AUG 2025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D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Current OBA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BG_ISL 2026-27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E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Current Budget Proportion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D / 12 * 5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F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Current Actual Expenditure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up to AUG 2026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G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Budget Variation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F - E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H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Current Budget Proportion %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F / E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I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Actual Expenditure Variation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F - C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J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Current OBA Utilization %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F / D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1514500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Demand 13 / 11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Pension and Retirement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1,103,187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110.32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459,661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45.97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1,291,067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129.11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537,945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53.79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532,661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53.27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-5,284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-0.53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99</a:t>
                      </a:r>
                    </a:p>
                  </a:txBody>
                  <a:tcPr marL="12000" marR="12000" marT="8000" marB="8000">
                    <a:solidFill>
                      <a:srgbClr val="FFF2CC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532,661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53.27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41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1514500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Total</a:t>
                      </a:r>
                    </a:p>
                  </a:txBody>
                  <a:tcPr marL="12000" marR="12000" marT="8000" marB="8000">
                    <a:solidFill>
                      <a:srgbClr val="C8D6E8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/>
                      </a:r>
                    </a:p>
                  </a:txBody>
                  <a:tcPr marL="12000" marR="12000" marT="8000" marB="8000">
                    <a:solidFill>
                      <a:srgbClr val="C8D6E8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35,342,074</a:t>
                      </a:r>
                      <a:br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Cr. 3534.21</a:t>
                      </a:r>
                    </a:p>
                  </a:txBody>
                  <a:tcPr marL="12000" marR="12000" marT="8000" marB="8000">
                    <a:solidFill>
                      <a:srgbClr val="C8D6E8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14,725,864</a:t>
                      </a:r>
                      <a:br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Cr. 1472.59</a:t>
                      </a:r>
                    </a:p>
                  </a:txBody>
                  <a:tcPr marL="12000" marR="12000" marT="8000" marB="8000">
                    <a:solidFill>
                      <a:srgbClr val="C8D6E8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C8D6E8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32,595,873</a:t>
                      </a:r>
                      <a:br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Cr. 3259.59</a:t>
                      </a:r>
                    </a:p>
                  </a:txBody>
                  <a:tcPr marL="12000" marR="12000" marT="8000" marB="8000">
                    <a:solidFill>
                      <a:srgbClr val="C8D6E8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13,581,614</a:t>
                      </a:r>
                      <a:br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Cr. 1358.16</a:t>
                      </a:r>
                    </a:p>
                  </a:txBody>
                  <a:tcPr marL="12000" marR="12000" marT="8000" marB="8000">
                    <a:solidFill>
                      <a:srgbClr val="C8D6E8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15,417,243</a:t>
                      </a:r>
                      <a:br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Cr. 1541.72</a:t>
                      </a:r>
                    </a:p>
                  </a:txBody>
                  <a:tcPr marL="12000" marR="12000" marT="8000" marB="8000">
                    <a:solidFill>
                      <a:srgbClr val="C8D6E8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1,835,629</a:t>
                      </a:r>
                      <a:br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Cr. 183.56</a:t>
                      </a:r>
                    </a:p>
                  </a:txBody>
                  <a:tcPr marL="12000" marR="12000" marT="8000" marB="8000">
                    <a:solidFill>
                      <a:srgbClr val="C8D6E8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114</a:t>
                      </a:r>
                    </a:p>
                  </a:txBody>
                  <a:tcPr marL="12000" marR="12000" marT="8000" marB="8000">
                    <a:solidFill>
                      <a:srgbClr val="D92323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15,417,243</a:t>
                      </a:r>
                      <a:br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Cr. 1541.72</a:t>
                      </a:r>
                    </a:p>
                  </a:txBody>
                  <a:tcPr marL="12000" marR="12000" marT="8000" marB="8000">
                    <a:solidFill>
                      <a:srgbClr val="C8D6E8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47</a:t>
                      </a:r>
                    </a:p>
                  </a:txBody>
                  <a:tcPr marL="12000" marR="12000" marT="8000" marB="8000">
                    <a:solidFill>
                      <a:srgbClr val="25A55B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1514500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Demand 12N / 10N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Suspense Heads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-190,700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-19.07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-79,458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-7.95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-13,045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-1.30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-5,435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-0.54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1,578,852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157.89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1,584,287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158.43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-29047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1,578,852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157.89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-12103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Facet">
  <a:themeElements>
    <a:clrScheme name="Blue II">
      <a:dk1>
        <a:sysClr val="windowText" lastClr="000000"/>
      </a:dk1>
      <a:lt1>
        <a:sysClr val="window" lastClr="FFFFFF"/>
      </a:lt1>
      <a:dk2>
        <a:srgbClr val="335B74"/>
      </a:dk2>
      <a:lt2>
        <a:srgbClr val="DFE3E5"/>
      </a:lt2>
      <a:accent1>
        <a:srgbClr val="1CADE4"/>
      </a:accent1>
      <a:accent2>
        <a:srgbClr val="2683C6"/>
      </a:accent2>
      <a:accent3>
        <a:srgbClr val="27CED7"/>
      </a:accent3>
      <a:accent4>
        <a:srgbClr val="42BA97"/>
      </a:accent4>
      <a:accent5>
        <a:srgbClr val="3E8853"/>
      </a:accent5>
      <a:accent6>
        <a:srgbClr val="62A39F"/>
      </a:accent6>
      <a:hlink>
        <a:srgbClr val="6EAC1C"/>
      </a:hlink>
      <a:folHlink>
        <a:srgbClr val="B26B02"/>
      </a:folHlink>
    </a:clrScheme>
    <a:fontScheme name="Facet">
      <a:majorFont>
        <a:latin typeface="Trebuchet MS" panose="020B0603020202020204"/>
        <a:ea typeface=""/>
        <a:cs typeface=""/>
        <a:font script="Jpan" typeface="メイリオ"/>
        <a:font script="Hang" typeface="맑은 고딕"/>
        <a:font script="Hans" typeface="方正姚体"/>
        <a:font script="Hant" typeface="微軟正黑體"/>
        <a:font script="Arab" typeface="Tahoma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Trebuchet MS" panose="020B0603020202020204"/>
        <a:ea typeface=""/>
        <a:cs typeface=""/>
        <a:font script="Jpan" typeface="メイリオ"/>
        <a:font script="Hang" typeface="HY그래픽M"/>
        <a:font script="Hans" typeface="华文新魏"/>
        <a:font script="Hant" typeface="微軟正黑體"/>
        <a:font script="Arab" typeface="Tahoma"/>
        <a:font script="Hebr" typeface="Gisha"/>
        <a:font script="Thai" typeface="Iris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Facet">
      <a:fillStyleLst>
        <a:solidFill>
          <a:schemeClr val="phClr"/>
        </a:solidFill>
        <a:gradFill rotWithShape="1">
          <a:gsLst>
            <a:gs pos="0">
              <a:schemeClr val="phClr">
                <a:tint val="65000"/>
                <a:lumMod val="110000"/>
              </a:schemeClr>
            </a:gs>
            <a:gs pos="88000">
              <a:schemeClr val="phClr">
                <a:tint val="9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6000"/>
                <a:lumMod val="100000"/>
              </a:schemeClr>
            </a:gs>
            <a:gs pos="78000">
              <a:schemeClr val="phClr">
                <a:shade val="94000"/>
                <a:lumMod val="94000"/>
              </a:schemeClr>
            </a:gs>
          </a:gsLst>
          <a:lin ang="5400000" scaled="0"/>
        </a:gradFill>
      </a:fillStyleLst>
      <a:lnStyleLst>
        <a:ln w="12700" cap="rnd" cmpd="sng" algn="ctr">
          <a:solidFill>
            <a:schemeClr val="phClr"/>
          </a:solidFill>
          <a:prstDash val="solid"/>
        </a:ln>
        <a:ln w="19050" cap="rnd" cmpd="sng" algn="ctr">
          <a:solidFill>
            <a:schemeClr val="phClr"/>
          </a:solidFill>
          <a:prstDash val="solid"/>
        </a:ln>
        <a:ln w="25400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50800" dist="381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l"/>
          </a:scene3d>
          <a:sp3d prstMaterial="plastic">
            <a:bevelT w="0" h="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04000"/>
              </a:schemeClr>
            </a:gs>
            <a:gs pos="94000">
              <a:schemeClr val="phClr">
                <a:shade val="96000"/>
                <a:lumMod val="82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100000">
              <a:schemeClr val="phClr">
                <a:shade val="94000"/>
                <a:lumMod val="96000"/>
              </a:schemeClr>
            </a:gs>
          </a:gsLst>
          <a:path path="circle">
            <a:fillToRect l="50000" t="50000" r="100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Facet" id="{C0C680CD-088A-49FC-A102-D699147F32B2}" vid="{CFBC31BA-B70F-4F30-BCAA-4F3011E16C4D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Facet</Template>
  <TotalTime>208</TotalTime>
  <Words>1901</Words>
  <Application>Microsoft Office PowerPoint</Application>
  <PresentationFormat>Widescreen</PresentationFormat>
  <Paragraphs>476</Paragraphs>
  <Slides>7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2" baseType="lpstr">
      <vt:lpstr>Arial</vt:lpstr>
      <vt:lpstr>Times New Roman</vt:lpstr>
      <vt:lpstr>Trebuchet MS</vt:lpstr>
      <vt:lpstr>Wingdings 3</vt:lpstr>
      <vt:lpstr>Facet</vt:lpstr>
      <vt:lpstr>Moradabad Division Accounts Dept FY – 2026-2027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Moradabad Division FY – 2026-2027</dc:title>
  <dc:creator>girish</dc:creator>
  <cp:lastModifiedBy>it centre mb</cp:lastModifiedBy>
  <cp:revision>29</cp:revision>
  <dcterms:created xsi:type="dcterms:W3CDTF">2026-07-10T14:38:31Z</dcterms:created>
  <dcterms:modified xsi:type="dcterms:W3CDTF">2026-08-10T08:17:23Z</dcterms:modified>
</cp:coreProperties>
</file>