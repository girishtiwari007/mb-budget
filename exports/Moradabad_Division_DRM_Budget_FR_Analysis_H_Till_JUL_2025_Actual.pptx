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947" autoAdjust="0"/>
  </p:normalViewPr>
  <p:slideViewPr>
    <p:cSldViewPr snapToGrid="0">
      <p:cViewPr varScale="1">
        <p:scale>
          <a:sx n="108" d="100"/>
          <a:sy n="108" d="100"/>
        </p:scale>
        <p:origin x="71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41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20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120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24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131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22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357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238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717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88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4124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846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8026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152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6691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8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00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Times New Roman"/>
              </a:rPr>
              <a:t>NORTHERN RAILWAY - MORADABAD DIVISION</a:t>
            </a:r>
          </a:p>
        </p:txBody>
      </p:sp>
      <p:sp>
        <p:nvSpPr>
          <p:cNvPr id="3" name="Text 3"/>
          <p:cNvSpPr/>
          <p:nvPr/>
        </p:nvSpPr>
        <p:spPr>
          <a:xfrm>
            <a:off x="420000" y="1180000"/>
            <a:ext cx="11352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2400" b="1">
                <a:solidFill>
                  <a:srgbClr val="22A7D8"/>
                </a:solidFill>
                <a:latin typeface="Times New Roman"/>
              </a:rPr>
              <a:t>Moradabad Division Budget &amp; FR Analysis</a:t>
            </a:r>
          </a:p>
        </p:txBody>
      </p:sp>
      <p:sp>
        <p:nvSpPr>
          <p:cNvPr id="4" name="Text 4"/>
          <p:cNvSpPr/>
          <p:nvPr/>
        </p:nvSpPr>
        <p:spPr>
          <a:xfrm>
            <a:off x="860000" y="2040000"/>
            <a:ext cx="10472000" cy="430000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80">
                <a:solidFill>
                  <a:srgbClr val="000000"/>
                </a:solidFill>
                <a:latin typeface="Times New Roman"/>
              </a:rPr>
              <a:t>Accounts Dept | FY 2026-2027 | DRM Budget &amp; FR Analysis | Completed JUL 2026 | H column: actual expenditure up to JUL 2025</a:t>
            </a:r>
          </a:p>
        </p:txBody>
      </p:sp>
      <p:sp>
        <p:nvSpPr>
          <p:cNvPr id="5" name="Text 5"/>
          <p:cNvSpPr/>
          <p:nvPr/>
        </p:nvSpPr>
        <p:spPr>
          <a:xfrm>
            <a:off x="1350000" y="3120000"/>
            <a:ext cx="2400000" cy="720000"/>
          </a:xfrm>
          <a:prstGeom prst="rect">
            <a:avLst/>
          </a:prstGeom>
          <a:solidFill>
            <a:srgbClr val="DFF3E7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Green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Within control</a:t>
            </a:r>
          </a:p>
        </p:txBody>
      </p:sp>
      <p:sp>
        <p:nvSpPr>
          <p:cNvPr id="6" name="Text 6"/>
          <p:cNvSpPr/>
          <p:nvPr/>
        </p:nvSpPr>
        <p:spPr>
          <a:xfrm>
            <a:off x="4860000" y="3120000"/>
            <a:ext cx="2400000" cy="720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Amber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Watch range</a:t>
            </a:r>
          </a:p>
        </p:txBody>
      </p:sp>
      <p:sp>
        <p:nvSpPr>
          <p:cNvPr id="7" name="Text 7"/>
          <p:cNvSpPr/>
          <p:nvPr/>
        </p:nvSpPr>
        <p:spPr>
          <a:xfrm>
            <a:off x="8370000" y="3120000"/>
            <a:ext cx="2400000" cy="72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Red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Immediate review</a:t>
            </a:r>
          </a:p>
        </p:txBody>
      </p:sp>
      <p:sp>
        <p:nvSpPr>
          <p:cNvPr id="8" name="Text 8"/>
          <p:cNvSpPr/>
          <p:nvPr/>
        </p:nvSpPr>
        <p:spPr>
          <a:xfrm>
            <a:off x="0" y="6438000"/>
            <a:ext cx="12192000" cy="4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00">
                <a:solidFill>
                  <a:srgbClr val="FFFFFF"/>
                </a:solidFill>
                <a:latin typeface="Times New Roman"/>
              </a:rPr>
              <a:t>Figures in thousands with Crore equivalent shown inside table cells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Demand SMH Wise - JUL 2026 | uploaded 2026-08-25T15:43:05+05:30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8281"/>
                <a:gridCol w="2123315"/>
                <a:gridCol w="1118625"/>
                <a:gridCol w="1118625"/>
                <a:gridCol w="1118625"/>
                <a:gridCol w="1222201"/>
                <a:gridCol w="745749"/>
                <a:gridCol w="1222201"/>
                <a:gridCol w="745749"/>
                <a:gridCol w="1118629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Demand No. / SMH-Grant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Department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BG_ISL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 UPTO JUL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Upto JUL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Upto JUL 2025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03 / 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PERSONNEL / STORE And Office Staff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641,522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64.15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240,031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24.00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232,594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23.26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-7,437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-0.74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97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408,928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40.89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215,548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21.55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04 / 02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ENGINEERING / PWAY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3,608,902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360.89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1,177,984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117.80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1,467,818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146.78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289,834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28.98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2,141,084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214.11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41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1,313,794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131.38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05 / 03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Mechanical LOCO Shed Roza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1,864,843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186.48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923,741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92.37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782,032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78.20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-141,709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-14.17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85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1,082,811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108.28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42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992,115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99.21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06 / 04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Electrical General / Mech C&amp;W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1,353,581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135.36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413,960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41.40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722,606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72.26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308,646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30.86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175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630,975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63.10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510,355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51.04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07 / 05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S&amp;T / TRD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2,059,950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206.00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694,140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69.41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800,112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80.01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105,972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10.60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1,259,838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125.98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680,262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68.03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08 / 06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MECHANICAL / Running Staff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3,352,566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335.26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1,217,272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121.73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1,562,963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156.30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345,691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34.57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1,789,603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178.96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47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1,252,980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125.30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09 / 07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OPERATING / Commercial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4,428,766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442.88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1,511,191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151.12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1,777,301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177.73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266,110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26.61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2,651,465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265.15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1,637,160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163.72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10 / 08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Operating Expenses - Fuel / Traction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11,607,206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1160.72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3,862,305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386.23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3,545,214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354.52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-317,091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-31.71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92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8,061,992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806.20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31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4,179,746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417.97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11 / 09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MEDICAL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1,392,832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139.28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598,674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59.87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807,750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80.78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209,076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20.91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585,082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58.51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58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744,311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74.43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12 / 10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SECURITY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994,638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99.46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325,688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32.57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355,866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35.59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30,178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3.02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638,772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63.88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324,212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32.42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13 / 11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Pension and Retirement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1,291,067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129.11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388,570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38.86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425,678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42.57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37,108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3.71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865,389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86.54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33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400,404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40.04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32,595,873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3259.59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11,353,556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1135.36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12,479,934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1247.99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1,126,378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112.64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110</a:t>
                      </a:r>
                    </a:p>
                  </a:txBody>
                  <a:tcPr marL="12000" marR="12000" marT="8000" marB="8000">
                    <a:solidFill>
                      <a:srgbClr val="D92323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20,115,939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2011.59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38</a:t>
                      </a:r>
                    </a:p>
                  </a:txBody>
                  <a:tcPr marL="12000" marR="12000" marT="8000" marB="8000">
                    <a:solidFill>
                      <a:srgbClr val="25A55B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12,250,887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1225.09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12N / 10N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Suspense Heads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-13,045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-1.30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1,362,799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136.28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1,569,032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156.90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206,233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20.62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-1,582,077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-158.21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-12028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1,635,983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163.60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Wise - Staff - JUL 2026 | uploaded 2026-08-25T15:43:05+05:30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127"/>
                <a:gridCol w="1318992"/>
                <a:gridCol w="1318992"/>
                <a:gridCol w="1318992"/>
                <a:gridCol w="1441121"/>
                <a:gridCol w="879328"/>
                <a:gridCol w="1441121"/>
                <a:gridCol w="879328"/>
                <a:gridCol w="1318999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BG_ISL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 UPTO JUL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Upto JUL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Upto JUL 2025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- 01 - Sal/Wag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6,706,409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670.64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2,249,064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224.91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2,454,892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245.49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205,828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20.58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4,251,517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425.15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37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2,424,646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242.46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- 02 - DA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4,100,453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410.05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1,359,404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135.94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1,579,845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157.98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220,441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22.04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116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2,520,608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252.06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1,435,879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143.59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- 03 - PLB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285,089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28.51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285,008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28.50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218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0.02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- 04 - HRA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776,198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77.62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268,852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26.89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269,991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1,139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0.11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100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506,207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50.62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35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264,372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26.44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- 07 - TPA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496,609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49.66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167,312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16.73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173,507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17.35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6,195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104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323,102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32.31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35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167,840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16.78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- 10 - KMA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680,197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68.02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255,207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25.52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290,482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29.05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35,275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3.53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114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389,715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38.97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43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261,222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26.12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- 11 - OT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77,300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7.73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26,924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2.69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54,545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5.45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27,621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2.76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203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22,755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2.28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71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62,375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6.24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- 12 - NDA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209,913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20.99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69,543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6.95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98,022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9.80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28,479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2.85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141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111,891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11.19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47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93,733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9.37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- 13 - OA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527,832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52.78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273,477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27.35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250,793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25.08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-22,684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-2.27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92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277,039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27.70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48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253,677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25.37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- 15 - TA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16,048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1.60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5,665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0.57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9,177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0.92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3,512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0.35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162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6,871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57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10,277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1.03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- 16 - TE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308,081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30.81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100,083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10.01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176,120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17.61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76,037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7.60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176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131,961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13.20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57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165,458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16.55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- 25 - Children Edu. Allow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379,418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37.94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320,448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32.04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358,455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35.85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38,007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3.80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112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20,963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2.10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94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354,718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35.47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14,563,547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1456.35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5,095,979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509.60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5,715,910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571.59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619,931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61.99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112</a:t>
                      </a:r>
                    </a:p>
                  </a:txBody>
                  <a:tcPr marL="12000" marR="12000" marT="8000" marB="8000">
                    <a:solidFill>
                      <a:srgbClr val="D92323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8,847,637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884.76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39</a:t>
                      </a:r>
                    </a:p>
                  </a:txBody>
                  <a:tcPr marL="12000" marR="12000" marT="8000" marB="8000">
                    <a:solidFill>
                      <a:srgbClr val="25A55B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5,494,415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549.44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Wise - Non-Staff Part 1 - JUL 2026 | uploaded 2026-08-25T15:43:05+05:30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127"/>
                <a:gridCol w="1318992"/>
                <a:gridCol w="1318992"/>
                <a:gridCol w="1318992"/>
                <a:gridCol w="1441121"/>
                <a:gridCol w="879328"/>
                <a:gridCol w="1441121"/>
                <a:gridCol w="879328"/>
                <a:gridCol w="1318999"/>
              </a:tblGrid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BG_ISL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 UPTO JUL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Upto JUL 2026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Upto JUL 2025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- 27 - Materials from stock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1,068,752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106.88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350,722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35.07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588,317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58.83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237,595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23.76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480,435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48.04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55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376,832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37.68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- 28 - Materials-Dir. purchase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149,947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14.99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52,719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5.27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63,019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6.30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10,300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1.03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120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86,928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8.69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42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66,042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6.60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- 30 - Cost Of Elec. Energy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3,878,724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387.87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1,330,274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133.03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1,100,220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110.02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-230,054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-23.01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83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2,778,504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277.85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28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1,210,396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121.04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- 32 - CP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3,254,310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325.43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1,396,328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139.63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1,658,467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165.85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262,139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26.21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119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1,595,843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159.58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51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1,584,718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158.47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- 60 - Fuel from Stock-Home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4,703,356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470.34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1,538,432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153.84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1,807,074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180.71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268,642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26.86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117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2,896,282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289.63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38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1,793,435</a:t>
                      </a:r>
                      <a:br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Cr. 179.34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865428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13,055,089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1305.51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4,668,475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466.85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5,217,097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521.71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548,622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54.86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112</a:t>
                      </a:r>
                    </a:p>
                  </a:txBody>
                  <a:tcPr marL="12000" marR="12000" marT="8000" marB="8000">
                    <a:solidFill>
                      <a:srgbClr val="D92323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7,837,992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783.80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40</a:t>
                      </a:r>
                    </a:p>
                  </a:txBody>
                  <a:tcPr marL="12000" marR="12000" marT="8000" marB="8000">
                    <a:solidFill>
                      <a:srgbClr val="25A55B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5,031,423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503.14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Open Line FR Report - As On 27.08.2026 (Rows 1-13)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7126"/>
                <a:gridCol w="2767036"/>
                <a:gridCol w="1457755"/>
                <a:gridCol w="1457755"/>
                <a:gridCol w="1592733"/>
                <a:gridCol w="971837"/>
                <a:gridCol w="1457758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 Name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SBA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 (AE - SBA)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SBA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Expense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Traffic facility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160,903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16.09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77,175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7.72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-83,728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-8.37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47.96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4.27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1700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Computerization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32,227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3.22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10,761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1.08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-21,466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-2.15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33.39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3.08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2900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Level crossing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120,318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12.03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57,023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5.70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-63,295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-6.33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47.39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13.77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3000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Road over/under Bridge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507,420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50.74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337,625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33.76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-169,795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-16.98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66.54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38.44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3100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Track renewal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2,962,795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296.28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3,110,796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311.08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148,001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14.80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105.00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613.14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3200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Bridge work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132,267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13.23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150,620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15.06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18,353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1.84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113.88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13.45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3300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S&amp;T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522,843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52.28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120,775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12.08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-402,068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-40.21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23.10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28.50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3600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Other electric works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307,843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30.78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94,918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9.49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-212,925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-21.29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30.83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12.47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3700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Traction Dist. works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4100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Machine and plants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13,194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1.32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10,501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1.05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-2,693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-0.27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79.59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2.37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4200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Workshop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53,702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5.37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4,327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0.43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-49,375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-4.94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8.06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2.74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5100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Staff Welfare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97,500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9.75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52,019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5.20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-45,481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-4.55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53.35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6.85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Customer(Passenger) amenities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310,912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31.09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125,269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12.53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-185,643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-18.56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40.29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18.48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Open Line FR Report - As On 27.08.2026 (Rows 14-18)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7126"/>
                <a:gridCol w="2767036"/>
                <a:gridCol w="1457755"/>
                <a:gridCol w="1457755"/>
                <a:gridCol w="1592733"/>
                <a:gridCol w="971837"/>
                <a:gridCol w="1457758"/>
              </a:tblGrid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Plan Head Name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SBA 2026-27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 (AE - SBA)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SBA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Expense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6200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Inv. In Govt. comm Public Un.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6400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Other specified works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315,733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31.57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98,749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9.87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-216,984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-21.70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31.28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14.30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OSW (CAPIN)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64,034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6.40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-64,034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-6.40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6500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Training/HRD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6,010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0.60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-6,010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-0.60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0.11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1009666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5,607,701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560.77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4,250,558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425.06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-1,357,143</a:t>
                      </a:r>
                      <a:br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Cr. -135.71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75.80</a:t>
                      </a:r>
                    </a:p>
                  </a:txBody>
                  <a:tcPr marL="12000" marR="12000" marT="8000" marB="8000">
                    <a:solidFill>
                      <a:srgbClr val="F2C230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771.97 Cr</a:t>
                      </a:r>
                    </a:p>
                  </a:txBody>
                  <a:tcPr marL="12000" marR="12000" marT="8000" marB="8000">
                    <a:solidFill>
                      <a:srgbClr val="C8D6E8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Open Line FR Fund Wise - As On 27.08.2026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7723"/>
                <a:gridCol w="1746146"/>
                <a:gridCol w="1746146"/>
                <a:gridCol w="1697642"/>
                <a:gridCol w="1164097"/>
                <a:gridCol w="1164097"/>
                <a:gridCol w="1746149"/>
              </a:tblGrid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Fund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SBA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Available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Expensed %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Remaining %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 Final Expense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FY 2025-26</a:t>
                      </a:r>
                    </a:p>
                  </a:txBody>
                  <a:tcPr marL="12000" marR="12000" marT="8000" marB="8000">
                    <a:solidFill>
                      <a:srgbClr val="1F4E79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CAP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1,018,353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101.84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380,485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38.05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637,868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63.79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37.36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62.64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46.39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DRF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40,232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4.02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15,491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1.55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24,741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2.47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38.50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61.50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5.12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DF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130,592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13.06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11,290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1.13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119,302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11.93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8.65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91.35</a:t>
                      </a:r>
                    </a:p>
                  </a:txBody>
                  <a:tcPr marL="12000" marR="12000" marT="8000" marB="8000">
                    <a:solidFill>
                      <a:srgbClr val="FFF2CC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4.52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CAPITAL FUND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S FUND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3,117,515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311.75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3,175,144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317.51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-57,629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-5.76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101.85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-1.85</a:t>
                      </a:r>
                    </a:p>
                  </a:txBody>
                  <a:tcPr marL="12000" marR="12000" marT="8000" marB="8000">
                    <a:solidFill>
                      <a:srgbClr val="FCE4E4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617.23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EBR-(S)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0.00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solidFill>
                      <a:srgbClr val="D9EAF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RRSK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1,301,009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130.10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668,148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66.81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632,861</a:t>
                      </a:r>
                      <a:br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Cr. 63.29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51.36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48.64</a:t>
                      </a:r>
                    </a:p>
                  </a:txBody>
                  <a:tcPr marL="12000" marR="12000" marT="8000" marB="8000">
                    <a:solidFill>
                      <a:srgbClr val="DFF3E7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98.70 Cr</a:t>
                      </a:r>
                    </a:p>
                  </a:txBody>
                  <a:tcPr marL="12000" marR="12000" marT="8000" marB="8000">
                    <a:solidFill>
                      <a:srgbClr val="FFFFFF"/>
                    </a:solidFill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208</TotalTime>
  <Words>1901</Words>
  <Application>Microsoft Office PowerPoint</Application>
  <PresentationFormat>Widescreen</PresentationFormat>
  <Paragraphs>476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Trebuchet MS</vt:lpstr>
      <vt:lpstr>Wingdings 3</vt:lpstr>
      <vt:lpstr>Facet</vt:lpstr>
      <vt:lpstr>Moradabad Division Accounts Dept FY – 2026-2027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Moradabad Division FY – 2026-2027</dc:title>
  <dc:creator>girish</dc:creator>
  <cp:lastModifiedBy>it centre mb</cp:lastModifiedBy>
  <cp:revision>29</cp:revision>
  <dcterms:created xsi:type="dcterms:W3CDTF">2026-07-10T14:38:31Z</dcterms:created>
  <dcterms:modified xsi:type="dcterms:W3CDTF">2026-08-10T08:17:23Z</dcterms:modified>
</cp:coreProperties>
</file>