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947" autoAdjust="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41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0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2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24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3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35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3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71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88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4124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46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8026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52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69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00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Times New Roman"/>
              </a:rPr>
              <a:t>NORTHERN RAILWAY - MORADABAD DIVISION</a:t>
            </a:r>
          </a:p>
        </p:txBody>
      </p:sp>
      <p:sp>
        <p:nvSpPr>
          <p:cNvPr id="3" name="Text 3"/>
          <p:cNvSpPr/>
          <p:nvPr/>
        </p:nvSpPr>
        <p:spPr>
          <a:xfrm>
            <a:off x="420000" y="1180000"/>
            <a:ext cx="11352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2400" b="1">
                <a:solidFill>
                  <a:srgbClr val="22A7D8"/>
                </a:solidFill>
                <a:latin typeface="Times New Roman"/>
              </a:rPr>
              <a:t>Moradabad Division Budget &amp; FR Analysis</a:t>
            </a:r>
          </a:p>
        </p:txBody>
      </p:sp>
      <p:sp>
        <p:nvSpPr>
          <p:cNvPr id="4" name="Text 4"/>
          <p:cNvSpPr/>
          <p:nvPr/>
        </p:nvSpPr>
        <p:spPr>
          <a:xfrm>
            <a:off x="860000" y="2040000"/>
            <a:ext cx="10472000" cy="43000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80">
                <a:solidFill>
                  <a:srgbClr val="000000"/>
                </a:solidFill>
                <a:latin typeface="Times New Roman"/>
              </a:rPr>
              <a:t>Accounts Dept | FY 2026-2027 | DRM Budget &amp; FR Analysis | Completed AUG 2026 | H column: actual final expenditure FY 2025-26</a:t>
            </a:r>
          </a:p>
        </p:txBody>
      </p:sp>
      <p:sp>
        <p:nvSpPr>
          <p:cNvPr id="5" name="Text 5"/>
          <p:cNvSpPr/>
          <p:nvPr/>
        </p:nvSpPr>
        <p:spPr>
          <a:xfrm>
            <a:off x="1350000" y="3120000"/>
            <a:ext cx="2400000" cy="720000"/>
          </a:xfrm>
          <a:prstGeom prst="rect">
            <a:avLst/>
          </a:prstGeom>
          <a:solidFill>
            <a:srgbClr val="DFF3E7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Green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Within control</a:t>
            </a:r>
          </a:p>
        </p:txBody>
      </p:sp>
      <p:sp>
        <p:nvSpPr>
          <p:cNvPr id="6" name="Text 6"/>
          <p:cNvSpPr/>
          <p:nvPr/>
        </p:nvSpPr>
        <p:spPr>
          <a:xfrm>
            <a:off x="4860000" y="3120000"/>
            <a:ext cx="2400000" cy="72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Amber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Watch range</a:t>
            </a:r>
          </a:p>
        </p:txBody>
      </p:sp>
      <p:sp>
        <p:nvSpPr>
          <p:cNvPr id="7" name="Text 7"/>
          <p:cNvSpPr/>
          <p:nvPr/>
        </p:nvSpPr>
        <p:spPr>
          <a:xfrm>
            <a:off x="8370000" y="3120000"/>
            <a:ext cx="2400000" cy="72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Red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Immediate review</a:t>
            </a:r>
          </a:p>
        </p:txBody>
      </p:sp>
      <p:sp>
        <p:nvSpPr>
          <p:cNvPr id="8" name="Text 8"/>
          <p:cNvSpPr/>
          <p:nvPr/>
        </p:nvSpPr>
        <p:spPr>
          <a:xfrm>
            <a:off x="0" y="6438000"/>
            <a:ext cx="12192000" cy="4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00">
                <a:solidFill>
                  <a:srgbClr val="FFFFFF"/>
                </a:solidFill>
                <a:latin typeface="Times New Roman"/>
              </a:rPr>
              <a:t>Figures in thousands with Crore equivalent shown inside table cells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Demand SMH Wise - AUG 2026 | uploaded 2026-09-03T13:15:58+05:30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8281"/>
                <a:gridCol w="2123315"/>
                <a:gridCol w="1118625"/>
                <a:gridCol w="1118625"/>
                <a:gridCol w="1118625"/>
                <a:gridCol w="1222201"/>
                <a:gridCol w="745749"/>
                <a:gridCol w="1222201"/>
                <a:gridCol w="745749"/>
                <a:gridCol w="1118629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Demand No. / SMH-Grant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03 / 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PERSONNEL / STORE And Office Staff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641,522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64.15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267,301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26.73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294,025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29.40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26,724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2.67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347,497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34.75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693,876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69.39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04 / 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ENGINEERING / PWAY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3,608,902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360.89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1,503,709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150.37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1,779,391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177.94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275,682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27.57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1,829,511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182.95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3,996,057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399.61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05 / 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LOCO Shed Roza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1,864,843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186.48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777,018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77.70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782,032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78.20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5,014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101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1,082,811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108.28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2,000,064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200.01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06 / 04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Electrical General / Mech C&amp;W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1,353,581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135.36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563,992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56.40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882,060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88.21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318,068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31.81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471,521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47.15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65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1,511,638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151.16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07 / 05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 / TRD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2,059,950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206.00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858,312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85.83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987,240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98.72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128,928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12.89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1,072,710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107.27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2,171,600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217.16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08 / 06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/ Running Staff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3,352,566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335.26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1,396,902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139.69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1,953,133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195.31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556,231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55.62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1,399,433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139.94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3,801,767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380.18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09 / 07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/ Commercial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4,428,766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442.88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1,845,319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184.53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2,193,589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219.36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348,270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34.83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2,235,177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223.52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4,947,572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494.76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10 / 08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Expenses - Fuel / Traction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11,607,206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1160.72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4,836,336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483.63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4,657,805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465.78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-178,531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-17.85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96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6,949,401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694.94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12,690,658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1269.07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11 / 09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MEDICAL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1,392,832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139.28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580,347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58.03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915,762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91.58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335,415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33.54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477,070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47.71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1,451,556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145.16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 / 10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SECURITY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994,638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99.46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414,432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41.44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439,544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43.95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25,112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2.51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555,094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55.51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1,025,571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102.56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13 / 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Pension and Retirement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1,291,067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129.11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537,945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53.79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532,662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53.27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-5,283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-0.53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758,405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75.84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1,226,809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122.68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32,595,873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3259.59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13,581,613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1358.16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15,417,243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1541.72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1,835,630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183.56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114</a:t>
                      </a:r>
                    </a:p>
                  </a:txBody>
                  <a:tcPr marL="12000" marR="12000" marT="8000" marB="8000">
                    <a:solidFill>
                      <a:srgbClr val="D92323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17,178,630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1717.86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47</a:t>
                      </a:r>
                    </a:p>
                  </a:txBody>
                  <a:tcPr marL="12000" marR="12000" marT="8000" marB="8000">
                    <a:solidFill>
                      <a:srgbClr val="25A55B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35,517,168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3551.72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12N / 10N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Suspense Heads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-13,045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-1.30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-5,435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-0.54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1,578,852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157.89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1,584,287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158.43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-29050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-1,591,897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-159.19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-12103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-2,031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-0.20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Wise - Staff - AUG 2026 | uploaded 2026-09-03T13:15:58+05:30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127"/>
                <a:gridCol w="1318992"/>
                <a:gridCol w="1318992"/>
                <a:gridCol w="1318992"/>
                <a:gridCol w="1441121"/>
                <a:gridCol w="879328"/>
                <a:gridCol w="1441121"/>
                <a:gridCol w="879328"/>
                <a:gridCol w="1318999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- 01 - Sal/Wag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6,706,409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670.64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2,794,337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279.43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3,073,272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307.33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278,935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27.89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3,633,137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363.31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7,351,228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735.12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- 02 - DA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4,100,453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410.05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1,708,522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170.85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1,968,578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196.86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260,056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26.01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2,131,875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213.19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4,447,868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444.79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- 03 - PLB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285,089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28.51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118,787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11.88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-118,706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-11.87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285,008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302,570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30.26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- 04 - HRA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776,198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77.62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323,416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32.34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337,922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33.79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14,506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1.45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438,276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43.83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802,369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80.24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- 07 - TPA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496,609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49.66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206,920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20.69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216,618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21.66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9,698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0.97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279,991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509,846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50.98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- 10 - KMA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680,197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68.02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283,415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28.34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364,653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36.47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81,238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8.12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315,544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31.55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764,171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76.42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- 11 - OT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77,300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7.73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32,208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3.22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59,582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5.96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27,374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2.74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17,718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1.77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77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106,223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10.62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- 12 - NDA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209,913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20.99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87,464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8.75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122,506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12.25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35,042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3.50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87,407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8.74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294,342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29.43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- 13 - OA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527,832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52.78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219,930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21.99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279,175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27.92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59,245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5.92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248,657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24.87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519,754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51.98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- 15 - TA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16,048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1.60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6,687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11,132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1.11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4,916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20,171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2.02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- 16 - TE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308,081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30.81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128,367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12.84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217,182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21.72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88,815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8.88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90,899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9.09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523,752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52.38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- 25 - Children Edu. Allow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379,418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37.94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158,091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15.81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374,892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37.49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216,801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21.68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237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4,526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374,596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37.46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14,563,547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1456.35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6,068,144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606.81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7,025,593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702.56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957,449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95.74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12000" marR="12000" marT="8000" marB="8000">
                    <a:solidFill>
                      <a:srgbClr val="D92323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7,537,954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753.80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48</a:t>
                      </a:r>
                    </a:p>
                  </a:txBody>
                  <a:tcPr marL="12000" marR="12000" marT="8000" marB="8000">
                    <a:solidFill>
                      <a:srgbClr val="25A55B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16,016,890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1601.69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Wise - Non-Staff Part 1 - AUG 2026 | uploaded 2026-09-03T13:15:58+05:30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127"/>
                <a:gridCol w="1318992"/>
                <a:gridCol w="1318992"/>
                <a:gridCol w="1318992"/>
                <a:gridCol w="1441121"/>
                <a:gridCol w="879328"/>
                <a:gridCol w="1441121"/>
                <a:gridCol w="879328"/>
                <a:gridCol w="1318999"/>
              </a:tblGrid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AUG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- 27 - Materials from stock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1,068,752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106.88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445,313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44.53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746,612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74.66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301,299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30.13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322,140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32.21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1,291,487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129.15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- 28 - Materials-Dir. purchase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149,947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14.99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62,478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6.25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70,596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7.06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8,118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0.81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113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79,351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7.94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164,506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16.45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- 30 - Cost Of Elec. Energy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3,878,724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387.87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1,616,135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161.61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1,504,722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150.47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-111,413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-11.14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93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2,374,002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237.40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4,115,874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411.59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- 32 - CP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3,254,310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325.43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1,355,962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135.60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1,822,493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182.25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466,531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46.65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134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1,431,817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143.18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3,623,756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362.38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- 60 - Fuel from Stock-Home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4,703,356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470.34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1,959,732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195.97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2,303,206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230.32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343,474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34.35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2,400,150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240.01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5,106,358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510.64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13,055,089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1305.51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5,439,620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543.96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6,447,629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644.76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1,008,009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100.80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119</a:t>
                      </a:r>
                    </a:p>
                  </a:txBody>
                  <a:tcPr marL="12000" marR="12000" marT="8000" marB="8000">
                    <a:solidFill>
                      <a:srgbClr val="D92323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6,607,460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660.75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49</a:t>
                      </a:r>
                    </a:p>
                  </a:txBody>
                  <a:tcPr marL="12000" marR="12000" marT="8000" marB="8000">
                    <a:solidFill>
                      <a:srgbClr val="25A55B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14,301,981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1430.20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Report - As On 27.08.2026 (Rows 1-13)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7126"/>
                <a:gridCol w="2767036"/>
                <a:gridCol w="1457755"/>
                <a:gridCol w="1457755"/>
                <a:gridCol w="1592733"/>
                <a:gridCol w="971837"/>
                <a:gridCol w="1457758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 Name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 (AE - SBA)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SBA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Traffic facility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160,903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16.09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77,175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7.72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-83,728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-8.37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47.96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4.27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Computerization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32,227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3.22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10,761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1.08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-21,466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-2.15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33.39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3.08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Level crossing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120,318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57,023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5.70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-63,295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-6.33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47.39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13.77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3000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Road over/under Bridge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507,420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50.74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337,625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33.76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-169,795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-16.98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66.54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38.44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3100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Track renewal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2,962,795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296.28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3,110,796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311.08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148,001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14.80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105.00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613.14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Bridge work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132,267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13.23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150,620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15.06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18,353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1.84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113.88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13.45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3300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522,843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52.28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120,775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12.08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-402,068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-40.21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23.10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28.50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Other electric works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307,843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30.78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94,918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9.49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-212,925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-21.29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30.83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12.47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Traction Dist. works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Machine and plants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13,194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1.32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10,501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1.05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-2,693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-0.27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79.59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2.37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Workshop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53,702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5.37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4,327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-49,375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-4.94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8.06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2.74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Staff Welfare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97,500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9.75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52,019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5.20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-45,481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-4.55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53.35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6.85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Customer(Passenger) amenities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310,912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31.09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125,269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12.53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-185,643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-18.56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40.29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18.48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Report - As On 27.08.2026 (Rows 14-18)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7126"/>
                <a:gridCol w="2767036"/>
                <a:gridCol w="1457755"/>
                <a:gridCol w="1457755"/>
                <a:gridCol w="1592733"/>
                <a:gridCol w="971837"/>
                <a:gridCol w="1457758"/>
              </a:tblGrid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 Name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 (AE - SBA)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SBA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Inv. In Govt. comm Public Un.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6400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Other specified works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315,733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31.57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98,749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9.87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-216,984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-21.70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31.28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14.30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OSW (CAPIN)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64,034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6.40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-64,034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-6.40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6500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Training/HRD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6,010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-6,010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-0.60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0.11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5,607,701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560.77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4,250,558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425.06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-1,357,143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-135.71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75.80</a:t>
                      </a:r>
                    </a:p>
                  </a:txBody>
                  <a:tcPr marL="12000" marR="12000" marT="8000" marB="8000">
                    <a:solidFill>
                      <a:srgbClr val="F2C230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771.97 Cr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Fund Wise - As On 27.08.2026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723"/>
                <a:gridCol w="1746146"/>
                <a:gridCol w="1746146"/>
                <a:gridCol w="1697642"/>
                <a:gridCol w="1164097"/>
                <a:gridCol w="1164097"/>
                <a:gridCol w="1746149"/>
              </a:tblGrid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Fund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Available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Expensed %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Remaining %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CAP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1,018,353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101.84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380,485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38.05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637,868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63.79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37.36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62.64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46.39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DRF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40,232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15,491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1.55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24,741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2.47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38.50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61.50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5.12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DF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130,592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13.06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11,290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1.13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119,302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11.93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8.65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91.35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4.52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CAPITAL FUND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S FUND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3,117,515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311.75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3,175,144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317.51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-57,629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-5.76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101.85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-1.85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617.23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EBR-(S)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RRSK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1,301,009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130.10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668,148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66.81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632,861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63.29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51.36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48.64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98.70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208</TotalTime>
  <Words>1901</Words>
  <Application>Microsoft Office PowerPoint</Application>
  <PresentationFormat>Widescreen</PresentationFormat>
  <Paragraphs>476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Moradabad Division Accounts Dept FY – 2026-2027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Moradabad Division FY – 2026-2027</dc:title>
  <dc:creator>girish</dc:creator>
  <cp:lastModifiedBy>it centre mb</cp:lastModifiedBy>
  <cp:revision>29</cp:revision>
  <dcterms:created xsi:type="dcterms:W3CDTF">2026-07-10T14:38:31Z</dcterms:created>
  <dcterms:modified xsi:type="dcterms:W3CDTF">2026-08-10T08:17:23Z</dcterms:modified>
</cp:coreProperties>
</file>